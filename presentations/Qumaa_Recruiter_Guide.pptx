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Qumaa is a desktop application for recruiters working with an existing CV library. This guide explains how to import CVs, search a saved or temporary job, assess candidates, and record hiring outcomes. Standard matching and recruiting records are local. Optional AI reranking sends a reviewed request to the selected provider. The example vacancy and all candidate information are fictional. Recruiters verify evidence and make the hiring decision.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page ranges to locate a topic. In the editable presentation, each section card links to its first page. Pages 3 to 5 introduce the workspace and library; 6 to 9 cover job searches; 10 to 15 cover assessment; 16 to 18 cover job records; 19 to 21 explain optional AI; and 22 to 24 cover operations and reference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application has three main tabs: Jobs, Library, and Settings. Jobs includes Express search next to New job. Both saved and temporary searches use the same local matching workflow and optional AI reranking. Candidate profiles apply across jobs; vacancy criteria, reviews, shortlists, status history, and hiring outcomes belong to a saved job.</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numbered sequence runs across the upper row, then down and back across the lower row. An Express search can support the initial search without creating a vacancy record. Save it as a job when you need persistent reviews or a hiring record. Recruiter outreach and interviews take place through the organization's usual tools. After new CVs arrive, refresh the saved job; existing reviews and notes remain available.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Files can also be dragged into the application. Arabic and English CVs can be searched with postings in either language. PDFs require a usable text layer; image-only scans need conversion outside Qumaa. Exact duplicate imports may be skipped. Inspect possible duplicates before linking records. The demonstration uses fictional CV text entered into an isolated library.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editor separates Position, Job description, Requirements, and Education and certifications. Add criteria before saving or return through Edit job. Newly created jobs start Open and record their creation time. Use Change status after creation to put a job On hold, mark it Filled, or archive it. A saved job retains its posting, search results, reviews, shortlist, and status history on this device.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Express search is in Jobs next to New job. Paste the job description and requirements, then select Find matches. The search uses CVs already in the local library; it does not fetch applicants from external services. The temporary posting and results stay in memory. You can view candidate details or export the top three matches. Reviews, shortlists, and comparison become available after Save as job. Navigating between tabs can retain the current session, but it is not a saved vacancy. Discard or close the application to remove it. Save as job explicitly creates a persistent job. Optional AI reranking is available here under the same settings and data-review controls as a saved job.</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Criterion text contributes to the matching query. Required and Preferred organize recruiter assessment; they do not automatically exclude a candidate. The demonstration criteria cover multi-site training, onboarding design and measurement, and bilingual delivery. Save the job after editing. If criterion wording changes, revisit earlier assessments to ensure they still address the requirement.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the first search, Find matches becomes Refresh matches. Filters use extracted CV information plus recruiter profile corrections. Options include current or preferred location, experience, skills, tags, and availability. A text search can locate names, contact details, skills, and tags. Review-state filters help organize work. Filters change what is displayed; they do not verify candidate claims or change saved decisions.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 scores combine semantic similarity, keyword overlap, and detected skills. They describe fit within the current search context and are not a probability of success. A high score still requires a review of scope, relevance, and supporting evidence. Missing words may reflect wording or omitted details. Scores can change when the posting or library changes.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states are Unreviewed, Maybe, Shortlisted, Contacted, and Not proceeding. Criterion assessments are Unreviewed, Evidence found, Needs clarification, Not stated, and Recruiter confirmed. Evidence found records supporting CV text; Recruiter confirmed records the recruiter's verification. Contacted is set manually after outreach through other tools. Keep decision reasons specific to the job.</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Recruiter corrections are stored separately from CV extraction. A blank correction uses the extracted value. The profile can hold expected salary, notice period, availability, preferred location, tags, and general notes. Profile changes apply across jobs. Job-specific recommendations and assessments belong in a job review. Verify information before relying on it for screening.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Compare checkboxes in Candidates or Shortlist, then open Compare candidates. The comparison includes criterion assessments, suggested passages, recruiter profiles, and notes. Salary, notice, and availability appear after they are recorded. Not confirmed identifies information to verify. Use Read evidence for context. The two images are separate excerpts from the same actual comparison view.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Exports contain the full ordered shortlist, including candidates hidden by a current display filter, together with job-specific recruiter notes. Contacted candidates remain on the shortlist. Refresh stale matches before exporting. PDF supports a review conversation; CSV can be opened in a spreadsheet. Exporting creates a file and does not send outreach.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Linking connects recruiter context across CV versions. Check the identity before linking; similar experience alone is insufficient. Resolve conflicting recruiter details when prompted. Unlinking retains a copy of shared profile information and job reviews with each resulting candidate, allowing independent editing afterward. Search results may need refreshing after library changes.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CVs, updated library information, and edited job requirements can make saved matches stale. Refresh recalculates local matches while retaining saved decisions and notes. Reassess criteria when their wording has changed. Restoring a backup also requires fresh searches after indexing finishes. If AI reranking was previously used, a local refresh creates a new local ranking that can be reranked again.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jobs begin Open with a creation event. A saved status change appends a timestamped entry to the job history. Selecting Filled also requires a hired candidate. Archiving or reopening a job retains its last recorded hiring outcome. Older jobs may have no historical events from before the feature existed; the application does not invent those dates. Use this record to understand when the vacancy changed state.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Choose candidates already present in Library. A filled job requires a hired candidate. Up to two backup candidates can be recorded, in order: #2 and #3. Choose #2 before #3, and use a different person in each position. The saved cards display the recorded names and provide View CV links. Changes to hiring details receive their own history entry. Reopening or archiving preserves the last hiring outcome. Deleted CV records are shown as unavailable rather than exposing removed candidate details.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Settings provides separate provider and model selectors. Anthropic choices are Sonnet 5, Opus 5, and Fable 5.1. OpenAI choices are GPT-4o mini, GPT-5.6, and GPT-6 Astra. Each provider has its own protected API key and remembered model selection. A key is not supplied with the installer. Switching to a provider without a key disables reranking until configured. Local matching remains available without either provider. This screenshot uses a fictional fixture; no live provider request was made.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application first explains the data policy for the selected provider and model. The exact outbound JSON is collapsed under See exported data. Policy approval is remembered for that provider and model until the policy changes; each rerank still requires a separate native confirmation before sending. The reviewed request includes the posting and redacted matching passages from up to 15 candidates. Common contact details are masked, but redaction may not remove every identifying detail. Canceling the review leaves the local matches available.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configured models use the same system instructions. They rank every supplied candidate, judge only the provided passages, preserve opaque candidate IDs, treat the payload as evidence rather than instructions, and return one reason of at most 25 words per candidate. The instructions emphasize demonstrated scope and relevance over confident wording. The request contains up to 2,500 characters of redacted passages per candidate. Reranking does not add candidates or replace local scores. Check the supporting CV evidence and verify missing information. An AI explanation is a screening aid; the recruiter remains responsible for the assessment.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watched folder monitors incoming supported documents while the application is running. Keep original documents organized separately. Import notices and duplicate handling still apply. New imports do not automatically update every saved ranking; refresh the relevant job. Watched-folder configuration is specific to this device and is not included in a portable backup.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Portable backups include resume text, saved jobs, profiles, reviews, hiring records, and portable preferences. They exclude API keys, consent approvals, watched-folder configuration, original-file paths, and window position. They are not encrypted. Keep backups in an appropriate secure location and retain original CV files separately if needed. Restoring replaces the current local library after confirmation and rebuilds the search index. Reconfigure device-specific settings afterward.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distinguishes information attached to a candidate, information attached to a saved vacancy, a temporary search session, and an optional external request. Use profile notes for information relevant across jobs and review notes for vacancy-specific decisions. All application images in this guide use fictional demonstration records. Prepared by Fawaz Aljathnan. LinkedIn: https://www.linkedin.com/in/fawazsalehq/.</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 Id="rId4" Type="http://schemas.openxmlformats.org/officeDocument/2006/relationships/slide" Target="slide3.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6.xml"/><Relationship Id="rId8" Type="http://schemas.openxmlformats.org/officeDocument/2006/relationships/slide" Target="slide19.xml"/><Relationship Id="rId9" Type="http://schemas.openxmlformats.org/officeDocument/2006/relationships/slide" Target="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linkedin.com/in/fawazsalehq/" TargetMode="External"/><Relationship Id="rId4"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name="introduction">
    <p:bg>
      <p:bgPr>
        <a:solidFill>
          <a:srgbClr val="2B2733"/>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a:lnSpc>
                <a:spcPct val="110000"/>
              </a:lnSpc>
              <a:spcBef>
                <a:spcPts val="0"/>
              </a:spcBef>
              <a:spcAft>
                <a:spcPts val="300"/>
              </a:spcAft>
            </a:pPr>
            <a:r>
              <a:rPr sz="1000" b="1">
                <a:solidFill>
                  <a:srgbClr val="C0A3EA"/>
                </a:solidFill>
                <a:latin typeface="Arial"/>
              </a:rPr>
              <a:t>QUMAA</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l">
              <a:lnSpc>
                <a:spcPct val="110000"/>
              </a:lnSpc>
              <a:spcBef>
                <a:spcPts val="0"/>
              </a:spcBef>
              <a:spcAft>
                <a:spcPts val="300"/>
              </a:spcAft>
            </a:pPr>
            <a:r>
              <a:rPr sz="3000" b="1">
                <a:solidFill>
                  <a:srgbClr val="FFFFFF"/>
                </a:solidFill>
                <a:latin typeface="Arial"/>
              </a:rPr>
              <a:t>Qumaa: application and recruiter guide</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l">
              <a:lnSpc>
                <a:spcPct val="110000"/>
              </a:lnSpc>
              <a:spcBef>
                <a:spcPts val="0"/>
              </a:spcBef>
              <a:spcAft>
                <a:spcPts val="300"/>
              </a:spcAft>
            </a:pPr>
            <a:r>
              <a:rPr sz="1450" b="0">
                <a:solidFill>
                  <a:srgbClr val="C0A3EA"/>
                </a:solidFill>
                <a:latin typeface="Arial"/>
              </a:rPr>
              <a:t>Purpose, workflows, and operating guidance</a:t>
            </a:r>
          </a:p>
        </p:txBody>
      </p:sp>
      <p:cxnSp>
        <p:nvCxnSpPr>
          <p:cNvPr id="6" name="Connector 5"/>
          <p:cNvCxnSpPr/>
          <p:nvPr/>
        </p:nvCxnSpPr>
        <p:spPr>
          <a:xfrm>
            <a:off x="530352" y="6437376"/>
            <a:ext cx="11128248" cy="0"/>
          </a:xfrm>
          <a:prstGeom prst="line">
            <a:avLst/>
          </a:prstGeom>
          <a:ln w="7620">
            <a:solidFill>
              <a:srgbClr val="3D394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a:lnSpc>
                <a:spcPct val="110000"/>
              </a:lnSpc>
              <a:spcBef>
                <a:spcPts val="0"/>
              </a:spcBef>
              <a:spcAft>
                <a:spcPts val="300"/>
              </a:spcAft>
            </a:pPr>
            <a:r>
              <a:rPr sz="919" b="0">
                <a:solidFill>
                  <a:srgbClr val="C0A3EA"/>
                </a:solidFill>
                <a:latin typeface="Arial"/>
              </a:rPr>
              <a:t>Actual application · Fictional demo data</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a:lnSpc>
                <a:spcPct val="110000"/>
              </a:lnSpc>
              <a:spcBef>
                <a:spcPts val="0"/>
              </a:spcBef>
              <a:spcAft>
                <a:spcPts val="300"/>
              </a:spcAft>
            </a:pPr>
            <a:r>
              <a:rPr sz="919" b="0">
                <a:solidFill>
                  <a:srgbClr val="C0A3EA"/>
                </a:solidFill>
                <a:latin typeface="Arial"/>
              </a:rPr>
              <a:t>Qumaa v0.1.0-beta.2   /   01</a:t>
            </a:r>
          </a:p>
        </p:txBody>
      </p:sp>
      <p:sp>
        <p:nvSpPr>
          <p:cNvPr id="9" name="TextBox 8"/>
          <p:cNvSpPr txBox="1"/>
          <p:nvPr/>
        </p:nvSpPr>
        <p:spPr>
          <a:xfrm>
            <a:off x="621792" y="1810512"/>
            <a:ext cx="4754880" cy="438912"/>
          </a:xfrm>
          <a:prstGeom prst="rect">
            <a:avLst/>
          </a:prstGeom>
          <a:noFill/>
        </p:spPr>
        <p:txBody>
          <a:bodyPr wrap="square" lIns="0" rIns="0" tIns="0" bIns="0" anchor="t">
            <a:spAutoFit/>
          </a:bodyPr>
          <a:lstStyle/>
          <a:p>
            <a:pPr algn="l">
              <a:lnSpc>
                <a:spcPct val="110000"/>
              </a:lnSpc>
              <a:spcBef>
                <a:spcPts val="0"/>
              </a:spcBef>
              <a:spcAft>
                <a:spcPts val="300"/>
              </a:spcAft>
            </a:pPr>
            <a:r>
              <a:rPr sz="2500" b="1">
                <a:solidFill>
                  <a:srgbClr val="FFFFFF"/>
                </a:solidFill>
                <a:latin typeface="Arial"/>
              </a:rPr>
              <a:t>Application purpose</a:t>
            </a:r>
          </a:p>
        </p:txBody>
      </p:sp>
      <p:sp>
        <p:nvSpPr>
          <p:cNvPr id="10" name="TextBox 9"/>
          <p:cNvSpPr txBox="1"/>
          <p:nvPr/>
        </p:nvSpPr>
        <p:spPr>
          <a:xfrm>
            <a:off x="621792" y="2441448"/>
            <a:ext cx="4690872" cy="1645920"/>
          </a:xfrm>
          <a:prstGeom prst="rect">
            <a:avLst/>
          </a:prstGeom>
          <a:noFill/>
        </p:spPr>
        <p:txBody>
          <a:bodyPr wrap="square" lIns="0" rIns="0" tIns="0" bIns="0" anchor="t">
            <a:spAutoFit/>
          </a:bodyPr>
          <a:lstStyle/>
          <a:p>
            <a:pPr algn="l">
              <a:lnSpc>
                <a:spcPct val="110000"/>
              </a:lnSpc>
              <a:spcBef>
                <a:spcPts val="0"/>
              </a:spcBef>
              <a:spcAft>
                <a:spcPts val="300"/>
              </a:spcAft>
            </a:pPr>
            <a:r>
              <a:rPr sz="2300" b="0">
                <a:solidFill>
                  <a:srgbClr val="FFFFFF"/>
                </a:solidFill>
                <a:latin typeface="Arial"/>
              </a:rPr>
              <a:t>Search a local CV library against job requirements, review supporting evidence, and maintain recruiting decisions.</a:t>
            </a:r>
          </a:p>
        </p:txBody>
      </p:sp>
      <p:sp>
        <p:nvSpPr>
          <p:cNvPr id="11" name="TextBox 10"/>
          <p:cNvSpPr txBox="1"/>
          <p:nvPr/>
        </p:nvSpPr>
        <p:spPr>
          <a:xfrm>
            <a:off x="621792" y="4178808"/>
            <a:ext cx="4754880" cy="329184"/>
          </a:xfrm>
          <a:prstGeom prst="rect">
            <a:avLst/>
          </a:prstGeom>
          <a:noFill/>
        </p:spPr>
        <p:txBody>
          <a:bodyPr wrap="square" lIns="0" rIns="0" tIns="0" bIns="0" anchor="t">
            <a:spAutoFit/>
          </a:bodyPr>
          <a:lstStyle/>
          <a:p>
            <a:pPr algn="l">
              <a:lnSpc>
                <a:spcPct val="110000"/>
              </a:lnSpc>
              <a:spcBef>
                <a:spcPts val="0"/>
              </a:spcBef>
              <a:spcAft>
                <a:spcPts val="300"/>
              </a:spcAft>
            </a:pPr>
            <a:r>
              <a:rPr sz="1800" b="1">
                <a:solidFill>
                  <a:srgbClr val="C0A3EA"/>
                </a:solidFill>
                <a:latin typeface="Arial"/>
              </a:rPr>
              <a:t>Demonstration scenario</a:t>
            </a:r>
          </a:p>
        </p:txBody>
      </p:sp>
      <p:sp>
        <p:nvSpPr>
          <p:cNvPr id="12" name="TextBox 11"/>
          <p:cNvSpPr txBox="1"/>
          <p:nvPr/>
        </p:nvSpPr>
        <p:spPr>
          <a:xfrm>
            <a:off x="621792" y="4663440"/>
            <a:ext cx="4709160" cy="1124712"/>
          </a:xfrm>
          <a:prstGeom prst="rect">
            <a:avLst/>
          </a:prstGeom>
          <a:noFill/>
        </p:spPr>
        <p:txBody>
          <a:bodyPr wrap="square" lIns="0" rIns="0" tIns="0" bIns="0" anchor="t">
            <a:spAutoFit/>
          </a:bodyPr>
          <a:lstStyle/>
          <a:p>
            <a:pPr algn="l">
              <a:lnSpc>
                <a:spcPct val="110000"/>
              </a:lnSpc>
              <a:spcBef>
                <a:spcPts val="0"/>
              </a:spcBef>
              <a:spcAft>
                <a:spcPts val="300"/>
              </a:spcAft>
            </a:pPr>
            <a:r>
              <a:rPr sz="1700" b="0">
                <a:solidFill>
                  <a:srgbClr val="FFFFFF"/>
                </a:solidFill>
                <a:latin typeface="Arial"/>
              </a:rPr>
              <a:t>Training &amp; Development Manager</a:t>
            </a:r>
          </a:p>
          <a:p>
            <a:pPr algn="l">
              <a:lnSpc>
                <a:spcPct val="110000"/>
              </a:lnSpc>
              <a:spcBef>
                <a:spcPts val="0"/>
              </a:spcBef>
              <a:spcAft>
                <a:spcPts val="300"/>
              </a:spcAft>
            </a:pPr>
            <a:r>
              <a:rPr sz="1700" b="0">
                <a:solidFill>
                  <a:srgbClr val="FFFFFF"/>
                </a:solidFill>
                <a:latin typeface="Arial"/>
              </a:rPr>
              <a:t>Riyadh food and beverage group</a:t>
            </a:r>
          </a:p>
          <a:p>
            <a:pPr algn="l">
              <a:lnSpc>
                <a:spcPct val="110000"/>
              </a:lnSpc>
              <a:spcBef>
                <a:spcPts val="0"/>
              </a:spcBef>
              <a:spcAft>
                <a:spcPts val="300"/>
              </a:spcAft>
            </a:pPr>
            <a:r>
              <a:rPr sz="1700" b="0">
                <a:solidFill>
                  <a:srgbClr val="FFFFFF"/>
                </a:solidFill>
                <a:latin typeface="Arial"/>
              </a:rPr>
              <a:t>Fictional candidates and screening records</a:t>
            </a:r>
          </a:p>
        </p:txBody>
      </p:sp>
      <p:sp>
        <p:nvSpPr>
          <p:cNvPr id="13" name="Rectangle 12"/>
          <p:cNvSpPr/>
          <p:nvPr/>
        </p:nvSpPr>
        <p:spPr>
          <a:xfrm>
            <a:off x="5650992" y="1792224"/>
            <a:ext cx="5980176" cy="4270248"/>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screenshot:01-jobs.png" descr="01-jobs.png"/>
          <p:cNvPicPr>
            <a:picLocks noChangeAspect="1"/>
          </p:cNvPicPr>
          <p:nvPr/>
        </p:nvPicPr>
        <p:blipFill>
          <a:blip r:embed="rId3"/>
          <a:srcRect/>
          <a:stretch>
            <a:fillRect/>
          </a:stretch>
        </p:blipFill>
        <p:spPr>
          <a:xfrm>
            <a:off x="5715000" y="1885187"/>
            <a:ext cx="5852160" cy="40843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contents">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a:lnSpc>
                <a:spcPct val="110000"/>
              </a:lnSpc>
              <a:spcBef>
                <a:spcPts val="0"/>
              </a:spcBef>
              <a:spcAft>
                <a:spcPts val="300"/>
              </a:spcAft>
            </a:pPr>
            <a:r>
              <a:rPr sz="1000" b="1">
                <a:solidFill>
                  <a:srgbClr val="6D3FB0"/>
                </a:solidFill>
                <a:latin typeface="Arial"/>
              </a:rPr>
              <a:t>QUMAA</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l">
              <a:lnSpc>
                <a:spcPct val="110000"/>
              </a:lnSpc>
              <a:spcBef>
                <a:spcPts val="0"/>
              </a:spcBef>
              <a:spcAft>
                <a:spcPts val="300"/>
              </a:spcAft>
            </a:pPr>
            <a:r>
              <a:rPr sz="3000" b="1">
                <a:solidFill>
                  <a:srgbClr val="2B2733"/>
                </a:solidFill>
                <a:latin typeface="Arial"/>
              </a:rPr>
              <a:t>Table of contents</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l">
              <a:lnSpc>
                <a:spcPct val="110000"/>
              </a:lnSpc>
              <a:spcBef>
                <a:spcPts val="0"/>
              </a:spcBef>
              <a:spcAft>
                <a:spcPts val="300"/>
              </a:spcAft>
            </a:pPr>
            <a:r>
              <a:rPr sz="1450" b="0">
                <a:solidFill>
                  <a:srgbClr val="716B7B"/>
                </a:solidFill>
                <a:latin typeface="Arial"/>
              </a:rPr>
              <a:t>Sections follow the sequence of a recruiting assignment.</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a:lnSpc>
                <a:spcPct val="110000"/>
              </a:lnSpc>
              <a:spcBef>
                <a:spcPts val="0"/>
              </a:spcBef>
              <a:spcAft>
                <a:spcPts val="300"/>
              </a:spcAft>
            </a:pPr>
            <a:r>
              <a:rPr sz="919" b="0">
                <a:solidFill>
                  <a:srgbClr val="716B7B"/>
                </a:solidFill>
                <a:latin typeface="Arial"/>
              </a:rPr>
              <a:t>Recruiter guide</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a:lnSpc>
                <a:spcPct val="110000"/>
              </a:lnSpc>
              <a:spcBef>
                <a:spcPts val="0"/>
              </a:spcBef>
              <a:spcAft>
                <a:spcPts val="300"/>
              </a:spcAft>
            </a:pPr>
            <a:r>
              <a:rPr sz="919" b="0">
                <a:solidFill>
                  <a:srgbClr val="716B7B"/>
                </a:solidFill>
                <a:latin typeface="Arial"/>
              </a:rPr>
              <a:t>Qumaa v0.1.0-beta.2   /   02</a:t>
            </a:r>
          </a:p>
        </p:txBody>
      </p:sp>
      <p:sp>
        <p:nvSpPr>
          <p:cNvPr id="9" name="Rounded Rectangle 8">
            <a:hlinkClick action="ppaction://hlinksldjump" r:id="rId4"/>
          </p:cNvPr>
          <p:cNvSpPr/>
          <p:nvPr/>
        </p:nvSpPr>
        <p:spPr>
          <a:xfrm>
            <a:off x="594360" y="1764792"/>
            <a:ext cx="5440680" cy="1261872"/>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920240"/>
            <a:ext cx="4370832" cy="365760"/>
          </a:xfrm>
          <a:prstGeom prst="rect">
            <a:avLst/>
          </a:prstGeom>
          <a:noFill/>
        </p:spPr>
        <p:txBody>
          <a:bodyPr wrap="square" lIns="0" rIns="0" tIns="0" bIns="0" anchor="t">
            <a:spAutoFit/>
          </a:bodyPr>
          <a:lstStyle/>
          <a:p>
            <a:pPr algn="l">
              <a:lnSpc>
                <a:spcPct val="110000"/>
              </a:lnSpc>
              <a:spcBef>
                <a:spcPts val="0"/>
              </a:spcBef>
              <a:spcAft>
                <a:spcPts val="300"/>
              </a:spcAft>
            </a:pPr>
            <a:r>
              <a:rPr sz="2100" b="1">
                <a:solidFill>
                  <a:srgbClr val="2B2733"/>
                </a:solidFill>
                <a:latin typeface="Arial"/>
              </a:rPr>
              <a:t>Workspace and CV library</a:t>
            </a:r>
          </a:p>
        </p:txBody>
      </p:sp>
      <p:sp>
        <p:nvSpPr>
          <p:cNvPr id="11" name="TextBox 10"/>
          <p:cNvSpPr txBox="1"/>
          <p:nvPr/>
        </p:nvSpPr>
        <p:spPr>
          <a:xfrm>
            <a:off x="5074920" y="1947672"/>
            <a:ext cx="804672" cy="265176"/>
          </a:xfrm>
          <a:prstGeom prst="rect">
            <a:avLst/>
          </a:prstGeom>
          <a:noFill/>
        </p:spPr>
        <p:txBody>
          <a:bodyPr wrap="square" lIns="0" rIns="0" tIns="0" bIns="0" anchor="t">
            <a:spAutoFit/>
          </a:bodyPr>
          <a:lstStyle/>
          <a:p>
            <a:pPr algn="r">
              <a:lnSpc>
                <a:spcPct val="110000"/>
              </a:lnSpc>
              <a:spcBef>
                <a:spcPts val="0"/>
              </a:spcBef>
              <a:spcAft>
                <a:spcPts val="300"/>
              </a:spcAft>
            </a:pPr>
            <a:r>
              <a:rPr sz="1350" b="0">
                <a:solidFill>
                  <a:srgbClr val="6D3FB0"/>
                </a:solidFill>
                <a:latin typeface="Arial"/>
              </a:rPr>
              <a:t>03–05</a:t>
            </a:r>
          </a:p>
        </p:txBody>
      </p:sp>
      <p:sp>
        <p:nvSpPr>
          <p:cNvPr id="12" name="TextBox 11"/>
          <p:cNvSpPr txBox="1"/>
          <p:nvPr/>
        </p:nvSpPr>
        <p:spPr>
          <a:xfrm>
            <a:off x="777240" y="2441448"/>
            <a:ext cx="5010912" cy="557784"/>
          </a:xfrm>
          <a:prstGeom prst="rect">
            <a:avLst/>
          </a:prstGeom>
          <a:noFill/>
        </p:spPr>
        <p:txBody>
          <a:bodyPr wrap="square" lIns="0" rIns="0" tIns="0" bIns="0" anchor="t">
            <a:spAutoFit/>
          </a:bodyPr>
          <a:lstStyle/>
          <a:p>
            <a:pPr algn="l">
              <a:lnSpc>
                <a:spcPct val="110000"/>
              </a:lnSpc>
              <a:spcBef>
                <a:spcPts val="0"/>
              </a:spcBef>
              <a:spcAft>
                <a:spcPts val="300"/>
              </a:spcAft>
            </a:pPr>
            <a:r>
              <a:rPr sz="1600" b="0">
                <a:solidFill>
                  <a:srgbClr val="3D3949"/>
                </a:solidFill>
                <a:latin typeface="Arial"/>
              </a:rPr>
              <a:t>Navigation, workflow, and importing CVs</a:t>
            </a:r>
          </a:p>
        </p:txBody>
      </p:sp>
      <p:sp>
        <p:nvSpPr>
          <p:cNvPr id="13" name="Rounded Rectangle 12">
            <a:hlinkClick action="ppaction://hlinksldjump" r:id="rId5"/>
          </p:cNvPr>
          <p:cNvSpPr/>
          <p:nvPr/>
        </p:nvSpPr>
        <p:spPr>
          <a:xfrm>
            <a:off x="594360" y="3246120"/>
            <a:ext cx="5440680" cy="1261872"/>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401568"/>
            <a:ext cx="4370832" cy="365760"/>
          </a:xfrm>
          <a:prstGeom prst="rect">
            <a:avLst/>
          </a:prstGeom>
          <a:noFill/>
        </p:spPr>
        <p:txBody>
          <a:bodyPr wrap="square" lIns="0" rIns="0" tIns="0" bIns="0" anchor="t">
            <a:spAutoFit/>
          </a:bodyPr>
          <a:lstStyle/>
          <a:p>
            <a:pPr algn="l">
              <a:lnSpc>
                <a:spcPct val="110000"/>
              </a:lnSpc>
              <a:spcBef>
                <a:spcPts val="0"/>
              </a:spcBef>
              <a:spcAft>
                <a:spcPts val="300"/>
              </a:spcAft>
            </a:pPr>
            <a:r>
              <a:rPr sz="2100" b="1">
                <a:solidFill>
                  <a:srgbClr val="2B2733"/>
                </a:solidFill>
                <a:latin typeface="Arial"/>
              </a:rPr>
              <a:t>Jobs and search</a:t>
            </a:r>
          </a:p>
        </p:txBody>
      </p:sp>
      <p:sp>
        <p:nvSpPr>
          <p:cNvPr id="15" name="TextBox 14"/>
          <p:cNvSpPr txBox="1"/>
          <p:nvPr/>
        </p:nvSpPr>
        <p:spPr>
          <a:xfrm>
            <a:off x="5074920" y="3429000"/>
            <a:ext cx="804672" cy="265176"/>
          </a:xfrm>
          <a:prstGeom prst="rect">
            <a:avLst/>
          </a:prstGeom>
          <a:noFill/>
        </p:spPr>
        <p:txBody>
          <a:bodyPr wrap="square" lIns="0" rIns="0" tIns="0" bIns="0" anchor="t">
            <a:spAutoFit/>
          </a:bodyPr>
          <a:lstStyle/>
          <a:p>
            <a:pPr algn="r">
              <a:lnSpc>
                <a:spcPct val="110000"/>
              </a:lnSpc>
              <a:spcBef>
                <a:spcPts val="0"/>
              </a:spcBef>
              <a:spcAft>
                <a:spcPts val="300"/>
              </a:spcAft>
            </a:pPr>
            <a:r>
              <a:rPr sz="1350" b="0">
                <a:solidFill>
                  <a:srgbClr val="6D3FB0"/>
                </a:solidFill>
                <a:latin typeface="Arial"/>
              </a:rPr>
              <a:t>06–09</a:t>
            </a:r>
          </a:p>
        </p:txBody>
      </p:sp>
      <p:sp>
        <p:nvSpPr>
          <p:cNvPr id="16" name="TextBox 15"/>
          <p:cNvSpPr txBox="1"/>
          <p:nvPr/>
        </p:nvSpPr>
        <p:spPr>
          <a:xfrm>
            <a:off x="777240" y="3922776"/>
            <a:ext cx="5010912" cy="557784"/>
          </a:xfrm>
          <a:prstGeom prst="rect">
            <a:avLst/>
          </a:prstGeom>
          <a:noFill/>
        </p:spPr>
        <p:txBody>
          <a:bodyPr wrap="square" lIns="0" rIns="0" tIns="0" bIns="0" anchor="t">
            <a:spAutoFit/>
          </a:bodyPr>
          <a:lstStyle/>
          <a:p>
            <a:pPr algn="l">
              <a:lnSpc>
                <a:spcPct val="110000"/>
              </a:lnSpc>
              <a:spcBef>
                <a:spcPts val="0"/>
              </a:spcBef>
              <a:spcAft>
                <a:spcPts val="300"/>
              </a:spcAft>
            </a:pPr>
            <a:r>
              <a:rPr sz="1600" b="0">
                <a:solidFill>
                  <a:srgbClr val="3D3949"/>
                </a:solidFill>
                <a:latin typeface="Arial"/>
              </a:rPr>
              <a:t>Saved jobs, Express search, criteria, and filters</a:t>
            </a:r>
          </a:p>
        </p:txBody>
      </p:sp>
      <p:sp>
        <p:nvSpPr>
          <p:cNvPr id="17" name="Rounded Rectangle 16">
            <a:hlinkClick action="ppaction://hlinksldjump" r:id="rId6"/>
          </p:cNvPr>
          <p:cNvSpPr/>
          <p:nvPr/>
        </p:nvSpPr>
        <p:spPr>
          <a:xfrm>
            <a:off x="594360" y="4727448"/>
            <a:ext cx="5440680" cy="1261872"/>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882896"/>
            <a:ext cx="4370832" cy="365760"/>
          </a:xfrm>
          <a:prstGeom prst="rect">
            <a:avLst/>
          </a:prstGeom>
          <a:noFill/>
        </p:spPr>
        <p:txBody>
          <a:bodyPr wrap="square" lIns="0" rIns="0" tIns="0" bIns="0" anchor="t">
            <a:spAutoFit/>
          </a:bodyPr>
          <a:lstStyle/>
          <a:p>
            <a:pPr algn="l">
              <a:lnSpc>
                <a:spcPct val="110000"/>
              </a:lnSpc>
              <a:spcBef>
                <a:spcPts val="0"/>
              </a:spcBef>
              <a:spcAft>
                <a:spcPts val="300"/>
              </a:spcAft>
            </a:pPr>
            <a:r>
              <a:rPr sz="2100" b="1">
                <a:solidFill>
                  <a:srgbClr val="2B2733"/>
                </a:solidFill>
                <a:latin typeface="Arial"/>
              </a:rPr>
              <a:t>Candidate assessment</a:t>
            </a:r>
          </a:p>
        </p:txBody>
      </p:sp>
      <p:sp>
        <p:nvSpPr>
          <p:cNvPr id="19" name="TextBox 18"/>
          <p:cNvSpPr txBox="1"/>
          <p:nvPr/>
        </p:nvSpPr>
        <p:spPr>
          <a:xfrm>
            <a:off x="5074920" y="4910328"/>
            <a:ext cx="804672" cy="265176"/>
          </a:xfrm>
          <a:prstGeom prst="rect">
            <a:avLst/>
          </a:prstGeom>
          <a:noFill/>
        </p:spPr>
        <p:txBody>
          <a:bodyPr wrap="square" lIns="0" rIns="0" tIns="0" bIns="0" anchor="t">
            <a:spAutoFit/>
          </a:bodyPr>
          <a:lstStyle/>
          <a:p>
            <a:pPr algn="r">
              <a:lnSpc>
                <a:spcPct val="110000"/>
              </a:lnSpc>
              <a:spcBef>
                <a:spcPts val="0"/>
              </a:spcBef>
              <a:spcAft>
                <a:spcPts val="300"/>
              </a:spcAft>
            </a:pPr>
            <a:r>
              <a:rPr sz="1350" b="0">
                <a:solidFill>
                  <a:srgbClr val="6D3FB0"/>
                </a:solidFill>
                <a:latin typeface="Arial"/>
              </a:rPr>
              <a:t>10–15</a:t>
            </a:r>
          </a:p>
        </p:txBody>
      </p:sp>
      <p:sp>
        <p:nvSpPr>
          <p:cNvPr id="20" name="TextBox 19"/>
          <p:cNvSpPr txBox="1"/>
          <p:nvPr/>
        </p:nvSpPr>
        <p:spPr>
          <a:xfrm>
            <a:off x="777240" y="5404104"/>
            <a:ext cx="5010912" cy="557784"/>
          </a:xfrm>
          <a:prstGeom prst="rect">
            <a:avLst/>
          </a:prstGeom>
          <a:noFill/>
        </p:spPr>
        <p:txBody>
          <a:bodyPr wrap="square" lIns="0" rIns="0" tIns="0" bIns="0" anchor="t">
            <a:spAutoFit/>
          </a:bodyPr>
          <a:lstStyle/>
          <a:p>
            <a:pPr algn="l">
              <a:lnSpc>
                <a:spcPct val="110000"/>
              </a:lnSpc>
              <a:spcBef>
                <a:spcPts val="0"/>
              </a:spcBef>
              <a:spcAft>
                <a:spcPts val="300"/>
              </a:spcAft>
            </a:pPr>
            <a:r>
              <a:rPr sz="1600" b="0">
                <a:solidFill>
                  <a:srgbClr val="3D3949"/>
                </a:solidFill>
                <a:latin typeface="Arial"/>
              </a:rPr>
              <a:t>Evidence, reviews, profiles, comparison, and shortlists</a:t>
            </a:r>
          </a:p>
        </p:txBody>
      </p:sp>
      <p:sp>
        <p:nvSpPr>
          <p:cNvPr id="21" name="Rounded Rectangle 20">
            <a:hlinkClick action="ppaction://hlinksldjump" r:id="rId7"/>
          </p:cNvPr>
          <p:cNvSpPr/>
          <p:nvPr/>
        </p:nvSpPr>
        <p:spPr>
          <a:xfrm>
            <a:off x="6281928" y="1764792"/>
            <a:ext cx="5440680" cy="1261872"/>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64808" y="1920240"/>
            <a:ext cx="4370832" cy="365760"/>
          </a:xfrm>
          <a:prstGeom prst="rect">
            <a:avLst/>
          </a:prstGeom>
          <a:noFill/>
        </p:spPr>
        <p:txBody>
          <a:bodyPr wrap="square" lIns="0" rIns="0" tIns="0" bIns="0" anchor="t">
            <a:spAutoFit/>
          </a:bodyPr>
          <a:lstStyle/>
          <a:p>
            <a:pPr algn="l">
              <a:lnSpc>
                <a:spcPct val="110000"/>
              </a:lnSpc>
              <a:spcBef>
                <a:spcPts val="0"/>
              </a:spcBef>
              <a:spcAft>
                <a:spcPts val="300"/>
              </a:spcAft>
            </a:pPr>
            <a:r>
              <a:rPr sz="2100" b="1">
                <a:solidFill>
                  <a:srgbClr val="2B2733"/>
                </a:solidFill>
                <a:latin typeface="Arial"/>
              </a:rPr>
              <a:t>Job records</a:t>
            </a:r>
          </a:p>
        </p:txBody>
      </p:sp>
      <p:sp>
        <p:nvSpPr>
          <p:cNvPr id="23" name="TextBox 22"/>
          <p:cNvSpPr txBox="1"/>
          <p:nvPr/>
        </p:nvSpPr>
        <p:spPr>
          <a:xfrm>
            <a:off x="10762488" y="1947672"/>
            <a:ext cx="804672" cy="265176"/>
          </a:xfrm>
          <a:prstGeom prst="rect">
            <a:avLst/>
          </a:prstGeom>
          <a:noFill/>
        </p:spPr>
        <p:txBody>
          <a:bodyPr wrap="square" lIns="0" rIns="0" tIns="0" bIns="0" anchor="t">
            <a:spAutoFit/>
          </a:bodyPr>
          <a:lstStyle/>
          <a:p>
            <a:pPr algn="r">
              <a:lnSpc>
                <a:spcPct val="110000"/>
              </a:lnSpc>
              <a:spcBef>
                <a:spcPts val="0"/>
              </a:spcBef>
              <a:spcAft>
                <a:spcPts val="300"/>
              </a:spcAft>
            </a:pPr>
            <a:r>
              <a:rPr sz="1350" b="0">
                <a:solidFill>
                  <a:srgbClr val="6D3FB0"/>
                </a:solidFill>
                <a:latin typeface="Arial"/>
              </a:rPr>
              <a:t>16–18</a:t>
            </a:r>
          </a:p>
        </p:txBody>
      </p:sp>
      <p:sp>
        <p:nvSpPr>
          <p:cNvPr id="24" name="TextBox 23"/>
          <p:cNvSpPr txBox="1"/>
          <p:nvPr/>
        </p:nvSpPr>
        <p:spPr>
          <a:xfrm>
            <a:off x="6464808" y="2441448"/>
            <a:ext cx="5010912" cy="557784"/>
          </a:xfrm>
          <a:prstGeom prst="rect">
            <a:avLst/>
          </a:prstGeom>
          <a:noFill/>
        </p:spPr>
        <p:txBody>
          <a:bodyPr wrap="square" lIns="0" rIns="0" tIns="0" bIns="0" anchor="t">
            <a:spAutoFit/>
          </a:bodyPr>
          <a:lstStyle/>
          <a:p>
            <a:pPr algn="l">
              <a:lnSpc>
                <a:spcPct val="110000"/>
              </a:lnSpc>
              <a:spcBef>
                <a:spcPts val="0"/>
              </a:spcBef>
              <a:spcAft>
                <a:spcPts val="300"/>
              </a:spcAft>
            </a:pPr>
            <a:r>
              <a:rPr sz="1600" b="0">
                <a:solidFill>
                  <a:srgbClr val="3D3949"/>
                </a:solidFill>
                <a:latin typeface="Arial"/>
              </a:rPr>
              <a:t>Refreshing matches, status history, and hiring outcomes</a:t>
            </a:r>
          </a:p>
        </p:txBody>
      </p:sp>
      <p:sp>
        <p:nvSpPr>
          <p:cNvPr id="25" name="Rounded Rectangle 24">
            <a:hlinkClick action="ppaction://hlinksldjump" r:id="rId8"/>
          </p:cNvPr>
          <p:cNvSpPr/>
          <p:nvPr/>
        </p:nvSpPr>
        <p:spPr>
          <a:xfrm>
            <a:off x="6281928" y="3246120"/>
            <a:ext cx="5440680" cy="1261872"/>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64808" y="3401568"/>
            <a:ext cx="4370832" cy="365760"/>
          </a:xfrm>
          <a:prstGeom prst="rect">
            <a:avLst/>
          </a:prstGeom>
          <a:noFill/>
        </p:spPr>
        <p:txBody>
          <a:bodyPr wrap="square" lIns="0" rIns="0" tIns="0" bIns="0" anchor="t">
            <a:spAutoFit/>
          </a:bodyPr>
          <a:lstStyle/>
          <a:p>
            <a:pPr algn="l">
              <a:lnSpc>
                <a:spcPct val="110000"/>
              </a:lnSpc>
              <a:spcBef>
                <a:spcPts val="0"/>
              </a:spcBef>
              <a:spcAft>
                <a:spcPts val="300"/>
              </a:spcAft>
            </a:pPr>
            <a:r>
              <a:rPr sz="2100" b="1">
                <a:solidFill>
                  <a:srgbClr val="2B2733"/>
                </a:solidFill>
                <a:latin typeface="Arial"/>
              </a:rPr>
              <a:t>Optional AI reranking</a:t>
            </a:r>
          </a:p>
        </p:txBody>
      </p:sp>
      <p:sp>
        <p:nvSpPr>
          <p:cNvPr id="27" name="TextBox 26"/>
          <p:cNvSpPr txBox="1"/>
          <p:nvPr/>
        </p:nvSpPr>
        <p:spPr>
          <a:xfrm>
            <a:off x="10762488" y="3429000"/>
            <a:ext cx="804672" cy="265176"/>
          </a:xfrm>
          <a:prstGeom prst="rect">
            <a:avLst/>
          </a:prstGeom>
          <a:noFill/>
        </p:spPr>
        <p:txBody>
          <a:bodyPr wrap="square" lIns="0" rIns="0" tIns="0" bIns="0" anchor="t">
            <a:spAutoFit/>
          </a:bodyPr>
          <a:lstStyle/>
          <a:p>
            <a:pPr algn="r">
              <a:lnSpc>
                <a:spcPct val="110000"/>
              </a:lnSpc>
              <a:spcBef>
                <a:spcPts val="0"/>
              </a:spcBef>
              <a:spcAft>
                <a:spcPts val="300"/>
              </a:spcAft>
            </a:pPr>
            <a:r>
              <a:rPr sz="1350" b="0">
                <a:solidFill>
                  <a:srgbClr val="6D3FB0"/>
                </a:solidFill>
                <a:latin typeface="Arial"/>
              </a:rPr>
              <a:t>19–21</a:t>
            </a:r>
          </a:p>
        </p:txBody>
      </p:sp>
      <p:sp>
        <p:nvSpPr>
          <p:cNvPr id="28" name="TextBox 27"/>
          <p:cNvSpPr txBox="1"/>
          <p:nvPr/>
        </p:nvSpPr>
        <p:spPr>
          <a:xfrm>
            <a:off x="6464808" y="3922776"/>
            <a:ext cx="5010912" cy="557784"/>
          </a:xfrm>
          <a:prstGeom prst="rect">
            <a:avLst/>
          </a:prstGeom>
          <a:noFill/>
        </p:spPr>
        <p:txBody>
          <a:bodyPr wrap="square" lIns="0" rIns="0" tIns="0" bIns="0" anchor="t">
            <a:spAutoFit/>
          </a:bodyPr>
          <a:lstStyle/>
          <a:p>
            <a:pPr algn="l">
              <a:lnSpc>
                <a:spcPct val="110000"/>
              </a:lnSpc>
              <a:spcBef>
                <a:spcPts val="0"/>
              </a:spcBef>
              <a:spcAft>
                <a:spcPts val="300"/>
              </a:spcAft>
            </a:pPr>
            <a:r>
              <a:rPr sz="1600" b="0">
                <a:solidFill>
                  <a:srgbClr val="3D3949"/>
                </a:solidFill>
                <a:latin typeface="Arial"/>
              </a:rPr>
              <a:t>Providers, data review, and result interpretation</a:t>
            </a:r>
          </a:p>
        </p:txBody>
      </p:sp>
      <p:sp>
        <p:nvSpPr>
          <p:cNvPr id="29" name="Rounded Rectangle 28">
            <a:hlinkClick action="ppaction://hlinksldjump" r:id="rId9"/>
          </p:cNvPr>
          <p:cNvSpPr/>
          <p:nvPr/>
        </p:nvSpPr>
        <p:spPr>
          <a:xfrm>
            <a:off x="6281928" y="4727448"/>
            <a:ext cx="5440680" cy="1261872"/>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8" y="4882896"/>
            <a:ext cx="4370832" cy="365760"/>
          </a:xfrm>
          <a:prstGeom prst="rect">
            <a:avLst/>
          </a:prstGeom>
          <a:noFill/>
        </p:spPr>
        <p:txBody>
          <a:bodyPr wrap="square" lIns="0" rIns="0" tIns="0" bIns="0" anchor="t">
            <a:spAutoFit/>
          </a:bodyPr>
          <a:lstStyle/>
          <a:p>
            <a:pPr algn="l">
              <a:lnSpc>
                <a:spcPct val="110000"/>
              </a:lnSpc>
              <a:spcBef>
                <a:spcPts val="0"/>
              </a:spcBef>
              <a:spcAft>
                <a:spcPts val="300"/>
              </a:spcAft>
            </a:pPr>
            <a:r>
              <a:rPr sz="2100" b="1">
                <a:solidFill>
                  <a:srgbClr val="2B2733"/>
                </a:solidFill>
                <a:latin typeface="Arial"/>
              </a:rPr>
              <a:t>Operations and reference</a:t>
            </a:r>
          </a:p>
        </p:txBody>
      </p:sp>
      <p:sp>
        <p:nvSpPr>
          <p:cNvPr id="31" name="TextBox 30"/>
          <p:cNvSpPr txBox="1"/>
          <p:nvPr/>
        </p:nvSpPr>
        <p:spPr>
          <a:xfrm>
            <a:off x="10762488" y="4910328"/>
            <a:ext cx="804672" cy="265176"/>
          </a:xfrm>
          <a:prstGeom prst="rect">
            <a:avLst/>
          </a:prstGeom>
          <a:noFill/>
        </p:spPr>
        <p:txBody>
          <a:bodyPr wrap="square" lIns="0" rIns="0" tIns="0" bIns="0" anchor="t">
            <a:spAutoFit/>
          </a:bodyPr>
          <a:lstStyle/>
          <a:p>
            <a:pPr algn="r">
              <a:lnSpc>
                <a:spcPct val="110000"/>
              </a:lnSpc>
              <a:spcBef>
                <a:spcPts val="0"/>
              </a:spcBef>
              <a:spcAft>
                <a:spcPts val="300"/>
              </a:spcAft>
            </a:pPr>
            <a:r>
              <a:rPr sz="1350" b="0">
                <a:solidFill>
                  <a:srgbClr val="6D3FB0"/>
                </a:solidFill>
                <a:latin typeface="Arial"/>
              </a:rPr>
              <a:t>22–24</a:t>
            </a:r>
          </a:p>
        </p:txBody>
      </p:sp>
      <p:sp>
        <p:nvSpPr>
          <p:cNvPr id="32" name="TextBox 31"/>
          <p:cNvSpPr txBox="1"/>
          <p:nvPr/>
        </p:nvSpPr>
        <p:spPr>
          <a:xfrm>
            <a:off x="6464808" y="5404104"/>
            <a:ext cx="5010912" cy="557784"/>
          </a:xfrm>
          <a:prstGeom prst="rect">
            <a:avLst/>
          </a:prstGeom>
          <a:noFill/>
        </p:spPr>
        <p:txBody>
          <a:bodyPr wrap="square" lIns="0" rIns="0" tIns="0" bIns="0" anchor="t">
            <a:spAutoFit/>
          </a:bodyPr>
          <a:lstStyle/>
          <a:p>
            <a:pPr algn="l">
              <a:lnSpc>
                <a:spcPct val="110000"/>
              </a:lnSpc>
              <a:spcBef>
                <a:spcPts val="0"/>
              </a:spcBef>
              <a:spcAft>
                <a:spcPts val="300"/>
              </a:spcAft>
            </a:pPr>
            <a:r>
              <a:rPr sz="1600" b="0">
                <a:solidFill>
                  <a:srgbClr val="3D3949"/>
                </a:solidFill>
                <a:latin typeface="Arial"/>
              </a:rPr>
              <a:t>Watched folders, backups, and record scope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workspace">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a:lnSpc>
                <a:spcPct val="110000"/>
              </a:lnSpc>
              <a:spcBef>
                <a:spcPts val="0"/>
              </a:spcBef>
              <a:spcAft>
                <a:spcPts val="300"/>
              </a:spcAft>
            </a:pPr>
            <a:r>
              <a:rPr sz="1000" b="1">
                <a:solidFill>
                  <a:srgbClr val="6D3FB0"/>
                </a:solidFill>
                <a:latin typeface="Arial"/>
              </a:rPr>
              <a:t>QUMAA</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l">
              <a:lnSpc>
                <a:spcPct val="110000"/>
              </a:lnSpc>
              <a:spcBef>
                <a:spcPts val="0"/>
              </a:spcBef>
              <a:spcAft>
                <a:spcPts val="300"/>
              </a:spcAft>
            </a:pPr>
            <a:r>
              <a:rPr sz="3000" b="1">
                <a:solidFill>
                  <a:srgbClr val="2B2733"/>
                </a:solidFill>
                <a:latin typeface="Arial"/>
              </a:rPr>
              <a:t>Workspace navigation</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l">
              <a:lnSpc>
                <a:spcPct val="110000"/>
              </a:lnSpc>
              <a:spcBef>
                <a:spcPts val="0"/>
              </a:spcBef>
              <a:spcAft>
                <a:spcPts val="300"/>
              </a:spcAft>
            </a:pPr>
            <a:r>
              <a:rPr sz="1450" b="0">
                <a:solidFill>
                  <a:srgbClr val="716B7B"/>
                </a:solidFill>
                <a:latin typeface="Arial"/>
              </a:rPr>
              <a:t>Jobs contains both saved vacancies and Express search.</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a:lnSpc>
                <a:spcPct val="110000"/>
              </a:lnSpc>
              <a:spcBef>
                <a:spcPts val="0"/>
              </a:spcBef>
              <a:spcAft>
                <a:spcPts val="300"/>
              </a:spcAft>
            </a:pPr>
            <a:r>
              <a:rPr sz="919" b="0">
                <a:solidFill>
                  <a:srgbClr val="716B7B"/>
                </a:solidFill>
                <a:latin typeface="Arial"/>
              </a:rPr>
              <a:t>Actual application · Fictional demo data</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a:lnSpc>
                <a:spcPct val="110000"/>
              </a:lnSpc>
              <a:spcBef>
                <a:spcPts val="0"/>
              </a:spcBef>
              <a:spcAft>
                <a:spcPts val="300"/>
              </a:spcAft>
            </a:pPr>
            <a:r>
              <a:rPr sz="919" b="0">
                <a:solidFill>
                  <a:srgbClr val="716B7B"/>
                </a:solidFill>
                <a:latin typeface="Arial"/>
              </a:rPr>
              <a:t>Qumaa v0.1.0-beta.2   /   03</a:t>
            </a:r>
          </a:p>
        </p:txBody>
      </p:sp>
      <p:sp>
        <p:nvSpPr>
          <p:cNvPr id="9" name="Rounded Rectangle 8"/>
          <p:cNvSpPr/>
          <p:nvPr/>
        </p:nvSpPr>
        <p:spPr>
          <a:xfrm>
            <a:off x="594360" y="1792224"/>
            <a:ext cx="2889504" cy="1316736"/>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1920240"/>
            <a:ext cx="2532888" cy="310896"/>
          </a:xfrm>
          <a:prstGeom prst="rect">
            <a:avLst/>
          </a:prstGeom>
          <a:noFill/>
        </p:spPr>
        <p:txBody>
          <a:bodyPr wrap="square" lIns="0" rIns="0" tIns="0" bIns="0" anchor="t">
            <a:spAutoFit/>
          </a:bodyPr>
          <a:lstStyle/>
          <a:p>
            <a:pPr algn="l">
              <a:lnSpc>
                <a:spcPct val="110000"/>
              </a:lnSpc>
              <a:spcBef>
                <a:spcPts val="0"/>
              </a:spcBef>
              <a:spcAft>
                <a:spcPts val="300"/>
              </a:spcAft>
            </a:pPr>
            <a:r>
              <a:rPr sz="2100" b="1">
                <a:solidFill>
                  <a:srgbClr val="6D3FB0"/>
                </a:solidFill>
                <a:latin typeface="Arial"/>
              </a:rPr>
              <a:t>Jobs</a:t>
            </a:r>
          </a:p>
        </p:txBody>
      </p:sp>
      <p:sp>
        <p:nvSpPr>
          <p:cNvPr id="11" name="TextBox 10"/>
          <p:cNvSpPr txBox="1"/>
          <p:nvPr/>
        </p:nvSpPr>
        <p:spPr>
          <a:xfrm>
            <a:off x="768096" y="2276856"/>
            <a:ext cx="2505456" cy="795528"/>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Search vacancies; retain reviews, shortlists, and hiring records.</a:t>
            </a:r>
          </a:p>
        </p:txBody>
      </p:sp>
      <p:sp>
        <p:nvSpPr>
          <p:cNvPr id="12" name="Rounded Rectangle 11"/>
          <p:cNvSpPr/>
          <p:nvPr/>
        </p:nvSpPr>
        <p:spPr>
          <a:xfrm>
            <a:off x="594360" y="3200400"/>
            <a:ext cx="2889504" cy="1316736"/>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3328416"/>
            <a:ext cx="2532888" cy="310896"/>
          </a:xfrm>
          <a:prstGeom prst="rect">
            <a:avLst/>
          </a:prstGeom>
          <a:noFill/>
        </p:spPr>
        <p:txBody>
          <a:bodyPr wrap="square" lIns="0" rIns="0" tIns="0" bIns="0" anchor="t">
            <a:spAutoFit/>
          </a:bodyPr>
          <a:lstStyle/>
          <a:p>
            <a:pPr algn="l">
              <a:lnSpc>
                <a:spcPct val="110000"/>
              </a:lnSpc>
              <a:spcBef>
                <a:spcPts val="0"/>
              </a:spcBef>
              <a:spcAft>
                <a:spcPts val="300"/>
              </a:spcAft>
            </a:pPr>
            <a:r>
              <a:rPr sz="2100" b="1">
                <a:solidFill>
                  <a:srgbClr val="6D3FB0"/>
                </a:solidFill>
                <a:latin typeface="Arial"/>
              </a:rPr>
              <a:t>Library</a:t>
            </a:r>
          </a:p>
        </p:txBody>
      </p:sp>
      <p:sp>
        <p:nvSpPr>
          <p:cNvPr id="14" name="TextBox 13"/>
          <p:cNvSpPr txBox="1"/>
          <p:nvPr/>
        </p:nvSpPr>
        <p:spPr>
          <a:xfrm>
            <a:off x="768096" y="3685032"/>
            <a:ext cx="2505456" cy="795528"/>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Import CVs, inspect candidate details, and link CV versions.</a:t>
            </a:r>
          </a:p>
        </p:txBody>
      </p:sp>
      <p:sp>
        <p:nvSpPr>
          <p:cNvPr id="15" name="Rounded Rectangle 14"/>
          <p:cNvSpPr/>
          <p:nvPr/>
        </p:nvSpPr>
        <p:spPr>
          <a:xfrm>
            <a:off x="594360" y="4608576"/>
            <a:ext cx="2889504" cy="1316736"/>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4736592"/>
            <a:ext cx="2532888" cy="310896"/>
          </a:xfrm>
          <a:prstGeom prst="rect">
            <a:avLst/>
          </a:prstGeom>
          <a:noFill/>
        </p:spPr>
        <p:txBody>
          <a:bodyPr wrap="square" lIns="0" rIns="0" tIns="0" bIns="0" anchor="t">
            <a:spAutoFit/>
          </a:bodyPr>
          <a:lstStyle/>
          <a:p>
            <a:pPr algn="l">
              <a:lnSpc>
                <a:spcPct val="110000"/>
              </a:lnSpc>
              <a:spcBef>
                <a:spcPts val="0"/>
              </a:spcBef>
              <a:spcAft>
                <a:spcPts val="300"/>
              </a:spcAft>
            </a:pPr>
            <a:r>
              <a:rPr sz="2100" b="1">
                <a:solidFill>
                  <a:srgbClr val="6D3FB0"/>
                </a:solidFill>
                <a:latin typeface="Arial"/>
              </a:rPr>
              <a:t>Settings</a:t>
            </a:r>
          </a:p>
        </p:txBody>
      </p:sp>
      <p:sp>
        <p:nvSpPr>
          <p:cNvPr id="17" name="TextBox 16"/>
          <p:cNvSpPr txBox="1"/>
          <p:nvPr/>
        </p:nvSpPr>
        <p:spPr>
          <a:xfrm>
            <a:off x="768096" y="5093208"/>
            <a:ext cx="2505456" cy="795528"/>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Set preferences, AI providers, watched folders, and backups.</a:t>
            </a:r>
          </a:p>
        </p:txBody>
      </p:sp>
      <p:sp>
        <p:nvSpPr>
          <p:cNvPr id="18" name="Rectangle 17"/>
          <p:cNvSpPr/>
          <p:nvPr/>
        </p:nvSpPr>
        <p:spPr>
          <a:xfrm>
            <a:off x="3703320" y="1773936"/>
            <a:ext cx="7927848" cy="4425696"/>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01-jobs.png" descr="01-jobs.png"/>
          <p:cNvPicPr>
            <a:picLocks noChangeAspect="1"/>
          </p:cNvPicPr>
          <p:nvPr/>
        </p:nvPicPr>
        <p:blipFill>
          <a:blip r:embed="rId3"/>
          <a:srcRect/>
          <a:stretch>
            <a:fillRect/>
          </a:stretch>
        </p:blipFill>
        <p:spPr>
          <a:xfrm>
            <a:off x="4588309" y="1837943"/>
            <a:ext cx="6157869" cy="42976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workflow">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a:lnSpc>
                <a:spcPct val="110000"/>
              </a:lnSpc>
              <a:spcBef>
                <a:spcPts val="0"/>
              </a:spcBef>
              <a:spcAft>
                <a:spcPts val="300"/>
              </a:spcAft>
            </a:pPr>
            <a:r>
              <a:rPr sz="1000" b="1">
                <a:solidFill>
                  <a:srgbClr val="6D3FB0"/>
                </a:solidFill>
                <a:latin typeface="Arial"/>
              </a:rPr>
              <a:t>QUMAA</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l">
              <a:lnSpc>
                <a:spcPct val="110000"/>
              </a:lnSpc>
              <a:spcBef>
                <a:spcPts val="0"/>
              </a:spcBef>
              <a:spcAft>
                <a:spcPts val="300"/>
              </a:spcAft>
            </a:pPr>
            <a:r>
              <a:rPr sz="3000" b="1">
                <a:solidFill>
                  <a:srgbClr val="2B2733"/>
                </a:solidFill>
                <a:latin typeface="Arial"/>
              </a:rPr>
              <a:t>Recruiting workflow</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l">
              <a:lnSpc>
                <a:spcPct val="110000"/>
              </a:lnSpc>
              <a:spcBef>
                <a:spcPts val="0"/>
              </a:spcBef>
              <a:spcAft>
                <a:spcPts val="300"/>
              </a:spcAft>
            </a:pPr>
            <a:r>
              <a:rPr sz="1450" b="0">
                <a:solidFill>
                  <a:srgbClr val="716B7B"/>
                </a:solidFill>
                <a:latin typeface="Arial"/>
              </a:rPr>
              <a:t>Example: screening a Training &amp; Development Manager vacancy.</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a:lnSpc>
                <a:spcPct val="110000"/>
              </a:lnSpc>
              <a:spcBef>
                <a:spcPts val="0"/>
              </a:spcBef>
              <a:spcAft>
                <a:spcPts val="300"/>
              </a:spcAft>
            </a:pPr>
            <a:r>
              <a:rPr sz="919" b="0">
                <a:solidFill>
                  <a:srgbClr val="716B7B"/>
                </a:solidFill>
                <a:latin typeface="Arial"/>
              </a:rPr>
              <a:t>Recruiter workflow · Editable diagram</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a:lnSpc>
                <a:spcPct val="110000"/>
              </a:lnSpc>
              <a:spcBef>
                <a:spcPts val="0"/>
              </a:spcBef>
              <a:spcAft>
                <a:spcPts val="300"/>
              </a:spcAft>
            </a:pPr>
            <a:r>
              <a:rPr sz="919" b="0">
                <a:solidFill>
                  <a:srgbClr val="716B7B"/>
                </a:solidFill>
                <a:latin typeface="Arial"/>
              </a:rPr>
              <a:t>Qumaa v0.1.0-beta.2   /   04</a:t>
            </a:r>
          </a:p>
        </p:txBody>
      </p:sp>
      <p:sp>
        <p:nvSpPr>
          <p:cNvPr id="9" name="Rounded Rectangle 8"/>
          <p:cNvSpPr/>
          <p:nvPr/>
        </p:nvSpPr>
        <p:spPr>
          <a:xfrm>
            <a:off x="594360" y="1801368"/>
            <a:ext cx="3474720" cy="1444752"/>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68096" y="1984248"/>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1</a:t>
            </a:r>
          </a:p>
        </p:txBody>
      </p:sp>
      <p:sp>
        <p:nvSpPr>
          <p:cNvPr id="11" name="TextBox 10"/>
          <p:cNvSpPr txBox="1"/>
          <p:nvPr/>
        </p:nvSpPr>
        <p:spPr>
          <a:xfrm>
            <a:off x="1234440" y="1947672"/>
            <a:ext cx="2615184" cy="521207"/>
          </a:xfrm>
          <a:prstGeom prst="rect">
            <a:avLst/>
          </a:prstGeom>
          <a:noFill/>
        </p:spPr>
        <p:txBody>
          <a:bodyPr wrap="square" lIns="0" rIns="0" tIns="0" bIns="0" anchor="t">
            <a:spAutoFit/>
          </a:bodyPr>
          <a:lstStyle/>
          <a:p>
            <a:pPr algn="l">
              <a:lnSpc>
                <a:spcPct val="110000"/>
              </a:lnSpc>
              <a:spcBef>
                <a:spcPts val="0"/>
              </a:spcBef>
              <a:spcAft>
                <a:spcPts val="300"/>
              </a:spcAft>
            </a:pPr>
            <a:r>
              <a:rPr sz="2000" b="1">
                <a:solidFill>
                  <a:srgbClr val="2B2733"/>
                </a:solidFill>
                <a:latin typeface="Arial"/>
              </a:rPr>
              <a:t>Import CVs</a:t>
            </a:r>
          </a:p>
        </p:txBody>
      </p:sp>
      <p:sp>
        <p:nvSpPr>
          <p:cNvPr id="12" name="TextBox 11"/>
          <p:cNvSpPr txBox="1"/>
          <p:nvPr/>
        </p:nvSpPr>
        <p:spPr>
          <a:xfrm>
            <a:off x="777240" y="2578608"/>
            <a:ext cx="3108960" cy="585216"/>
          </a:xfrm>
          <a:prstGeom prst="rect">
            <a:avLst/>
          </a:prstGeom>
          <a:noFill/>
        </p:spPr>
        <p:txBody>
          <a:bodyPr wrap="square" lIns="0" rIns="0" tIns="0" bIns="0" anchor="t">
            <a:spAutoFit/>
          </a:bodyPr>
          <a:lstStyle/>
          <a:p>
            <a:pPr algn="l">
              <a:lnSpc>
                <a:spcPct val="110000"/>
              </a:lnSpc>
              <a:spcBef>
                <a:spcPts val="0"/>
              </a:spcBef>
              <a:spcAft>
                <a:spcPts val="300"/>
              </a:spcAft>
            </a:pPr>
            <a:r>
              <a:rPr sz="1600" b="0">
                <a:solidFill>
                  <a:srgbClr val="3D3949"/>
                </a:solidFill>
                <a:latin typeface="Arial"/>
              </a:rPr>
              <a:t>Build the local candidate library.</a:t>
            </a:r>
          </a:p>
        </p:txBody>
      </p:sp>
      <p:sp>
        <p:nvSpPr>
          <p:cNvPr id="13" name="Rounded Rectangle 12"/>
          <p:cNvSpPr/>
          <p:nvPr/>
        </p:nvSpPr>
        <p:spPr>
          <a:xfrm>
            <a:off x="4306824" y="1801368"/>
            <a:ext cx="3474720" cy="1444752"/>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480560" y="1984248"/>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2</a:t>
            </a:r>
          </a:p>
        </p:txBody>
      </p:sp>
      <p:sp>
        <p:nvSpPr>
          <p:cNvPr id="15" name="TextBox 14"/>
          <p:cNvSpPr txBox="1"/>
          <p:nvPr/>
        </p:nvSpPr>
        <p:spPr>
          <a:xfrm>
            <a:off x="4946904" y="1947672"/>
            <a:ext cx="2615184" cy="521207"/>
          </a:xfrm>
          <a:prstGeom prst="rect">
            <a:avLst/>
          </a:prstGeom>
          <a:noFill/>
        </p:spPr>
        <p:txBody>
          <a:bodyPr wrap="square" lIns="0" rIns="0" tIns="0" bIns="0" anchor="t">
            <a:spAutoFit/>
          </a:bodyPr>
          <a:lstStyle/>
          <a:p>
            <a:pPr algn="l">
              <a:lnSpc>
                <a:spcPct val="110000"/>
              </a:lnSpc>
              <a:spcBef>
                <a:spcPts val="0"/>
              </a:spcBef>
              <a:spcAft>
                <a:spcPts val="300"/>
              </a:spcAft>
            </a:pPr>
            <a:r>
              <a:rPr sz="2000" b="1">
                <a:solidFill>
                  <a:srgbClr val="2B2733"/>
                </a:solidFill>
                <a:latin typeface="Arial"/>
              </a:rPr>
              <a:t>Define requirements</a:t>
            </a:r>
          </a:p>
        </p:txBody>
      </p:sp>
      <p:sp>
        <p:nvSpPr>
          <p:cNvPr id="16" name="TextBox 15"/>
          <p:cNvSpPr txBox="1"/>
          <p:nvPr/>
        </p:nvSpPr>
        <p:spPr>
          <a:xfrm>
            <a:off x="4489704" y="2578608"/>
            <a:ext cx="3108960" cy="585216"/>
          </a:xfrm>
          <a:prstGeom prst="rect">
            <a:avLst/>
          </a:prstGeom>
          <a:noFill/>
        </p:spPr>
        <p:txBody>
          <a:bodyPr wrap="square" lIns="0" rIns="0" tIns="0" bIns="0" anchor="t">
            <a:spAutoFit/>
          </a:bodyPr>
          <a:lstStyle/>
          <a:p>
            <a:pPr algn="l">
              <a:lnSpc>
                <a:spcPct val="110000"/>
              </a:lnSpc>
              <a:spcBef>
                <a:spcPts val="0"/>
              </a:spcBef>
              <a:spcAft>
                <a:spcPts val="300"/>
              </a:spcAft>
            </a:pPr>
            <a:r>
              <a:rPr sz="1600" b="0">
                <a:solidFill>
                  <a:srgbClr val="3D3949"/>
                </a:solidFill>
                <a:latin typeface="Arial"/>
              </a:rPr>
              <a:t>Create a saved job or an Express search.</a:t>
            </a:r>
          </a:p>
        </p:txBody>
      </p:sp>
      <p:sp>
        <p:nvSpPr>
          <p:cNvPr id="17" name="Rounded Rectangle 16"/>
          <p:cNvSpPr/>
          <p:nvPr/>
        </p:nvSpPr>
        <p:spPr>
          <a:xfrm>
            <a:off x="8019288" y="1801368"/>
            <a:ext cx="3474720" cy="1444752"/>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93023" y="1984248"/>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3</a:t>
            </a:r>
          </a:p>
        </p:txBody>
      </p:sp>
      <p:sp>
        <p:nvSpPr>
          <p:cNvPr id="19" name="TextBox 18"/>
          <p:cNvSpPr txBox="1"/>
          <p:nvPr/>
        </p:nvSpPr>
        <p:spPr>
          <a:xfrm>
            <a:off x="8659367" y="1947672"/>
            <a:ext cx="2615184" cy="521207"/>
          </a:xfrm>
          <a:prstGeom prst="rect">
            <a:avLst/>
          </a:prstGeom>
          <a:noFill/>
        </p:spPr>
        <p:txBody>
          <a:bodyPr wrap="square" lIns="0" rIns="0" tIns="0" bIns="0" anchor="t">
            <a:spAutoFit/>
          </a:bodyPr>
          <a:lstStyle/>
          <a:p>
            <a:pPr algn="l">
              <a:lnSpc>
                <a:spcPct val="110000"/>
              </a:lnSpc>
              <a:spcBef>
                <a:spcPts val="0"/>
              </a:spcBef>
              <a:spcAft>
                <a:spcPts val="300"/>
              </a:spcAft>
            </a:pPr>
            <a:r>
              <a:rPr sz="2000" b="1">
                <a:solidFill>
                  <a:srgbClr val="2B2733"/>
                </a:solidFill>
                <a:latin typeface="Arial"/>
              </a:rPr>
              <a:t>Find matches</a:t>
            </a:r>
          </a:p>
        </p:txBody>
      </p:sp>
      <p:sp>
        <p:nvSpPr>
          <p:cNvPr id="20" name="TextBox 19"/>
          <p:cNvSpPr txBox="1"/>
          <p:nvPr/>
        </p:nvSpPr>
        <p:spPr>
          <a:xfrm>
            <a:off x="8202167" y="2578608"/>
            <a:ext cx="3108960" cy="585216"/>
          </a:xfrm>
          <a:prstGeom prst="rect">
            <a:avLst/>
          </a:prstGeom>
          <a:noFill/>
        </p:spPr>
        <p:txBody>
          <a:bodyPr wrap="square" lIns="0" rIns="0" tIns="0" bIns="0" anchor="t">
            <a:spAutoFit/>
          </a:bodyPr>
          <a:lstStyle/>
          <a:p>
            <a:pPr algn="l">
              <a:lnSpc>
                <a:spcPct val="110000"/>
              </a:lnSpc>
              <a:spcBef>
                <a:spcPts val="0"/>
              </a:spcBef>
              <a:spcAft>
                <a:spcPts val="300"/>
              </a:spcAft>
            </a:pPr>
            <a:r>
              <a:rPr sz="1600" b="0">
                <a:solidFill>
                  <a:srgbClr val="3D3949"/>
                </a:solidFill>
                <a:latin typeface="Arial"/>
              </a:rPr>
              <a:t>Review results from the local library.</a:t>
            </a:r>
          </a:p>
        </p:txBody>
      </p:sp>
      <p:sp>
        <p:nvSpPr>
          <p:cNvPr id="21" name="Rounded Rectangle 20"/>
          <p:cNvSpPr/>
          <p:nvPr/>
        </p:nvSpPr>
        <p:spPr>
          <a:xfrm>
            <a:off x="8019288" y="3703320"/>
            <a:ext cx="3474720" cy="1444752"/>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93023" y="3886200"/>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4</a:t>
            </a:r>
          </a:p>
        </p:txBody>
      </p:sp>
      <p:sp>
        <p:nvSpPr>
          <p:cNvPr id="23" name="TextBox 22"/>
          <p:cNvSpPr txBox="1"/>
          <p:nvPr/>
        </p:nvSpPr>
        <p:spPr>
          <a:xfrm>
            <a:off x="8659367" y="3849624"/>
            <a:ext cx="2615184" cy="521207"/>
          </a:xfrm>
          <a:prstGeom prst="rect">
            <a:avLst/>
          </a:prstGeom>
          <a:noFill/>
        </p:spPr>
        <p:txBody>
          <a:bodyPr wrap="square" lIns="0" rIns="0" tIns="0" bIns="0" anchor="t">
            <a:spAutoFit/>
          </a:bodyPr>
          <a:lstStyle/>
          <a:p>
            <a:pPr algn="l">
              <a:lnSpc>
                <a:spcPct val="110000"/>
              </a:lnSpc>
              <a:spcBef>
                <a:spcPts val="0"/>
              </a:spcBef>
              <a:spcAft>
                <a:spcPts val="300"/>
              </a:spcAft>
            </a:pPr>
            <a:r>
              <a:rPr sz="2000" b="1">
                <a:solidFill>
                  <a:srgbClr val="2B2733"/>
                </a:solidFill>
                <a:latin typeface="Arial"/>
              </a:rPr>
              <a:t>Assess candidates</a:t>
            </a:r>
          </a:p>
        </p:txBody>
      </p:sp>
      <p:sp>
        <p:nvSpPr>
          <p:cNvPr id="24" name="TextBox 23"/>
          <p:cNvSpPr txBox="1"/>
          <p:nvPr/>
        </p:nvSpPr>
        <p:spPr>
          <a:xfrm>
            <a:off x="8202167" y="4480559"/>
            <a:ext cx="3108960" cy="585216"/>
          </a:xfrm>
          <a:prstGeom prst="rect">
            <a:avLst/>
          </a:prstGeom>
          <a:noFill/>
        </p:spPr>
        <p:txBody>
          <a:bodyPr wrap="square" lIns="0" rIns="0" tIns="0" bIns="0" anchor="t">
            <a:spAutoFit/>
          </a:bodyPr>
          <a:lstStyle/>
          <a:p>
            <a:pPr algn="l">
              <a:lnSpc>
                <a:spcPct val="110000"/>
              </a:lnSpc>
              <a:spcBef>
                <a:spcPts val="0"/>
              </a:spcBef>
              <a:spcAft>
                <a:spcPts val="300"/>
              </a:spcAft>
            </a:pPr>
            <a:r>
              <a:rPr sz="1600" b="0">
                <a:solidFill>
                  <a:srgbClr val="3D3949"/>
                </a:solidFill>
                <a:latin typeface="Arial"/>
              </a:rPr>
              <a:t>Check evidence, compare, and record reviews.</a:t>
            </a:r>
          </a:p>
        </p:txBody>
      </p:sp>
      <p:sp>
        <p:nvSpPr>
          <p:cNvPr id="25" name="Rounded Rectangle 24"/>
          <p:cNvSpPr/>
          <p:nvPr/>
        </p:nvSpPr>
        <p:spPr>
          <a:xfrm>
            <a:off x="4306824" y="3703320"/>
            <a:ext cx="3474720" cy="1444752"/>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480560" y="3886200"/>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5</a:t>
            </a:r>
          </a:p>
        </p:txBody>
      </p:sp>
      <p:sp>
        <p:nvSpPr>
          <p:cNvPr id="27" name="TextBox 26"/>
          <p:cNvSpPr txBox="1"/>
          <p:nvPr/>
        </p:nvSpPr>
        <p:spPr>
          <a:xfrm>
            <a:off x="4946904" y="3849624"/>
            <a:ext cx="2615184" cy="521207"/>
          </a:xfrm>
          <a:prstGeom prst="rect">
            <a:avLst/>
          </a:prstGeom>
          <a:noFill/>
        </p:spPr>
        <p:txBody>
          <a:bodyPr wrap="square" lIns="0" rIns="0" tIns="0" bIns="0" anchor="t">
            <a:spAutoFit/>
          </a:bodyPr>
          <a:lstStyle/>
          <a:p>
            <a:pPr algn="l">
              <a:lnSpc>
                <a:spcPct val="110000"/>
              </a:lnSpc>
              <a:spcBef>
                <a:spcPts val="0"/>
              </a:spcBef>
              <a:spcAft>
                <a:spcPts val="300"/>
              </a:spcAft>
            </a:pPr>
            <a:r>
              <a:rPr sz="2000" b="1">
                <a:solidFill>
                  <a:srgbClr val="2B2733"/>
                </a:solidFill>
                <a:latin typeface="Arial"/>
              </a:rPr>
              <a:t>Prepare the shortlist</a:t>
            </a:r>
          </a:p>
        </p:txBody>
      </p:sp>
      <p:sp>
        <p:nvSpPr>
          <p:cNvPr id="28" name="TextBox 27"/>
          <p:cNvSpPr txBox="1"/>
          <p:nvPr/>
        </p:nvSpPr>
        <p:spPr>
          <a:xfrm>
            <a:off x="4489704" y="4480559"/>
            <a:ext cx="3108960" cy="585216"/>
          </a:xfrm>
          <a:prstGeom prst="rect">
            <a:avLst/>
          </a:prstGeom>
          <a:noFill/>
        </p:spPr>
        <p:txBody>
          <a:bodyPr wrap="square" lIns="0" rIns="0" tIns="0" bIns="0" anchor="t">
            <a:spAutoFit/>
          </a:bodyPr>
          <a:lstStyle/>
          <a:p>
            <a:pPr algn="l">
              <a:lnSpc>
                <a:spcPct val="110000"/>
              </a:lnSpc>
              <a:spcBef>
                <a:spcPts val="0"/>
              </a:spcBef>
              <a:spcAft>
                <a:spcPts val="300"/>
              </a:spcAft>
            </a:pPr>
            <a:r>
              <a:rPr sz="1600" b="0">
                <a:solidFill>
                  <a:srgbClr val="3D3949"/>
                </a:solidFill>
                <a:latin typeface="Arial"/>
              </a:rPr>
              <a:t>Choose candidates, set order, and export.</a:t>
            </a:r>
          </a:p>
        </p:txBody>
      </p:sp>
      <p:sp>
        <p:nvSpPr>
          <p:cNvPr id="29" name="Rounded Rectangle 28"/>
          <p:cNvSpPr/>
          <p:nvPr/>
        </p:nvSpPr>
        <p:spPr>
          <a:xfrm>
            <a:off x="594360" y="3703320"/>
            <a:ext cx="3474720" cy="1444752"/>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8096" y="3886200"/>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6</a:t>
            </a:r>
          </a:p>
        </p:txBody>
      </p:sp>
      <p:sp>
        <p:nvSpPr>
          <p:cNvPr id="31" name="TextBox 30"/>
          <p:cNvSpPr txBox="1"/>
          <p:nvPr/>
        </p:nvSpPr>
        <p:spPr>
          <a:xfrm>
            <a:off x="1234440" y="3849624"/>
            <a:ext cx="2615184" cy="521207"/>
          </a:xfrm>
          <a:prstGeom prst="rect">
            <a:avLst/>
          </a:prstGeom>
          <a:noFill/>
        </p:spPr>
        <p:txBody>
          <a:bodyPr wrap="square" lIns="0" rIns="0" tIns="0" bIns="0" anchor="t">
            <a:spAutoFit/>
          </a:bodyPr>
          <a:lstStyle/>
          <a:p>
            <a:pPr algn="l">
              <a:lnSpc>
                <a:spcPct val="110000"/>
              </a:lnSpc>
              <a:spcBef>
                <a:spcPts val="0"/>
              </a:spcBef>
              <a:spcAft>
                <a:spcPts val="300"/>
              </a:spcAft>
            </a:pPr>
            <a:r>
              <a:rPr sz="2000" b="1">
                <a:solidFill>
                  <a:srgbClr val="2B2733"/>
                </a:solidFill>
                <a:latin typeface="Arial"/>
              </a:rPr>
              <a:t>Record the outcome</a:t>
            </a:r>
          </a:p>
        </p:txBody>
      </p:sp>
      <p:sp>
        <p:nvSpPr>
          <p:cNvPr id="32" name="TextBox 31"/>
          <p:cNvSpPr txBox="1"/>
          <p:nvPr/>
        </p:nvSpPr>
        <p:spPr>
          <a:xfrm>
            <a:off x="777240" y="4480559"/>
            <a:ext cx="3108960" cy="585216"/>
          </a:xfrm>
          <a:prstGeom prst="rect">
            <a:avLst/>
          </a:prstGeom>
          <a:noFill/>
        </p:spPr>
        <p:txBody>
          <a:bodyPr wrap="square" lIns="0" rIns="0" tIns="0" bIns="0" anchor="t">
            <a:spAutoFit/>
          </a:bodyPr>
          <a:lstStyle/>
          <a:p>
            <a:pPr algn="l">
              <a:lnSpc>
                <a:spcPct val="110000"/>
              </a:lnSpc>
              <a:spcBef>
                <a:spcPts val="0"/>
              </a:spcBef>
              <a:spcAft>
                <a:spcPts val="300"/>
              </a:spcAft>
            </a:pPr>
            <a:r>
              <a:rPr sz="1600" b="0">
                <a:solidFill>
                  <a:srgbClr val="3D3949"/>
                </a:solidFill>
                <a:latin typeface="Arial"/>
              </a:rPr>
              <a:t>Update status, hired candidate, and backups.</a:t>
            </a:r>
          </a:p>
        </p:txBody>
      </p:sp>
      <p:cxnSp>
        <p:nvCxnSpPr>
          <p:cNvPr id="33" name="Connector 32"/>
          <p:cNvCxnSpPr/>
          <p:nvPr/>
        </p:nvCxnSpPr>
        <p:spPr>
          <a:xfrm>
            <a:off x="4078224" y="2487168"/>
            <a:ext cx="201168" cy="0"/>
          </a:xfrm>
          <a:prstGeom prst="line">
            <a:avLst/>
          </a:prstGeom>
          <a:ln w="22860">
            <a:solidFill>
              <a:srgbClr val="6D3FB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790688" y="2487168"/>
            <a:ext cx="201168" cy="0"/>
          </a:xfrm>
          <a:prstGeom prst="line">
            <a:avLst/>
          </a:prstGeom>
          <a:ln w="22860">
            <a:solidFill>
              <a:srgbClr val="6D3FB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756648" y="3291840"/>
            <a:ext cx="0" cy="384047"/>
          </a:xfrm>
          <a:prstGeom prst="line">
            <a:avLst/>
          </a:prstGeom>
          <a:ln w="22860">
            <a:solidFill>
              <a:srgbClr val="6D3FB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7790688" y="4389120"/>
            <a:ext cx="201168" cy="0"/>
          </a:xfrm>
          <a:prstGeom prst="line">
            <a:avLst/>
          </a:prstGeom>
          <a:ln w="22860">
            <a:solidFill>
              <a:srgbClr val="6D3FB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4078224" y="4389120"/>
            <a:ext cx="201168" cy="0"/>
          </a:xfrm>
          <a:prstGeom prst="line">
            <a:avLst/>
          </a:prstGeom>
          <a:ln w="22860">
            <a:solidFill>
              <a:srgbClr val="6D3FB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40080" y="5532120"/>
            <a:ext cx="10917936" cy="457200"/>
          </a:xfrm>
          <a:prstGeom prst="rect">
            <a:avLst/>
          </a:prstGeom>
          <a:noFill/>
        </p:spPr>
        <p:txBody>
          <a:bodyPr wrap="square" lIns="0" rIns="0" tIns="0" bIns="0" anchor="t">
            <a:spAutoFit/>
          </a:bodyPr>
          <a:lstStyle/>
          <a:p>
            <a:pPr algn="l">
              <a:lnSpc>
                <a:spcPct val="110000"/>
              </a:lnSpc>
              <a:spcBef>
                <a:spcPts val="0"/>
              </a:spcBef>
              <a:spcAft>
                <a:spcPts val="300"/>
              </a:spcAft>
            </a:pPr>
            <a:r>
              <a:rPr sz="1800" b="0">
                <a:solidFill>
                  <a:srgbClr val="6D3FB0"/>
                </a:solidFill>
                <a:latin typeface="Arial"/>
              </a:rPr>
              <a:t>When CVs or requirements change, refresh the saved job and review the updated results.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library">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a:lnSpc>
                <a:spcPct val="110000"/>
              </a:lnSpc>
              <a:spcBef>
                <a:spcPts val="0"/>
              </a:spcBef>
              <a:spcAft>
                <a:spcPts val="300"/>
              </a:spcAft>
            </a:pPr>
            <a:r>
              <a:rPr sz="1000" b="1">
                <a:solidFill>
                  <a:srgbClr val="6D3FB0"/>
                </a:solidFill>
                <a:latin typeface="Arial"/>
              </a:rPr>
              <a:t>QUMAA</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l">
              <a:lnSpc>
                <a:spcPct val="110000"/>
              </a:lnSpc>
              <a:spcBef>
                <a:spcPts val="0"/>
              </a:spcBef>
              <a:spcAft>
                <a:spcPts val="300"/>
              </a:spcAft>
            </a:pPr>
            <a:r>
              <a:rPr sz="3000" b="1">
                <a:solidFill>
                  <a:srgbClr val="2B2733"/>
                </a:solidFill>
                <a:latin typeface="Arial"/>
              </a:rPr>
              <a:t>Importing the CV library</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l">
              <a:lnSpc>
                <a:spcPct val="110000"/>
              </a:lnSpc>
              <a:spcBef>
                <a:spcPts val="0"/>
              </a:spcBef>
              <a:spcAft>
                <a:spcPts val="300"/>
              </a:spcAft>
            </a:pPr>
            <a:r>
              <a:rPr sz="1450" b="0">
                <a:solidFill>
                  <a:srgbClr val="716B7B"/>
                </a:solidFill>
                <a:latin typeface="Arial"/>
              </a:rPr>
              <a:t>Supported inputs: digital PDF, DOCX, Markdown, and pasted text.</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a:lnSpc>
                <a:spcPct val="110000"/>
              </a:lnSpc>
              <a:spcBef>
                <a:spcPts val="0"/>
              </a:spcBef>
              <a:spcAft>
                <a:spcPts val="300"/>
              </a:spcAft>
            </a:pPr>
            <a:r>
              <a:rPr sz="919" b="0">
                <a:solidFill>
                  <a:srgbClr val="716B7B"/>
                </a:solidFill>
                <a:latin typeface="Arial"/>
              </a:rPr>
              <a:t>Actual application · Fictional demo data</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a:lnSpc>
                <a:spcPct val="110000"/>
              </a:lnSpc>
              <a:spcBef>
                <a:spcPts val="0"/>
              </a:spcBef>
              <a:spcAft>
                <a:spcPts val="300"/>
              </a:spcAft>
            </a:pPr>
            <a:r>
              <a:rPr sz="919" b="0">
                <a:solidFill>
                  <a:srgbClr val="716B7B"/>
                </a:solidFill>
                <a:latin typeface="Arial"/>
              </a:rPr>
              <a:t>Qumaa v0.1.0-beta.2   /   05</a:t>
            </a:r>
          </a:p>
        </p:txBody>
      </p:sp>
      <p:sp>
        <p:nvSpPr>
          <p:cNvPr id="9" name="Oval 8"/>
          <p:cNvSpPr/>
          <p:nvPr/>
        </p:nvSpPr>
        <p:spPr>
          <a:xfrm>
            <a:off x="576072" y="1787651"/>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1</a:t>
            </a:r>
          </a:p>
        </p:txBody>
      </p:sp>
      <p:sp>
        <p:nvSpPr>
          <p:cNvPr id="10" name="TextBox 9"/>
          <p:cNvSpPr txBox="1"/>
          <p:nvPr/>
        </p:nvSpPr>
        <p:spPr>
          <a:xfrm>
            <a:off x="1005840" y="176479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Open Library</a:t>
            </a:r>
          </a:p>
        </p:txBody>
      </p:sp>
      <p:sp>
        <p:nvSpPr>
          <p:cNvPr id="11" name="TextBox 10"/>
          <p:cNvSpPr txBox="1"/>
          <p:nvPr/>
        </p:nvSpPr>
        <p:spPr>
          <a:xfrm>
            <a:off x="1005840" y="235000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Choose Add files or Import folder.</a:t>
            </a:r>
          </a:p>
        </p:txBody>
      </p:sp>
      <p:sp>
        <p:nvSpPr>
          <p:cNvPr id="12" name="Oval 11"/>
          <p:cNvSpPr/>
          <p:nvPr/>
        </p:nvSpPr>
        <p:spPr>
          <a:xfrm>
            <a:off x="576072" y="302209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2</a:t>
            </a:r>
          </a:p>
        </p:txBody>
      </p:sp>
      <p:sp>
        <p:nvSpPr>
          <p:cNvPr id="13" name="TextBox 12"/>
          <p:cNvSpPr txBox="1"/>
          <p:nvPr/>
        </p:nvSpPr>
        <p:spPr>
          <a:xfrm>
            <a:off x="1005840" y="299923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Import the CVs</a:t>
            </a:r>
          </a:p>
        </p:txBody>
      </p:sp>
      <p:sp>
        <p:nvSpPr>
          <p:cNvPr id="14" name="TextBox 13"/>
          <p:cNvSpPr txBox="1"/>
          <p:nvPr/>
        </p:nvSpPr>
        <p:spPr>
          <a:xfrm>
            <a:off x="1005840" y="358444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Select documents or use Paste text.</a:t>
            </a:r>
          </a:p>
        </p:txBody>
      </p:sp>
      <p:sp>
        <p:nvSpPr>
          <p:cNvPr id="15" name="Oval 14"/>
          <p:cNvSpPr/>
          <p:nvPr/>
        </p:nvSpPr>
        <p:spPr>
          <a:xfrm>
            <a:off x="576072" y="425653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3</a:t>
            </a:r>
          </a:p>
        </p:txBody>
      </p:sp>
      <p:sp>
        <p:nvSpPr>
          <p:cNvPr id="16" name="TextBox 15"/>
          <p:cNvSpPr txBox="1"/>
          <p:nvPr/>
        </p:nvSpPr>
        <p:spPr>
          <a:xfrm>
            <a:off x="1005840" y="423367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Check processing</a:t>
            </a:r>
          </a:p>
        </p:txBody>
      </p:sp>
      <p:sp>
        <p:nvSpPr>
          <p:cNvPr id="17" name="TextBox 16"/>
          <p:cNvSpPr txBox="1"/>
          <p:nvPr/>
        </p:nvSpPr>
        <p:spPr>
          <a:xfrm>
            <a:off x="1005840" y="481888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Review import notices and candidate details.</a:t>
            </a:r>
          </a:p>
        </p:txBody>
      </p:sp>
      <p:sp>
        <p:nvSpPr>
          <p:cNvPr id="18" name="Rectangle 17"/>
          <p:cNvSpPr/>
          <p:nvPr/>
        </p:nvSpPr>
        <p:spPr>
          <a:xfrm>
            <a:off x="3694176" y="1682496"/>
            <a:ext cx="7964424" cy="4535424"/>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02-library.png" descr="02-library.png"/>
          <p:cNvPicPr>
            <a:picLocks noChangeAspect="1"/>
          </p:cNvPicPr>
          <p:nvPr/>
        </p:nvPicPr>
        <p:blipFill>
          <a:blip r:embed="rId3"/>
          <a:srcRect/>
          <a:stretch>
            <a:fillRect/>
          </a:stretch>
        </p:blipFill>
        <p:spPr>
          <a:xfrm>
            <a:off x="3758184" y="1789838"/>
            <a:ext cx="7836408" cy="4320739"/>
          </a:xfrm>
          <a:prstGeom prst="rect">
            <a:avLst/>
          </a:prstGeom>
        </p:spPr>
      </p:pic>
      <p:sp>
        <p:nvSpPr>
          <p:cNvPr id="20" name="Rounded Rectangle 19"/>
          <p:cNvSpPr/>
          <p:nvPr/>
        </p:nvSpPr>
        <p:spPr>
          <a:xfrm>
            <a:off x="585216" y="5596128"/>
            <a:ext cx="2816352" cy="585216"/>
          </a:xfrm>
          <a:prstGeom prst="roundRect">
            <a:avLst>
              <a:gd name="adj" fmla="val 12000"/>
            </a:avLst>
          </a:prstGeom>
          <a:solidFill>
            <a:srgbClr val="EC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687568"/>
            <a:ext cx="2560320" cy="457200"/>
          </a:xfrm>
          <a:prstGeom prst="rect">
            <a:avLst/>
          </a:prstGeom>
          <a:noFill/>
        </p:spPr>
        <p:txBody>
          <a:bodyPr wrap="square" lIns="0" rIns="0" tIns="0" bIns="0" anchor="t">
            <a:spAutoFit/>
          </a:bodyPr>
          <a:lstStyle/>
          <a:p>
            <a:pPr algn="l">
              <a:lnSpc>
                <a:spcPct val="110000"/>
              </a:lnSpc>
              <a:spcBef>
                <a:spcPts val="0"/>
              </a:spcBef>
              <a:spcAft>
                <a:spcPts val="300"/>
              </a:spcAft>
            </a:pPr>
            <a:r>
              <a:rPr sz="1350" b="0">
                <a:solidFill>
                  <a:srgbClr val="6D3FB0"/>
                </a:solidFill>
                <a:latin typeface="Arial"/>
              </a:rPr>
              <a:t>Local matching requires no API key.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saved-job">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a:lnSpc>
                <a:spcPct val="110000"/>
              </a:lnSpc>
              <a:spcBef>
                <a:spcPts val="0"/>
              </a:spcBef>
              <a:spcAft>
                <a:spcPts val="300"/>
              </a:spcAft>
            </a:pPr>
            <a:r>
              <a:rPr sz="1000" b="1">
                <a:solidFill>
                  <a:srgbClr val="6D3FB0"/>
                </a:solidFill>
                <a:latin typeface="Arial"/>
              </a:rPr>
              <a:t>QUMAA</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l">
              <a:lnSpc>
                <a:spcPct val="110000"/>
              </a:lnSpc>
              <a:spcBef>
                <a:spcPts val="0"/>
              </a:spcBef>
              <a:spcAft>
                <a:spcPts val="300"/>
              </a:spcAft>
            </a:pPr>
            <a:r>
              <a:rPr sz="3000" b="1">
                <a:solidFill>
                  <a:srgbClr val="2B2733"/>
                </a:solidFill>
                <a:latin typeface="Arial"/>
              </a:rPr>
              <a:t>Creating a saved job</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l">
              <a:lnSpc>
                <a:spcPct val="110000"/>
              </a:lnSpc>
              <a:spcBef>
                <a:spcPts val="0"/>
              </a:spcBef>
              <a:spcAft>
                <a:spcPts val="300"/>
              </a:spcAft>
            </a:pPr>
            <a:r>
              <a:rPr sz="1450" b="0">
                <a:solidFill>
                  <a:srgbClr val="716B7B"/>
                </a:solidFill>
                <a:latin typeface="Arial"/>
              </a:rPr>
              <a:t>Use a saved job for an assignment that requires ongoing records.</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a:lnSpc>
                <a:spcPct val="110000"/>
              </a:lnSpc>
              <a:spcBef>
                <a:spcPts val="0"/>
              </a:spcBef>
              <a:spcAft>
                <a:spcPts val="300"/>
              </a:spcAft>
            </a:pPr>
            <a:r>
              <a:rPr sz="919" b="0">
                <a:solidFill>
                  <a:srgbClr val="716B7B"/>
                </a:solidFill>
                <a:latin typeface="Arial"/>
              </a:rPr>
              <a:t>Actual application · Fictional demo data</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a:lnSpc>
                <a:spcPct val="110000"/>
              </a:lnSpc>
              <a:spcBef>
                <a:spcPts val="0"/>
              </a:spcBef>
              <a:spcAft>
                <a:spcPts val="300"/>
              </a:spcAft>
            </a:pPr>
            <a:r>
              <a:rPr sz="919" b="0">
                <a:solidFill>
                  <a:srgbClr val="716B7B"/>
                </a:solidFill>
                <a:latin typeface="Arial"/>
              </a:rPr>
              <a:t>Qumaa v0.1.0-beta.2   /   06</a:t>
            </a:r>
          </a:p>
        </p:txBody>
      </p:sp>
      <p:sp>
        <p:nvSpPr>
          <p:cNvPr id="9" name="Oval 8"/>
          <p:cNvSpPr/>
          <p:nvPr/>
        </p:nvSpPr>
        <p:spPr>
          <a:xfrm>
            <a:off x="576072" y="1787651"/>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1</a:t>
            </a:r>
          </a:p>
        </p:txBody>
      </p:sp>
      <p:sp>
        <p:nvSpPr>
          <p:cNvPr id="10" name="TextBox 9"/>
          <p:cNvSpPr txBox="1"/>
          <p:nvPr/>
        </p:nvSpPr>
        <p:spPr>
          <a:xfrm>
            <a:off x="1005840" y="176479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Select New job</a:t>
            </a:r>
          </a:p>
        </p:txBody>
      </p:sp>
      <p:sp>
        <p:nvSpPr>
          <p:cNvPr id="11" name="TextBox 10"/>
          <p:cNvSpPr txBox="1"/>
          <p:nvPr/>
        </p:nvSpPr>
        <p:spPr>
          <a:xfrm>
            <a:off x="1005840" y="235000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Open Jobs and choose + New job.</a:t>
            </a:r>
          </a:p>
        </p:txBody>
      </p:sp>
      <p:sp>
        <p:nvSpPr>
          <p:cNvPr id="12" name="Oval 11"/>
          <p:cNvSpPr/>
          <p:nvPr/>
        </p:nvSpPr>
        <p:spPr>
          <a:xfrm>
            <a:off x="576072" y="302209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2</a:t>
            </a:r>
          </a:p>
        </p:txBody>
      </p:sp>
      <p:sp>
        <p:nvSpPr>
          <p:cNvPr id="13" name="TextBox 12"/>
          <p:cNvSpPr txBox="1"/>
          <p:nvPr/>
        </p:nvSpPr>
        <p:spPr>
          <a:xfrm>
            <a:off x="1005840" y="299923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Enter the posting</a:t>
            </a:r>
          </a:p>
        </p:txBody>
      </p:sp>
      <p:sp>
        <p:nvSpPr>
          <p:cNvPr id="14" name="TextBox 13"/>
          <p:cNvSpPr txBox="1"/>
          <p:nvPr/>
        </p:nvSpPr>
        <p:spPr>
          <a:xfrm>
            <a:off x="1005840" y="358444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Add the role, requirements, and qualifications.</a:t>
            </a:r>
          </a:p>
        </p:txBody>
      </p:sp>
      <p:sp>
        <p:nvSpPr>
          <p:cNvPr id="15" name="Oval 14"/>
          <p:cNvSpPr/>
          <p:nvPr/>
        </p:nvSpPr>
        <p:spPr>
          <a:xfrm>
            <a:off x="576072" y="425653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3</a:t>
            </a:r>
          </a:p>
        </p:txBody>
      </p:sp>
      <p:sp>
        <p:nvSpPr>
          <p:cNvPr id="16" name="TextBox 15"/>
          <p:cNvSpPr txBox="1"/>
          <p:nvPr/>
        </p:nvSpPr>
        <p:spPr>
          <a:xfrm>
            <a:off x="1005840" y="423367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Save the job</a:t>
            </a:r>
          </a:p>
        </p:txBody>
      </p:sp>
      <p:sp>
        <p:nvSpPr>
          <p:cNvPr id="17" name="TextBox 16"/>
          <p:cNvSpPr txBox="1"/>
          <p:nvPr/>
        </p:nvSpPr>
        <p:spPr>
          <a:xfrm>
            <a:off x="1005840" y="481888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The new job starts as Open with a timestamp.</a:t>
            </a:r>
          </a:p>
        </p:txBody>
      </p:sp>
      <p:sp>
        <p:nvSpPr>
          <p:cNvPr id="18" name="Rectangle 17"/>
          <p:cNvSpPr/>
          <p:nvPr/>
        </p:nvSpPr>
        <p:spPr>
          <a:xfrm>
            <a:off x="3694176" y="1682496"/>
            <a:ext cx="7964424" cy="4535424"/>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03-job-editor.png" descr="03-job-editor.png"/>
          <p:cNvPicPr>
            <a:picLocks noChangeAspect="1"/>
          </p:cNvPicPr>
          <p:nvPr/>
        </p:nvPicPr>
        <p:blipFill>
          <a:blip r:embed="rId3"/>
          <a:srcRect/>
          <a:stretch>
            <a:fillRect/>
          </a:stretch>
        </p:blipFill>
        <p:spPr>
          <a:xfrm>
            <a:off x="3758184" y="2245993"/>
            <a:ext cx="7836408" cy="3408428"/>
          </a:xfrm>
          <a:prstGeom prst="rect">
            <a:avLst/>
          </a:prstGeom>
        </p:spPr>
      </p:pic>
      <p:sp>
        <p:nvSpPr>
          <p:cNvPr id="20" name="Rounded Rectangle 19"/>
          <p:cNvSpPr/>
          <p:nvPr/>
        </p:nvSpPr>
        <p:spPr>
          <a:xfrm>
            <a:off x="585216" y="5596128"/>
            <a:ext cx="2816352" cy="585216"/>
          </a:xfrm>
          <a:prstGeom prst="roundRect">
            <a:avLst>
              <a:gd name="adj" fmla="val 12000"/>
            </a:avLst>
          </a:prstGeom>
          <a:solidFill>
            <a:srgbClr val="EC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687568"/>
            <a:ext cx="2560320" cy="457200"/>
          </a:xfrm>
          <a:prstGeom prst="rect">
            <a:avLst/>
          </a:prstGeom>
          <a:noFill/>
        </p:spPr>
        <p:txBody>
          <a:bodyPr wrap="square" lIns="0" rIns="0" tIns="0" bIns="0" anchor="t">
            <a:spAutoFit/>
          </a:bodyPr>
          <a:lstStyle/>
          <a:p>
            <a:pPr algn="l">
              <a:lnSpc>
                <a:spcPct val="110000"/>
              </a:lnSpc>
              <a:spcBef>
                <a:spcPts val="0"/>
              </a:spcBef>
              <a:spcAft>
                <a:spcPts val="300"/>
              </a:spcAft>
            </a:pPr>
            <a:r>
              <a:rPr sz="1350" b="0">
                <a:solidFill>
                  <a:srgbClr val="6D3FB0"/>
                </a:solidFill>
                <a:latin typeface="Arial"/>
              </a:rPr>
              <a:t>Status changes use the Change status control.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express-search">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a:lnSpc>
                <a:spcPct val="110000"/>
              </a:lnSpc>
              <a:spcBef>
                <a:spcPts val="0"/>
              </a:spcBef>
              <a:spcAft>
                <a:spcPts val="300"/>
              </a:spcAft>
            </a:pPr>
            <a:r>
              <a:rPr sz="1000" b="1">
                <a:solidFill>
                  <a:srgbClr val="6D3FB0"/>
                </a:solidFill>
                <a:latin typeface="Arial"/>
              </a:rPr>
              <a:t>QUMAA</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l">
              <a:lnSpc>
                <a:spcPct val="110000"/>
              </a:lnSpc>
              <a:spcBef>
                <a:spcPts val="0"/>
              </a:spcBef>
              <a:spcAft>
                <a:spcPts val="300"/>
              </a:spcAft>
            </a:pPr>
            <a:r>
              <a:rPr sz="3000" b="1">
                <a:solidFill>
                  <a:srgbClr val="2B2733"/>
                </a:solidFill>
                <a:latin typeface="Arial"/>
              </a:rPr>
              <a:t>Express search</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l">
              <a:lnSpc>
                <a:spcPct val="110000"/>
              </a:lnSpc>
              <a:spcBef>
                <a:spcPts val="0"/>
              </a:spcBef>
              <a:spcAft>
                <a:spcPts val="300"/>
              </a:spcAft>
            </a:pPr>
            <a:r>
              <a:rPr sz="1450" b="0">
                <a:solidFill>
                  <a:srgbClr val="716B7B"/>
                </a:solidFill>
                <a:latin typeface="Arial"/>
              </a:rPr>
              <a:t>Paste a job and its requirements for a temporary search of the CV library.</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a:lnSpc>
                <a:spcPct val="110000"/>
              </a:lnSpc>
              <a:spcBef>
                <a:spcPts val="0"/>
              </a:spcBef>
              <a:spcAft>
                <a:spcPts val="300"/>
              </a:spcAft>
            </a:pPr>
            <a:r>
              <a:rPr sz="919" b="0">
                <a:solidFill>
                  <a:srgbClr val="716B7B"/>
                </a:solidFill>
                <a:latin typeface="Arial"/>
              </a:rPr>
              <a:t>Actual application · Fictional demo data</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a:lnSpc>
                <a:spcPct val="110000"/>
              </a:lnSpc>
              <a:spcBef>
                <a:spcPts val="0"/>
              </a:spcBef>
              <a:spcAft>
                <a:spcPts val="300"/>
              </a:spcAft>
            </a:pPr>
            <a:r>
              <a:rPr sz="919" b="0">
                <a:solidFill>
                  <a:srgbClr val="716B7B"/>
                </a:solidFill>
                <a:latin typeface="Arial"/>
              </a:rPr>
              <a:t>Qumaa v0.1.0-beta.2   /   07</a:t>
            </a:r>
          </a:p>
        </p:txBody>
      </p:sp>
      <p:sp>
        <p:nvSpPr>
          <p:cNvPr id="9" name="Oval 8"/>
          <p:cNvSpPr/>
          <p:nvPr/>
        </p:nvSpPr>
        <p:spPr>
          <a:xfrm>
            <a:off x="576072" y="1787651"/>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1</a:t>
            </a:r>
          </a:p>
        </p:txBody>
      </p:sp>
      <p:sp>
        <p:nvSpPr>
          <p:cNvPr id="10" name="TextBox 9"/>
          <p:cNvSpPr txBox="1"/>
          <p:nvPr/>
        </p:nvSpPr>
        <p:spPr>
          <a:xfrm>
            <a:off x="1005840" y="176479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Open Express search</a:t>
            </a:r>
          </a:p>
        </p:txBody>
      </p:sp>
      <p:sp>
        <p:nvSpPr>
          <p:cNvPr id="11" name="TextBox 10"/>
          <p:cNvSpPr txBox="1"/>
          <p:nvPr/>
        </p:nvSpPr>
        <p:spPr>
          <a:xfrm>
            <a:off x="1005840" y="235000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In Jobs, use the button beside + New job.</a:t>
            </a:r>
          </a:p>
        </p:txBody>
      </p:sp>
      <p:sp>
        <p:nvSpPr>
          <p:cNvPr id="12" name="Oval 11"/>
          <p:cNvSpPr/>
          <p:nvPr/>
        </p:nvSpPr>
        <p:spPr>
          <a:xfrm>
            <a:off x="576072" y="302209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2</a:t>
            </a:r>
          </a:p>
        </p:txBody>
      </p:sp>
      <p:sp>
        <p:nvSpPr>
          <p:cNvPr id="13" name="TextBox 12"/>
          <p:cNvSpPr txBox="1"/>
          <p:nvPr/>
        </p:nvSpPr>
        <p:spPr>
          <a:xfrm>
            <a:off x="1005840" y="299923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Paste the details</a:t>
            </a:r>
          </a:p>
        </p:txBody>
      </p:sp>
      <p:sp>
        <p:nvSpPr>
          <p:cNvPr id="14" name="TextBox 13"/>
          <p:cNvSpPr txBox="1"/>
          <p:nvPr/>
        </p:nvSpPr>
        <p:spPr>
          <a:xfrm>
            <a:off x="1005840" y="358444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Enter a description and requirements; find matches.</a:t>
            </a:r>
          </a:p>
        </p:txBody>
      </p:sp>
      <p:sp>
        <p:nvSpPr>
          <p:cNvPr id="15" name="Oval 14"/>
          <p:cNvSpPr/>
          <p:nvPr/>
        </p:nvSpPr>
        <p:spPr>
          <a:xfrm>
            <a:off x="576072" y="425653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3</a:t>
            </a:r>
          </a:p>
        </p:txBody>
      </p:sp>
      <p:sp>
        <p:nvSpPr>
          <p:cNvPr id="16" name="TextBox 15"/>
          <p:cNvSpPr txBox="1"/>
          <p:nvPr/>
        </p:nvSpPr>
        <p:spPr>
          <a:xfrm>
            <a:off x="1005840" y="423367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Review the results</a:t>
            </a:r>
          </a:p>
        </p:txBody>
      </p:sp>
      <p:sp>
        <p:nvSpPr>
          <p:cNvPr id="17" name="TextBox 16"/>
          <p:cNvSpPr txBox="1"/>
          <p:nvPr/>
        </p:nvSpPr>
        <p:spPr>
          <a:xfrm>
            <a:off x="1005840" y="481888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Discard the session or choose Save as job.</a:t>
            </a:r>
          </a:p>
        </p:txBody>
      </p:sp>
      <p:sp>
        <p:nvSpPr>
          <p:cNvPr id="18" name="Rectangle 17"/>
          <p:cNvSpPr/>
          <p:nvPr/>
        </p:nvSpPr>
        <p:spPr>
          <a:xfrm>
            <a:off x="3703320" y="1801368"/>
            <a:ext cx="7918704" cy="4361688"/>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creenshot-caption:13-express-form.png"/>
          <p:cNvSpPr txBox="1"/>
          <p:nvPr/>
        </p:nvSpPr>
        <p:spPr>
          <a:xfrm>
            <a:off x="3749039" y="1554480"/>
            <a:ext cx="7827264" cy="210312"/>
          </a:xfrm>
          <a:prstGeom prst="rect">
            <a:avLst/>
          </a:prstGeom>
          <a:noFill/>
        </p:spPr>
        <p:txBody>
          <a:bodyPr wrap="square" lIns="0" rIns="0" tIns="0" bIns="0" anchor="t">
            <a:spAutoFit/>
          </a:bodyPr>
          <a:lstStyle/>
          <a:p>
            <a:pPr algn="l">
              <a:lnSpc>
                <a:spcPct val="110000"/>
              </a:lnSpc>
              <a:spcBef>
                <a:spcPts val="0"/>
              </a:spcBef>
              <a:spcAft>
                <a:spcPts val="300"/>
              </a:spcAft>
            </a:pPr>
            <a:r>
              <a:rPr sz="1019" b="0">
                <a:solidFill>
                  <a:srgbClr val="716B7B"/>
                </a:solidFill>
                <a:latin typeface="Arial"/>
              </a:rPr>
              <a:t>Temporary search form</a:t>
            </a:r>
          </a:p>
        </p:txBody>
      </p:sp>
      <p:pic>
        <p:nvPicPr>
          <p:cNvPr id="20" name="screenshot:13-express-form.png" descr="13-express-form.png"/>
          <p:cNvPicPr>
            <a:picLocks noChangeAspect="1"/>
          </p:cNvPicPr>
          <p:nvPr/>
        </p:nvPicPr>
        <p:blipFill>
          <a:blip r:embed="rId3"/>
          <a:srcRect/>
          <a:stretch>
            <a:fillRect/>
          </a:stretch>
        </p:blipFill>
        <p:spPr>
          <a:xfrm>
            <a:off x="3767328" y="2022156"/>
            <a:ext cx="7790688" cy="3920110"/>
          </a:xfrm>
          <a:prstGeom prst="rect">
            <a:avLst/>
          </a:prstGeom>
        </p:spPr>
      </p:pic>
      <p:sp>
        <p:nvSpPr>
          <p:cNvPr id="21" name="Rounded Rectangle 20"/>
          <p:cNvSpPr/>
          <p:nvPr/>
        </p:nvSpPr>
        <p:spPr>
          <a:xfrm>
            <a:off x="585216" y="5596128"/>
            <a:ext cx="2816352" cy="585216"/>
          </a:xfrm>
          <a:prstGeom prst="roundRect">
            <a:avLst>
              <a:gd name="adj" fmla="val 12000"/>
            </a:avLst>
          </a:prstGeom>
          <a:solidFill>
            <a:srgbClr val="EC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5687568"/>
            <a:ext cx="2560320" cy="457200"/>
          </a:xfrm>
          <a:prstGeom prst="rect">
            <a:avLst/>
          </a:prstGeom>
          <a:noFill/>
        </p:spPr>
        <p:txBody>
          <a:bodyPr wrap="square" lIns="0" rIns="0" tIns="0" bIns="0" anchor="t">
            <a:spAutoFit/>
          </a:bodyPr>
          <a:lstStyle/>
          <a:p>
            <a:pPr algn="l">
              <a:lnSpc>
                <a:spcPct val="110000"/>
              </a:lnSpc>
              <a:spcBef>
                <a:spcPts val="0"/>
              </a:spcBef>
              <a:spcAft>
                <a:spcPts val="300"/>
              </a:spcAft>
            </a:pPr>
            <a:r>
              <a:rPr sz="1350" b="0">
                <a:solidFill>
                  <a:srgbClr val="6D3FB0"/>
                </a:solidFill>
                <a:latin typeface="Arial"/>
              </a:rPr>
              <a:t>Nothing is saved unless you choose Save as job.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criteria">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a:lnSpc>
                <a:spcPct val="110000"/>
              </a:lnSpc>
              <a:spcBef>
                <a:spcPts val="0"/>
              </a:spcBef>
              <a:spcAft>
                <a:spcPts val="300"/>
              </a:spcAft>
            </a:pPr>
            <a:r>
              <a:rPr sz="1000" b="1">
                <a:solidFill>
                  <a:srgbClr val="6D3FB0"/>
                </a:solidFill>
                <a:latin typeface="Arial"/>
              </a:rPr>
              <a:t>QUMAA</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l">
              <a:lnSpc>
                <a:spcPct val="110000"/>
              </a:lnSpc>
              <a:spcBef>
                <a:spcPts val="0"/>
              </a:spcBef>
              <a:spcAft>
                <a:spcPts val="300"/>
              </a:spcAft>
            </a:pPr>
            <a:r>
              <a:rPr sz="3000" b="1">
                <a:solidFill>
                  <a:srgbClr val="2B2733"/>
                </a:solidFill>
                <a:latin typeface="Arial"/>
              </a:rPr>
              <a:t>Defining assessment criteria</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l">
              <a:lnSpc>
                <a:spcPct val="110000"/>
              </a:lnSpc>
              <a:spcBef>
                <a:spcPts val="0"/>
              </a:spcBef>
              <a:spcAft>
                <a:spcPts val="300"/>
              </a:spcAft>
            </a:pPr>
            <a:r>
              <a:rPr sz="1450" b="0">
                <a:solidFill>
                  <a:srgbClr val="716B7B"/>
                </a:solidFill>
                <a:latin typeface="Arial"/>
              </a:rPr>
              <a:t>Separate essential requirements from preferred qualifications.</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a:lnSpc>
                <a:spcPct val="110000"/>
              </a:lnSpc>
              <a:spcBef>
                <a:spcPts val="0"/>
              </a:spcBef>
              <a:spcAft>
                <a:spcPts val="300"/>
              </a:spcAft>
            </a:pPr>
            <a:r>
              <a:rPr sz="919" b="0">
                <a:solidFill>
                  <a:srgbClr val="716B7B"/>
                </a:solidFill>
                <a:latin typeface="Arial"/>
              </a:rPr>
              <a:t>Actual application · Fictional demo data</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a:lnSpc>
                <a:spcPct val="110000"/>
              </a:lnSpc>
              <a:spcBef>
                <a:spcPts val="0"/>
              </a:spcBef>
              <a:spcAft>
                <a:spcPts val="300"/>
              </a:spcAft>
            </a:pPr>
            <a:r>
              <a:rPr sz="919" b="0">
                <a:solidFill>
                  <a:srgbClr val="716B7B"/>
                </a:solidFill>
                <a:latin typeface="Arial"/>
              </a:rPr>
              <a:t>Qumaa v0.1.0-beta.2   /   08</a:t>
            </a:r>
          </a:p>
        </p:txBody>
      </p:sp>
      <p:sp>
        <p:nvSpPr>
          <p:cNvPr id="9" name="Oval 8"/>
          <p:cNvSpPr/>
          <p:nvPr/>
        </p:nvSpPr>
        <p:spPr>
          <a:xfrm>
            <a:off x="576072" y="1787651"/>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1</a:t>
            </a:r>
          </a:p>
        </p:txBody>
      </p:sp>
      <p:sp>
        <p:nvSpPr>
          <p:cNvPr id="10" name="TextBox 9"/>
          <p:cNvSpPr txBox="1"/>
          <p:nvPr/>
        </p:nvSpPr>
        <p:spPr>
          <a:xfrm>
            <a:off x="1005840" y="176479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Create criteria</a:t>
            </a:r>
          </a:p>
        </p:txBody>
      </p:sp>
      <p:sp>
        <p:nvSpPr>
          <p:cNvPr id="11" name="TextBox 10"/>
          <p:cNvSpPr txBox="1"/>
          <p:nvPr/>
        </p:nvSpPr>
        <p:spPr>
          <a:xfrm>
            <a:off x="1005840" y="235000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Use requirement lines or select Add criterion.</a:t>
            </a:r>
          </a:p>
        </p:txBody>
      </p:sp>
      <p:sp>
        <p:nvSpPr>
          <p:cNvPr id="12" name="Oval 11"/>
          <p:cNvSpPr/>
          <p:nvPr/>
        </p:nvSpPr>
        <p:spPr>
          <a:xfrm>
            <a:off x="576072" y="302209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2</a:t>
            </a:r>
          </a:p>
        </p:txBody>
      </p:sp>
      <p:sp>
        <p:nvSpPr>
          <p:cNvPr id="13" name="TextBox 12"/>
          <p:cNvSpPr txBox="1"/>
          <p:nvPr/>
        </p:nvSpPr>
        <p:spPr>
          <a:xfrm>
            <a:off x="1005840" y="299923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Set importance</a:t>
            </a:r>
          </a:p>
        </p:txBody>
      </p:sp>
      <p:sp>
        <p:nvSpPr>
          <p:cNvPr id="14" name="TextBox 13"/>
          <p:cNvSpPr txBox="1"/>
          <p:nvPr/>
        </p:nvSpPr>
        <p:spPr>
          <a:xfrm>
            <a:off x="1005840" y="358444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Choose Required or Preferred for each item.</a:t>
            </a:r>
          </a:p>
        </p:txBody>
      </p:sp>
      <p:sp>
        <p:nvSpPr>
          <p:cNvPr id="15" name="Oval 14"/>
          <p:cNvSpPr/>
          <p:nvPr/>
        </p:nvSpPr>
        <p:spPr>
          <a:xfrm>
            <a:off x="576072" y="425653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3</a:t>
            </a:r>
          </a:p>
        </p:txBody>
      </p:sp>
      <p:sp>
        <p:nvSpPr>
          <p:cNvPr id="16" name="TextBox 15"/>
          <p:cNvSpPr txBox="1"/>
          <p:nvPr/>
        </p:nvSpPr>
        <p:spPr>
          <a:xfrm>
            <a:off x="1005840" y="423367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Use clear evidence</a:t>
            </a:r>
          </a:p>
        </p:txBody>
      </p:sp>
      <p:sp>
        <p:nvSpPr>
          <p:cNvPr id="17" name="TextBox 16"/>
          <p:cNvSpPr txBox="1"/>
          <p:nvPr/>
        </p:nvSpPr>
        <p:spPr>
          <a:xfrm>
            <a:off x="1005840" y="481888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Example: led training across restaurant sites.</a:t>
            </a:r>
          </a:p>
        </p:txBody>
      </p:sp>
      <p:sp>
        <p:nvSpPr>
          <p:cNvPr id="18" name="Rectangle 17"/>
          <p:cNvSpPr/>
          <p:nvPr/>
        </p:nvSpPr>
        <p:spPr>
          <a:xfrm>
            <a:off x="3694176" y="1682496"/>
            <a:ext cx="7964424" cy="4535424"/>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04-criteria.png" descr="04-criteria.png"/>
          <p:cNvPicPr>
            <a:picLocks noChangeAspect="1"/>
          </p:cNvPicPr>
          <p:nvPr/>
        </p:nvPicPr>
        <p:blipFill>
          <a:blip r:embed="rId3"/>
          <a:srcRect/>
          <a:stretch>
            <a:fillRect/>
          </a:stretch>
        </p:blipFill>
        <p:spPr>
          <a:xfrm>
            <a:off x="3758184" y="2748327"/>
            <a:ext cx="7836408" cy="2403760"/>
          </a:xfrm>
          <a:prstGeom prst="rect">
            <a:avLst/>
          </a:prstGeom>
        </p:spPr>
      </p:pic>
      <p:sp>
        <p:nvSpPr>
          <p:cNvPr id="20" name="Rounded Rectangle 19"/>
          <p:cNvSpPr/>
          <p:nvPr/>
        </p:nvSpPr>
        <p:spPr>
          <a:xfrm>
            <a:off x="585216" y="5596128"/>
            <a:ext cx="2816352" cy="585216"/>
          </a:xfrm>
          <a:prstGeom prst="roundRect">
            <a:avLst>
              <a:gd name="adj" fmla="val 12000"/>
            </a:avLst>
          </a:prstGeom>
          <a:solidFill>
            <a:srgbClr val="EC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687568"/>
            <a:ext cx="2560320" cy="457200"/>
          </a:xfrm>
          <a:prstGeom prst="rect">
            <a:avLst/>
          </a:prstGeom>
          <a:noFill/>
        </p:spPr>
        <p:txBody>
          <a:bodyPr wrap="square" lIns="0" rIns="0" tIns="0" bIns="0" anchor="t">
            <a:spAutoFit/>
          </a:bodyPr>
          <a:lstStyle/>
          <a:p>
            <a:pPr algn="l">
              <a:lnSpc>
                <a:spcPct val="110000"/>
              </a:lnSpc>
              <a:spcBef>
                <a:spcPts val="0"/>
              </a:spcBef>
              <a:spcAft>
                <a:spcPts val="300"/>
              </a:spcAft>
            </a:pPr>
            <a:r>
              <a:rPr sz="1350" b="0">
                <a:solidFill>
                  <a:srgbClr val="6D3FB0"/>
                </a:solidFill>
                <a:latin typeface="Arial"/>
              </a:rPr>
              <a:t>Required criteria do not automatically reject candidates.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matches">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a:lnSpc>
                <a:spcPct val="110000"/>
              </a:lnSpc>
              <a:spcBef>
                <a:spcPts val="0"/>
              </a:spcBef>
              <a:spcAft>
                <a:spcPts val="300"/>
              </a:spcAft>
            </a:pPr>
            <a:r>
              <a:rPr sz="1000" b="1">
                <a:solidFill>
                  <a:srgbClr val="6D3FB0"/>
                </a:solidFill>
                <a:latin typeface="Arial"/>
              </a:rPr>
              <a:t>QUMAA</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l">
              <a:lnSpc>
                <a:spcPct val="110000"/>
              </a:lnSpc>
              <a:spcBef>
                <a:spcPts val="0"/>
              </a:spcBef>
              <a:spcAft>
                <a:spcPts val="300"/>
              </a:spcAft>
            </a:pPr>
            <a:r>
              <a:rPr sz="3000" b="1">
                <a:solidFill>
                  <a:srgbClr val="2B2733"/>
                </a:solidFill>
                <a:latin typeface="Arial"/>
              </a:rPr>
              <a:t>Finding and filtering candidates</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l">
              <a:lnSpc>
                <a:spcPct val="110000"/>
              </a:lnSpc>
              <a:spcBef>
                <a:spcPts val="0"/>
              </a:spcBef>
              <a:spcAft>
                <a:spcPts val="300"/>
              </a:spcAft>
            </a:pPr>
            <a:r>
              <a:rPr sz="1450" b="0">
                <a:solidFill>
                  <a:srgbClr val="716B7B"/>
                </a:solidFill>
                <a:latin typeface="Arial"/>
              </a:rPr>
              <a:t>Use the posting to search, then narrow the displayed results.</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a:lnSpc>
                <a:spcPct val="110000"/>
              </a:lnSpc>
              <a:spcBef>
                <a:spcPts val="0"/>
              </a:spcBef>
              <a:spcAft>
                <a:spcPts val="300"/>
              </a:spcAft>
            </a:pPr>
            <a:r>
              <a:rPr sz="919" b="0">
                <a:solidFill>
                  <a:srgbClr val="716B7B"/>
                </a:solidFill>
                <a:latin typeface="Arial"/>
              </a:rPr>
              <a:t>Actual application · Fictional demo data</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a:lnSpc>
                <a:spcPct val="110000"/>
              </a:lnSpc>
              <a:spcBef>
                <a:spcPts val="0"/>
              </a:spcBef>
              <a:spcAft>
                <a:spcPts val="300"/>
              </a:spcAft>
            </a:pPr>
            <a:r>
              <a:rPr sz="919" b="0">
                <a:solidFill>
                  <a:srgbClr val="716B7B"/>
                </a:solidFill>
                <a:latin typeface="Arial"/>
              </a:rPr>
              <a:t>Qumaa v0.1.0-beta.2   /   09</a:t>
            </a:r>
          </a:p>
        </p:txBody>
      </p:sp>
      <p:sp>
        <p:nvSpPr>
          <p:cNvPr id="9" name="Oval 8"/>
          <p:cNvSpPr/>
          <p:nvPr/>
        </p:nvSpPr>
        <p:spPr>
          <a:xfrm>
            <a:off x="576072" y="1787651"/>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1</a:t>
            </a:r>
          </a:p>
        </p:txBody>
      </p:sp>
      <p:sp>
        <p:nvSpPr>
          <p:cNvPr id="10" name="TextBox 9"/>
          <p:cNvSpPr txBox="1"/>
          <p:nvPr/>
        </p:nvSpPr>
        <p:spPr>
          <a:xfrm>
            <a:off x="1005840" y="176479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Find matches</a:t>
            </a:r>
          </a:p>
        </p:txBody>
      </p:sp>
      <p:sp>
        <p:nvSpPr>
          <p:cNvPr id="11" name="TextBox 10"/>
          <p:cNvSpPr txBox="1"/>
          <p:nvPr/>
        </p:nvSpPr>
        <p:spPr>
          <a:xfrm>
            <a:off x="1005840" y="235000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Search from the selected job.</a:t>
            </a:r>
          </a:p>
        </p:txBody>
      </p:sp>
      <p:sp>
        <p:nvSpPr>
          <p:cNvPr id="12" name="Oval 11"/>
          <p:cNvSpPr/>
          <p:nvPr/>
        </p:nvSpPr>
        <p:spPr>
          <a:xfrm>
            <a:off x="576072" y="302209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2</a:t>
            </a:r>
          </a:p>
        </p:txBody>
      </p:sp>
      <p:sp>
        <p:nvSpPr>
          <p:cNvPr id="13" name="TextBox 12"/>
          <p:cNvSpPr txBox="1"/>
          <p:nvPr/>
        </p:nvSpPr>
        <p:spPr>
          <a:xfrm>
            <a:off x="1005840" y="299923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Inspect the ranking</a:t>
            </a:r>
          </a:p>
        </p:txBody>
      </p:sp>
      <p:sp>
        <p:nvSpPr>
          <p:cNvPr id="14" name="TextBox 13"/>
          <p:cNvSpPr txBox="1"/>
          <p:nvPr/>
        </p:nvSpPr>
        <p:spPr>
          <a:xfrm>
            <a:off x="1005840" y="358444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Use scores to prioritize evidence review.</a:t>
            </a:r>
          </a:p>
        </p:txBody>
      </p:sp>
      <p:sp>
        <p:nvSpPr>
          <p:cNvPr id="15" name="Oval 14"/>
          <p:cNvSpPr/>
          <p:nvPr/>
        </p:nvSpPr>
        <p:spPr>
          <a:xfrm>
            <a:off x="576072" y="425653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3</a:t>
            </a:r>
          </a:p>
        </p:txBody>
      </p:sp>
      <p:sp>
        <p:nvSpPr>
          <p:cNvPr id="16" name="TextBox 15"/>
          <p:cNvSpPr txBox="1"/>
          <p:nvPr/>
        </p:nvSpPr>
        <p:spPr>
          <a:xfrm>
            <a:off x="1005840" y="423367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Apply filters</a:t>
            </a:r>
          </a:p>
        </p:txBody>
      </p:sp>
      <p:sp>
        <p:nvSpPr>
          <p:cNvPr id="17" name="TextBox 16"/>
          <p:cNvSpPr txBox="1"/>
          <p:nvPr/>
        </p:nvSpPr>
        <p:spPr>
          <a:xfrm>
            <a:off x="1005840" y="481888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Filter by location, skills, and more.</a:t>
            </a:r>
          </a:p>
        </p:txBody>
      </p:sp>
      <p:sp>
        <p:nvSpPr>
          <p:cNvPr id="18" name="Rectangle 17"/>
          <p:cNvSpPr/>
          <p:nvPr/>
        </p:nvSpPr>
        <p:spPr>
          <a:xfrm>
            <a:off x="3694176" y="1682496"/>
            <a:ext cx="7964424" cy="4535424"/>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05-filters.png" descr="05-filters.png"/>
          <p:cNvPicPr>
            <a:picLocks noChangeAspect="1"/>
          </p:cNvPicPr>
          <p:nvPr/>
        </p:nvPicPr>
        <p:blipFill>
          <a:blip r:embed="rId3"/>
          <a:srcRect/>
          <a:stretch>
            <a:fillRect/>
          </a:stretch>
        </p:blipFill>
        <p:spPr>
          <a:xfrm>
            <a:off x="4735444" y="1746504"/>
            <a:ext cx="5881886" cy="4407408"/>
          </a:xfrm>
          <a:prstGeom prst="rect">
            <a:avLst/>
          </a:prstGeom>
        </p:spPr>
      </p:pic>
      <p:sp>
        <p:nvSpPr>
          <p:cNvPr id="20" name="Rounded Rectangle 19"/>
          <p:cNvSpPr/>
          <p:nvPr/>
        </p:nvSpPr>
        <p:spPr>
          <a:xfrm>
            <a:off x="585216" y="5596128"/>
            <a:ext cx="2816352" cy="585216"/>
          </a:xfrm>
          <a:prstGeom prst="roundRect">
            <a:avLst>
              <a:gd name="adj" fmla="val 12000"/>
            </a:avLst>
          </a:prstGeom>
          <a:solidFill>
            <a:srgbClr val="EC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687568"/>
            <a:ext cx="2560320" cy="457200"/>
          </a:xfrm>
          <a:prstGeom prst="rect">
            <a:avLst/>
          </a:prstGeom>
          <a:noFill/>
        </p:spPr>
        <p:txBody>
          <a:bodyPr wrap="square" lIns="0" rIns="0" tIns="0" bIns="0" anchor="t">
            <a:spAutoFit/>
          </a:bodyPr>
          <a:lstStyle/>
          <a:p>
            <a:pPr algn="l">
              <a:lnSpc>
                <a:spcPct val="110000"/>
              </a:lnSpc>
              <a:spcBef>
                <a:spcPts val="0"/>
              </a:spcBef>
              <a:spcAft>
                <a:spcPts val="300"/>
              </a:spcAft>
            </a:pPr>
            <a:r>
              <a:rPr sz="1350" b="0">
                <a:solidFill>
                  <a:srgbClr val="6D3FB0"/>
                </a:solidFill>
                <a:latin typeface="Arial"/>
              </a:rPr>
              <a:t>Profile corrections are used by screening filters.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evidence">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a:lnSpc>
                <a:spcPct val="110000"/>
              </a:lnSpc>
              <a:spcBef>
                <a:spcPts val="0"/>
              </a:spcBef>
              <a:spcAft>
                <a:spcPts val="300"/>
              </a:spcAft>
            </a:pPr>
            <a:r>
              <a:rPr sz="1000" b="1">
                <a:solidFill>
                  <a:srgbClr val="6D3FB0"/>
                </a:solidFill>
                <a:latin typeface="Arial"/>
              </a:rPr>
              <a:t>QUMAA</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l">
              <a:lnSpc>
                <a:spcPct val="110000"/>
              </a:lnSpc>
              <a:spcBef>
                <a:spcPts val="0"/>
              </a:spcBef>
              <a:spcAft>
                <a:spcPts val="300"/>
              </a:spcAft>
            </a:pPr>
            <a:r>
              <a:rPr sz="3000" b="1">
                <a:solidFill>
                  <a:srgbClr val="2B2733"/>
                </a:solidFill>
                <a:latin typeface="Arial"/>
              </a:rPr>
              <a:t>Interpreting scores and evidence</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l">
              <a:lnSpc>
                <a:spcPct val="110000"/>
              </a:lnSpc>
              <a:spcBef>
                <a:spcPts val="0"/>
              </a:spcBef>
              <a:spcAft>
                <a:spcPts val="300"/>
              </a:spcAft>
            </a:pPr>
            <a:r>
              <a:rPr sz="1450" b="0">
                <a:solidFill>
                  <a:srgbClr val="716B7B"/>
                </a:solidFill>
                <a:latin typeface="Arial"/>
              </a:rPr>
              <a:t>Inspect the underlying CV passages before making an assessment.</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a:lnSpc>
                <a:spcPct val="110000"/>
              </a:lnSpc>
              <a:spcBef>
                <a:spcPts val="0"/>
              </a:spcBef>
              <a:spcAft>
                <a:spcPts val="300"/>
              </a:spcAft>
            </a:pPr>
            <a:r>
              <a:rPr sz="919" b="0">
                <a:solidFill>
                  <a:srgbClr val="716B7B"/>
                </a:solidFill>
                <a:latin typeface="Arial"/>
              </a:rPr>
              <a:t>Actual application · Fictional demo data</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a:lnSpc>
                <a:spcPct val="110000"/>
              </a:lnSpc>
              <a:spcBef>
                <a:spcPts val="0"/>
              </a:spcBef>
              <a:spcAft>
                <a:spcPts val="300"/>
              </a:spcAft>
            </a:pPr>
            <a:r>
              <a:rPr sz="919" b="0">
                <a:solidFill>
                  <a:srgbClr val="716B7B"/>
                </a:solidFill>
                <a:latin typeface="Arial"/>
              </a:rPr>
              <a:t>Qumaa v0.1.0-beta.2   /   10</a:t>
            </a:r>
          </a:p>
        </p:txBody>
      </p:sp>
      <p:sp>
        <p:nvSpPr>
          <p:cNvPr id="9" name="Oval 8"/>
          <p:cNvSpPr/>
          <p:nvPr/>
        </p:nvSpPr>
        <p:spPr>
          <a:xfrm>
            <a:off x="576072" y="1787651"/>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1</a:t>
            </a:r>
          </a:p>
        </p:txBody>
      </p:sp>
      <p:sp>
        <p:nvSpPr>
          <p:cNvPr id="10" name="TextBox 9"/>
          <p:cNvSpPr txBox="1"/>
          <p:nvPr/>
        </p:nvSpPr>
        <p:spPr>
          <a:xfrm>
            <a:off x="1005840" y="1764792"/>
            <a:ext cx="5148072" cy="585216"/>
          </a:xfrm>
          <a:prstGeom prst="rect">
            <a:avLst/>
          </a:prstGeom>
          <a:noFill/>
        </p:spPr>
        <p:txBody>
          <a:bodyPr wrap="square" lIns="0" rIns="0" tIns="0" bIns="0" anchor="t">
            <a:spAutoFit/>
          </a:bodyPr>
          <a:lstStyle/>
          <a:p>
            <a:pPr algn="l">
              <a:lnSpc>
                <a:spcPct val="110000"/>
              </a:lnSpc>
              <a:spcBef>
                <a:spcPts val="0"/>
              </a:spcBef>
              <a:spcAft>
                <a:spcPts val="300"/>
              </a:spcAft>
            </a:pPr>
            <a:r>
              <a:rPr sz="2100" b="1">
                <a:solidFill>
                  <a:srgbClr val="2B2733"/>
                </a:solidFill>
                <a:latin typeface="Arial"/>
              </a:rPr>
              <a:t>Open a candidate</a:t>
            </a:r>
          </a:p>
        </p:txBody>
      </p:sp>
      <p:sp>
        <p:nvSpPr>
          <p:cNvPr id="11" name="TextBox 10"/>
          <p:cNvSpPr txBox="1"/>
          <p:nvPr/>
        </p:nvSpPr>
        <p:spPr>
          <a:xfrm>
            <a:off x="1005840" y="2350008"/>
            <a:ext cx="5148072" cy="694944"/>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Select the candidate name in the results.</a:t>
            </a:r>
          </a:p>
        </p:txBody>
      </p:sp>
      <p:sp>
        <p:nvSpPr>
          <p:cNvPr id="12" name="Oval 11"/>
          <p:cNvSpPr/>
          <p:nvPr/>
        </p:nvSpPr>
        <p:spPr>
          <a:xfrm>
            <a:off x="576072" y="3031236"/>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2</a:t>
            </a:r>
          </a:p>
        </p:txBody>
      </p:sp>
      <p:sp>
        <p:nvSpPr>
          <p:cNvPr id="13" name="TextBox 12"/>
          <p:cNvSpPr txBox="1"/>
          <p:nvPr/>
        </p:nvSpPr>
        <p:spPr>
          <a:xfrm>
            <a:off x="1005840" y="3008376"/>
            <a:ext cx="5148072" cy="585216"/>
          </a:xfrm>
          <a:prstGeom prst="rect">
            <a:avLst/>
          </a:prstGeom>
          <a:noFill/>
        </p:spPr>
        <p:txBody>
          <a:bodyPr wrap="square" lIns="0" rIns="0" tIns="0" bIns="0" anchor="t">
            <a:spAutoFit/>
          </a:bodyPr>
          <a:lstStyle/>
          <a:p>
            <a:pPr algn="l">
              <a:lnSpc>
                <a:spcPct val="110000"/>
              </a:lnSpc>
              <a:spcBef>
                <a:spcPts val="0"/>
              </a:spcBef>
              <a:spcAft>
                <a:spcPts val="300"/>
              </a:spcAft>
            </a:pPr>
            <a:r>
              <a:rPr sz="2100" b="1">
                <a:solidFill>
                  <a:srgbClr val="2B2733"/>
                </a:solidFill>
                <a:latin typeface="Arial"/>
              </a:rPr>
              <a:t>Inspect the evidence</a:t>
            </a:r>
          </a:p>
        </p:txBody>
      </p:sp>
      <p:sp>
        <p:nvSpPr>
          <p:cNvPr id="14" name="TextBox 13"/>
          <p:cNvSpPr txBox="1"/>
          <p:nvPr/>
        </p:nvSpPr>
        <p:spPr>
          <a:xfrm>
            <a:off x="1005840" y="3593592"/>
            <a:ext cx="5148072" cy="694944"/>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Read Score breakdown, Matching passages, and CV text.</a:t>
            </a:r>
          </a:p>
        </p:txBody>
      </p:sp>
      <p:sp>
        <p:nvSpPr>
          <p:cNvPr id="15" name="Oval 14"/>
          <p:cNvSpPr/>
          <p:nvPr/>
        </p:nvSpPr>
        <p:spPr>
          <a:xfrm>
            <a:off x="576072" y="4274820"/>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3</a:t>
            </a:r>
          </a:p>
        </p:txBody>
      </p:sp>
      <p:sp>
        <p:nvSpPr>
          <p:cNvPr id="16" name="TextBox 15"/>
          <p:cNvSpPr txBox="1"/>
          <p:nvPr/>
        </p:nvSpPr>
        <p:spPr>
          <a:xfrm>
            <a:off x="1005840" y="4251960"/>
            <a:ext cx="5148072" cy="585216"/>
          </a:xfrm>
          <a:prstGeom prst="rect">
            <a:avLst/>
          </a:prstGeom>
          <a:noFill/>
        </p:spPr>
        <p:txBody>
          <a:bodyPr wrap="square" lIns="0" rIns="0" tIns="0" bIns="0" anchor="t">
            <a:spAutoFit/>
          </a:bodyPr>
          <a:lstStyle/>
          <a:p>
            <a:pPr algn="l">
              <a:lnSpc>
                <a:spcPct val="110000"/>
              </a:lnSpc>
              <a:spcBef>
                <a:spcPts val="0"/>
              </a:spcBef>
              <a:spcAft>
                <a:spcPts val="300"/>
              </a:spcAft>
            </a:pPr>
            <a:r>
              <a:rPr sz="2100" b="1">
                <a:solidFill>
                  <a:srgbClr val="2B2733"/>
                </a:solidFill>
                <a:latin typeface="Arial"/>
              </a:rPr>
              <a:t>Identify questions</a:t>
            </a:r>
          </a:p>
        </p:txBody>
      </p:sp>
      <p:sp>
        <p:nvSpPr>
          <p:cNvPr id="17" name="TextBox 16"/>
          <p:cNvSpPr txBox="1"/>
          <p:nvPr/>
        </p:nvSpPr>
        <p:spPr>
          <a:xfrm>
            <a:off x="1005840" y="4837176"/>
            <a:ext cx="5148072" cy="694944"/>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Record relevant gaps for screening or interview.</a:t>
            </a:r>
          </a:p>
        </p:txBody>
      </p:sp>
      <p:sp>
        <p:nvSpPr>
          <p:cNvPr id="18" name="Rectangle 17"/>
          <p:cNvSpPr/>
          <p:nvPr/>
        </p:nvSpPr>
        <p:spPr>
          <a:xfrm>
            <a:off x="6492240" y="1627632"/>
            <a:ext cx="5166360" cy="4590288"/>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06-evidence.png" descr="06-evidence.png"/>
          <p:cNvPicPr>
            <a:picLocks noChangeAspect="1"/>
          </p:cNvPicPr>
          <p:nvPr/>
        </p:nvPicPr>
        <p:blipFill>
          <a:blip r:embed="rId3"/>
          <a:srcRect/>
          <a:stretch>
            <a:fillRect/>
          </a:stretch>
        </p:blipFill>
        <p:spPr>
          <a:xfrm>
            <a:off x="6556248" y="1867013"/>
            <a:ext cx="5038344" cy="4111525"/>
          </a:xfrm>
          <a:prstGeom prst="rect">
            <a:avLst/>
          </a:prstGeom>
        </p:spPr>
      </p:pic>
      <p:sp>
        <p:nvSpPr>
          <p:cNvPr id="20" name="Rounded Rectangle 19"/>
          <p:cNvSpPr/>
          <p:nvPr/>
        </p:nvSpPr>
        <p:spPr>
          <a:xfrm>
            <a:off x="585216" y="5596128"/>
            <a:ext cx="5577840" cy="585216"/>
          </a:xfrm>
          <a:prstGeom prst="roundRect">
            <a:avLst>
              <a:gd name="adj" fmla="val 12000"/>
            </a:avLst>
          </a:prstGeom>
          <a:solidFill>
            <a:srgbClr val="EC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687568"/>
            <a:ext cx="5321807" cy="457200"/>
          </a:xfrm>
          <a:prstGeom prst="rect">
            <a:avLst/>
          </a:prstGeom>
          <a:noFill/>
        </p:spPr>
        <p:txBody>
          <a:bodyPr wrap="square" lIns="0" rIns="0" tIns="0" bIns="0" anchor="t">
            <a:spAutoFit/>
          </a:bodyPr>
          <a:lstStyle/>
          <a:p>
            <a:pPr algn="l">
              <a:lnSpc>
                <a:spcPct val="110000"/>
              </a:lnSpc>
              <a:spcBef>
                <a:spcPts val="0"/>
              </a:spcBef>
              <a:spcAft>
                <a:spcPts val="300"/>
              </a:spcAft>
            </a:pPr>
            <a:r>
              <a:rPr sz="1400" b="0">
                <a:solidFill>
                  <a:srgbClr val="6D3FB0"/>
                </a:solidFill>
                <a:latin typeface="Arial"/>
              </a:rPr>
              <a:t>A match score is a screening aid, not a hiring decision.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reviews">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a:lnSpc>
                <a:spcPct val="110000"/>
              </a:lnSpc>
              <a:spcBef>
                <a:spcPts val="0"/>
              </a:spcBef>
              <a:spcAft>
                <a:spcPts val="300"/>
              </a:spcAft>
            </a:pPr>
            <a:r>
              <a:rPr sz="1000" b="1">
                <a:solidFill>
                  <a:srgbClr val="6D3FB0"/>
                </a:solidFill>
                <a:latin typeface="Arial"/>
              </a:rPr>
              <a:t>QUMAA</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l">
              <a:lnSpc>
                <a:spcPct val="110000"/>
              </a:lnSpc>
              <a:spcBef>
                <a:spcPts val="0"/>
              </a:spcBef>
              <a:spcAft>
                <a:spcPts val="300"/>
              </a:spcAft>
            </a:pPr>
            <a:r>
              <a:rPr sz="3000" b="1">
                <a:solidFill>
                  <a:srgbClr val="2B2733"/>
                </a:solidFill>
                <a:latin typeface="Arial"/>
              </a:rPr>
              <a:t>Recording candidate reviews</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l">
              <a:lnSpc>
                <a:spcPct val="110000"/>
              </a:lnSpc>
              <a:spcBef>
                <a:spcPts val="0"/>
              </a:spcBef>
              <a:spcAft>
                <a:spcPts val="300"/>
              </a:spcAft>
            </a:pPr>
            <a:r>
              <a:rPr sz="1450" b="0">
                <a:solidFill>
                  <a:srgbClr val="716B7B"/>
                </a:solidFill>
                <a:latin typeface="Arial"/>
              </a:rPr>
              <a:t>Job-specific reviews preserve assessments and follow-up questions.</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a:lnSpc>
                <a:spcPct val="110000"/>
              </a:lnSpc>
              <a:spcBef>
                <a:spcPts val="0"/>
              </a:spcBef>
              <a:spcAft>
                <a:spcPts val="300"/>
              </a:spcAft>
            </a:pPr>
            <a:r>
              <a:rPr sz="919" b="0">
                <a:solidFill>
                  <a:srgbClr val="716B7B"/>
                </a:solidFill>
                <a:latin typeface="Arial"/>
              </a:rPr>
              <a:t>Actual application · Fictional demo data</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a:lnSpc>
                <a:spcPct val="110000"/>
              </a:lnSpc>
              <a:spcBef>
                <a:spcPts val="0"/>
              </a:spcBef>
              <a:spcAft>
                <a:spcPts val="300"/>
              </a:spcAft>
            </a:pPr>
            <a:r>
              <a:rPr sz="919" b="0">
                <a:solidFill>
                  <a:srgbClr val="716B7B"/>
                </a:solidFill>
                <a:latin typeface="Arial"/>
              </a:rPr>
              <a:t>Qumaa v0.1.0-beta.2   /   11</a:t>
            </a:r>
          </a:p>
        </p:txBody>
      </p:sp>
      <p:sp>
        <p:nvSpPr>
          <p:cNvPr id="9" name="Oval 8"/>
          <p:cNvSpPr/>
          <p:nvPr/>
        </p:nvSpPr>
        <p:spPr>
          <a:xfrm>
            <a:off x="576072" y="1787651"/>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1</a:t>
            </a:r>
          </a:p>
        </p:txBody>
      </p:sp>
      <p:sp>
        <p:nvSpPr>
          <p:cNvPr id="10" name="TextBox 9"/>
          <p:cNvSpPr txBox="1"/>
          <p:nvPr/>
        </p:nvSpPr>
        <p:spPr>
          <a:xfrm>
            <a:off x="1005840" y="176479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Open Review</a:t>
            </a:r>
          </a:p>
        </p:txBody>
      </p:sp>
      <p:sp>
        <p:nvSpPr>
          <p:cNvPr id="11" name="TextBox 10"/>
          <p:cNvSpPr txBox="1"/>
          <p:nvPr/>
        </p:nvSpPr>
        <p:spPr>
          <a:xfrm>
            <a:off x="1005840" y="235000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Choose a review state and enter job notes.</a:t>
            </a:r>
          </a:p>
        </p:txBody>
      </p:sp>
      <p:sp>
        <p:nvSpPr>
          <p:cNvPr id="12" name="Oval 11"/>
          <p:cNvSpPr/>
          <p:nvPr/>
        </p:nvSpPr>
        <p:spPr>
          <a:xfrm>
            <a:off x="576072" y="302209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2</a:t>
            </a:r>
          </a:p>
        </p:txBody>
      </p:sp>
      <p:sp>
        <p:nvSpPr>
          <p:cNvPr id="13" name="TextBox 12"/>
          <p:cNvSpPr txBox="1"/>
          <p:nvPr/>
        </p:nvSpPr>
        <p:spPr>
          <a:xfrm>
            <a:off x="1005840" y="299923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Assess each criterion</a:t>
            </a:r>
          </a:p>
        </p:txBody>
      </p:sp>
      <p:sp>
        <p:nvSpPr>
          <p:cNvPr id="14" name="TextBox 13"/>
          <p:cNvSpPr txBox="1"/>
          <p:nvPr/>
        </p:nvSpPr>
        <p:spPr>
          <a:xfrm>
            <a:off x="1005840" y="358444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Record evidence, confirmation, or clarification.</a:t>
            </a:r>
          </a:p>
        </p:txBody>
      </p:sp>
      <p:sp>
        <p:nvSpPr>
          <p:cNvPr id="15" name="Oval 14"/>
          <p:cNvSpPr/>
          <p:nvPr/>
        </p:nvSpPr>
        <p:spPr>
          <a:xfrm>
            <a:off x="576072" y="425653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3</a:t>
            </a:r>
          </a:p>
        </p:txBody>
      </p:sp>
      <p:sp>
        <p:nvSpPr>
          <p:cNvPr id="16" name="TextBox 15"/>
          <p:cNvSpPr txBox="1"/>
          <p:nvPr/>
        </p:nvSpPr>
        <p:spPr>
          <a:xfrm>
            <a:off x="1005840" y="423367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Save the review</a:t>
            </a:r>
          </a:p>
        </p:txBody>
      </p:sp>
      <p:sp>
        <p:nvSpPr>
          <p:cNvPr id="17" name="TextBox 16"/>
          <p:cNvSpPr txBox="1"/>
          <p:nvPr/>
        </p:nvSpPr>
        <p:spPr>
          <a:xfrm>
            <a:off x="1005840" y="481888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Save changes before reviewing another person.</a:t>
            </a:r>
          </a:p>
        </p:txBody>
      </p:sp>
      <p:sp>
        <p:nvSpPr>
          <p:cNvPr id="18" name="Rectangle 17"/>
          <p:cNvSpPr/>
          <p:nvPr/>
        </p:nvSpPr>
        <p:spPr>
          <a:xfrm>
            <a:off x="3694176" y="1682496"/>
            <a:ext cx="7964424" cy="4535424"/>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07-review.png" descr="07-review.png"/>
          <p:cNvPicPr>
            <a:picLocks noChangeAspect="1"/>
          </p:cNvPicPr>
          <p:nvPr/>
        </p:nvPicPr>
        <p:blipFill>
          <a:blip r:embed="rId3"/>
          <a:srcRect/>
          <a:stretch>
            <a:fillRect/>
          </a:stretch>
        </p:blipFill>
        <p:spPr>
          <a:xfrm>
            <a:off x="3758184" y="1914825"/>
            <a:ext cx="7836408" cy="4070764"/>
          </a:xfrm>
          <a:prstGeom prst="rect">
            <a:avLst/>
          </a:prstGeom>
        </p:spPr>
      </p:pic>
      <p:sp>
        <p:nvSpPr>
          <p:cNvPr id="20" name="Rounded Rectangle 19"/>
          <p:cNvSpPr/>
          <p:nvPr/>
        </p:nvSpPr>
        <p:spPr>
          <a:xfrm>
            <a:off x="585216" y="5596128"/>
            <a:ext cx="2816352" cy="585216"/>
          </a:xfrm>
          <a:prstGeom prst="roundRect">
            <a:avLst>
              <a:gd name="adj" fmla="val 12000"/>
            </a:avLst>
          </a:prstGeom>
          <a:solidFill>
            <a:srgbClr val="EC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687568"/>
            <a:ext cx="2560320" cy="457200"/>
          </a:xfrm>
          <a:prstGeom prst="rect">
            <a:avLst/>
          </a:prstGeom>
          <a:noFill/>
        </p:spPr>
        <p:txBody>
          <a:bodyPr wrap="square" lIns="0" rIns="0" tIns="0" bIns="0" anchor="t">
            <a:spAutoFit/>
          </a:bodyPr>
          <a:lstStyle/>
          <a:p>
            <a:pPr algn="l">
              <a:lnSpc>
                <a:spcPct val="110000"/>
              </a:lnSpc>
              <a:spcBef>
                <a:spcPts val="0"/>
              </a:spcBef>
              <a:spcAft>
                <a:spcPts val="300"/>
              </a:spcAft>
            </a:pPr>
            <a:r>
              <a:rPr sz="1350" b="0">
                <a:solidFill>
                  <a:srgbClr val="6D3FB0"/>
                </a:solidFill>
                <a:latin typeface="Arial"/>
              </a:rPr>
              <a:t>Job notes remain attached to this vacancy.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profiles">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a:lnSpc>
                <a:spcPct val="110000"/>
              </a:lnSpc>
              <a:spcBef>
                <a:spcPts val="0"/>
              </a:spcBef>
              <a:spcAft>
                <a:spcPts val="300"/>
              </a:spcAft>
            </a:pPr>
            <a:r>
              <a:rPr sz="1000" b="1">
                <a:solidFill>
                  <a:srgbClr val="6D3FB0"/>
                </a:solidFill>
                <a:latin typeface="Arial"/>
              </a:rPr>
              <a:t>QUMAA</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l">
              <a:lnSpc>
                <a:spcPct val="110000"/>
              </a:lnSpc>
              <a:spcBef>
                <a:spcPts val="0"/>
              </a:spcBef>
              <a:spcAft>
                <a:spcPts val="300"/>
              </a:spcAft>
            </a:pPr>
            <a:r>
              <a:rPr sz="3000" b="1">
                <a:solidFill>
                  <a:srgbClr val="2B2733"/>
                </a:solidFill>
                <a:latin typeface="Arial"/>
              </a:rPr>
              <a:t>Maintaining candidate profiles</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l">
              <a:lnSpc>
                <a:spcPct val="110000"/>
              </a:lnSpc>
              <a:spcBef>
                <a:spcPts val="0"/>
              </a:spcBef>
              <a:spcAft>
                <a:spcPts val="300"/>
              </a:spcAft>
            </a:pPr>
            <a:r>
              <a:rPr sz="1450" b="0">
                <a:solidFill>
                  <a:srgbClr val="716B7B"/>
                </a:solidFill>
                <a:latin typeface="Arial"/>
              </a:rPr>
              <a:t>Profiles retain screening information across saved jobs.</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a:lnSpc>
                <a:spcPct val="110000"/>
              </a:lnSpc>
              <a:spcBef>
                <a:spcPts val="0"/>
              </a:spcBef>
              <a:spcAft>
                <a:spcPts val="300"/>
              </a:spcAft>
            </a:pPr>
            <a:r>
              <a:rPr sz="919" b="0">
                <a:solidFill>
                  <a:srgbClr val="716B7B"/>
                </a:solidFill>
                <a:latin typeface="Arial"/>
              </a:rPr>
              <a:t>Actual application · Fictional demo data</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a:lnSpc>
                <a:spcPct val="110000"/>
              </a:lnSpc>
              <a:spcBef>
                <a:spcPts val="0"/>
              </a:spcBef>
              <a:spcAft>
                <a:spcPts val="300"/>
              </a:spcAft>
            </a:pPr>
            <a:r>
              <a:rPr sz="919" b="0">
                <a:solidFill>
                  <a:srgbClr val="716B7B"/>
                </a:solidFill>
                <a:latin typeface="Arial"/>
              </a:rPr>
              <a:t>Qumaa v0.1.0-beta.2   /   12</a:t>
            </a:r>
          </a:p>
        </p:txBody>
      </p:sp>
      <p:sp>
        <p:nvSpPr>
          <p:cNvPr id="9" name="Oval 8"/>
          <p:cNvSpPr/>
          <p:nvPr/>
        </p:nvSpPr>
        <p:spPr>
          <a:xfrm>
            <a:off x="576072" y="1787651"/>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1</a:t>
            </a:r>
          </a:p>
        </p:txBody>
      </p:sp>
      <p:sp>
        <p:nvSpPr>
          <p:cNvPr id="10" name="TextBox 9"/>
          <p:cNvSpPr txBox="1"/>
          <p:nvPr/>
        </p:nvSpPr>
        <p:spPr>
          <a:xfrm>
            <a:off x="1005840" y="1764792"/>
            <a:ext cx="5148072" cy="585216"/>
          </a:xfrm>
          <a:prstGeom prst="rect">
            <a:avLst/>
          </a:prstGeom>
          <a:noFill/>
        </p:spPr>
        <p:txBody>
          <a:bodyPr wrap="square" lIns="0" rIns="0" tIns="0" bIns="0" anchor="t">
            <a:spAutoFit/>
          </a:bodyPr>
          <a:lstStyle/>
          <a:p>
            <a:pPr algn="l">
              <a:lnSpc>
                <a:spcPct val="110000"/>
              </a:lnSpc>
              <a:spcBef>
                <a:spcPts val="0"/>
              </a:spcBef>
              <a:spcAft>
                <a:spcPts val="300"/>
              </a:spcAft>
            </a:pPr>
            <a:r>
              <a:rPr sz="2100" b="1">
                <a:solidFill>
                  <a:srgbClr val="2B2733"/>
                </a:solidFill>
                <a:latin typeface="Arial"/>
              </a:rPr>
              <a:t>Open the profile</a:t>
            </a:r>
          </a:p>
        </p:txBody>
      </p:sp>
      <p:sp>
        <p:nvSpPr>
          <p:cNvPr id="11" name="TextBox 10"/>
          <p:cNvSpPr txBox="1"/>
          <p:nvPr/>
        </p:nvSpPr>
        <p:spPr>
          <a:xfrm>
            <a:off x="1005840" y="2350008"/>
            <a:ext cx="5148072" cy="694944"/>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Choose Add details or Edit profile.</a:t>
            </a:r>
          </a:p>
        </p:txBody>
      </p:sp>
      <p:sp>
        <p:nvSpPr>
          <p:cNvPr id="12" name="Oval 11"/>
          <p:cNvSpPr/>
          <p:nvPr/>
        </p:nvSpPr>
        <p:spPr>
          <a:xfrm>
            <a:off x="576072" y="3031236"/>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2</a:t>
            </a:r>
          </a:p>
        </p:txBody>
      </p:sp>
      <p:sp>
        <p:nvSpPr>
          <p:cNvPr id="13" name="TextBox 12"/>
          <p:cNvSpPr txBox="1"/>
          <p:nvPr/>
        </p:nvSpPr>
        <p:spPr>
          <a:xfrm>
            <a:off x="1005840" y="3008376"/>
            <a:ext cx="5148072" cy="585216"/>
          </a:xfrm>
          <a:prstGeom prst="rect">
            <a:avLst/>
          </a:prstGeom>
          <a:noFill/>
        </p:spPr>
        <p:txBody>
          <a:bodyPr wrap="square" lIns="0" rIns="0" tIns="0" bIns="0" anchor="t">
            <a:spAutoFit/>
          </a:bodyPr>
          <a:lstStyle/>
          <a:p>
            <a:pPr algn="l">
              <a:lnSpc>
                <a:spcPct val="110000"/>
              </a:lnSpc>
              <a:spcBef>
                <a:spcPts val="0"/>
              </a:spcBef>
              <a:spcAft>
                <a:spcPts val="300"/>
              </a:spcAft>
            </a:pPr>
            <a:r>
              <a:rPr sz="2100" b="1">
                <a:solidFill>
                  <a:srgbClr val="2B2733"/>
                </a:solidFill>
                <a:latin typeface="Arial"/>
              </a:rPr>
              <a:t>Record verified details</a:t>
            </a:r>
          </a:p>
        </p:txBody>
      </p:sp>
      <p:sp>
        <p:nvSpPr>
          <p:cNvPr id="14" name="TextBox 13"/>
          <p:cNvSpPr txBox="1"/>
          <p:nvPr/>
        </p:nvSpPr>
        <p:spPr>
          <a:xfrm>
            <a:off x="1005840" y="3593592"/>
            <a:ext cx="5148072" cy="694944"/>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Add corrections, salary, notice, availability, and tags.</a:t>
            </a:r>
          </a:p>
        </p:txBody>
      </p:sp>
      <p:sp>
        <p:nvSpPr>
          <p:cNvPr id="15" name="Oval 14"/>
          <p:cNvSpPr/>
          <p:nvPr/>
        </p:nvSpPr>
        <p:spPr>
          <a:xfrm>
            <a:off x="576072" y="4274820"/>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3</a:t>
            </a:r>
          </a:p>
        </p:txBody>
      </p:sp>
      <p:sp>
        <p:nvSpPr>
          <p:cNvPr id="16" name="TextBox 15"/>
          <p:cNvSpPr txBox="1"/>
          <p:nvPr/>
        </p:nvSpPr>
        <p:spPr>
          <a:xfrm>
            <a:off x="1005840" y="4251960"/>
            <a:ext cx="5148072" cy="585216"/>
          </a:xfrm>
          <a:prstGeom prst="rect">
            <a:avLst/>
          </a:prstGeom>
          <a:noFill/>
        </p:spPr>
        <p:txBody>
          <a:bodyPr wrap="square" lIns="0" rIns="0" tIns="0" bIns="0" anchor="t">
            <a:spAutoFit/>
          </a:bodyPr>
          <a:lstStyle/>
          <a:p>
            <a:pPr algn="l">
              <a:lnSpc>
                <a:spcPct val="110000"/>
              </a:lnSpc>
              <a:spcBef>
                <a:spcPts val="0"/>
              </a:spcBef>
              <a:spcAft>
                <a:spcPts val="300"/>
              </a:spcAft>
            </a:pPr>
            <a:r>
              <a:rPr sz="2100" b="1">
                <a:solidFill>
                  <a:srgbClr val="2B2733"/>
                </a:solidFill>
                <a:latin typeface="Arial"/>
              </a:rPr>
              <a:t>Save the profile</a:t>
            </a:r>
          </a:p>
        </p:txBody>
      </p:sp>
      <p:sp>
        <p:nvSpPr>
          <p:cNvPr id="17" name="TextBox 16"/>
          <p:cNvSpPr txBox="1"/>
          <p:nvPr/>
        </p:nvSpPr>
        <p:spPr>
          <a:xfrm>
            <a:off x="1005840" y="4837176"/>
            <a:ext cx="5148072" cy="694944"/>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Use job reviews for vacancy-specific decisions.</a:t>
            </a:r>
          </a:p>
        </p:txBody>
      </p:sp>
      <p:sp>
        <p:nvSpPr>
          <p:cNvPr id="18" name="Rectangle 17"/>
          <p:cNvSpPr/>
          <p:nvPr/>
        </p:nvSpPr>
        <p:spPr>
          <a:xfrm>
            <a:off x="6492240" y="1627632"/>
            <a:ext cx="5166360" cy="4590288"/>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08-profile.png" descr="08-profile.png"/>
          <p:cNvPicPr>
            <a:picLocks noChangeAspect="1"/>
          </p:cNvPicPr>
          <p:nvPr/>
        </p:nvPicPr>
        <p:blipFill>
          <a:blip r:embed="rId3"/>
          <a:srcRect/>
          <a:stretch>
            <a:fillRect/>
          </a:stretch>
        </p:blipFill>
        <p:spPr>
          <a:xfrm>
            <a:off x="6556248" y="1857794"/>
            <a:ext cx="5038344" cy="4129963"/>
          </a:xfrm>
          <a:prstGeom prst="rect">
            <a:avLst/>
          </a:prstGeom>
        </p:spPr>
      </p:pic>
      <p:sp>
        <p:nvSpPr>
          <p:cNvPr id="20" name="Rounded Rectangle 19"/>
          <p:cNvSpPr/>
          <p:nvPr/>
        </p:nvSpPr>
        <p:spPr>
          <a:xfrm>
            <a:off x="585216" y="5596128"/>
            <a:ext cx="5577840" cy="585216"/>
          </a:xfrm>
          <a:prstGeom prst="roundRect">
            <a:avLst>
              <a:gd name="adj" fmla="val 12000"/>
            </a:avLst>
          </a:prstGeom>
          <a:solidFill>
            <a:srgbClr val="EC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687568"/>
            <a:ext cx="5321807" cy="457200"/>
          </a:xfrm>
          <a:prstGeom prst="rect">
            <a:avLst/>
          </a:prstGeom>
          <a:noFill/>
        </p:spPr>
        <p:txBody>
          <a:bodyPr wrap="square" lIns="0" rIns="0" tIns="0" bIns="0" anchor="t">
            <a:spAutoFit/>
          </a:bodyPr>
          <a:lstStyle/>
          <a:p>
            <a:pPr algn="l">
              <a:lnSpc>
                <a:spcPct val="110000"/>
              </a:lnSpc>
              <a:spcBef>
                <a:spcPts val="0"/>
              </a:spcBef>
              <a:spcAft>
                <a:spcPts val="300"/>
              </a:spcAft>
            </a:pPr>
            <a:r>
              <a:rPr sz="1400" b="0">
                <a:solidFill>
                  <a:srgbClr val="6D3FB0"/>
                </a:solidFill>
                <a:latin typeface="Arial"/>
              </a:rPr>
              <a:t>Profile notes apply across jobs.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comparison">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a:lnSpc>
                <a:spcPct val="110000"/>
              </a:lnSpc>
              <a:spcBef>
                <a:spcPts val="0"/>
              </a:spcBef>
              <a:spcAft>
                <a:spcPts val="300"/>
              </a:spcAft>
            </a:pPr>
            <a:r>
              <a:rPr sz="1000" b="1">
                <a:solidFill>
                  <a:srgbClr val="6D3FB0"/>
                </a:solidFill>
                <a:latin typeface="Arial"/>
              </a:rPr>
              <a:t>QUMAA</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l">
              <a:lnSpc>
                <a:spcPct val="110000"/>
              </a:lnSpc>
              <a:spcBef>
                <a:spcPts val="0"/>
              </a:spcBef>
              <a:spcAft>
                <a:spcPts val="300"/>
              </a:spcAft>
            </a:pPr>
            <a:r>
              <a:rPr sz="3000" b="1">
                <a:solidFill>
                  <a:srgbClr val="2B2733"/>
                </a:solidFill>
                <a:latin typeface="Arial"/>
              </a:rPr>
              <a:t>Comparing candidates</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l">
              <a:lnSpc>
                <a:spcPct val="110000"/>
              </a:lnSpc>
              <a:spcBef>
                <a:spcPts val="0"/>
              </a:spcBef>
              <a:spcAft>
                <a:spcPts val="300"/>
              </a:spcAft>
            </a:pPr>
            <a:r>
              <a:rPr sz="1450" b="0">
                <a:solidFill>
                  <a:srgbClr val="716B7B"/>
                </a:solidFill>
                <a:latin typeface="Arial"/>
              </a:rPr>
              <a:t>Select two to four candidates and choose Compare candidates.</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a:lnSpc>
                <a:spcPct val="110000"/>
              </a:lnSpc>
              <a:spcBef>
                <a:spcPts val="0"/>
              </a:spcBef>
              <a:spcAft>
                <a:spcPts val="300"/>
              </a:spcAft>
            </a:pPr>
            <a:r>
              <a:rPr sz="919" b="0">
                <a:solidFill>
                  <a:srgbClr val="716B7B"/>
                </a:solidFill>
                <a:latin typeface="Arial"/>
              </a:rPr>
              <a:t>Actual application · Fictional demo data</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a:lnSpc>
                <a:spcPct val="110000"/>
              </a:lnSpc>
              <a:spcBef>
                <a:spcPts val="0"/>
              </a:spcBef>
              <a:spcAft>
                <a:spcPts val="300"/>
              </a:spcAft>
            </a:pPr>
            <a:r>
              <a:rPr sz="919" b="0">
                <a:solidFill>
                  <a:srgbClr val="716B7B"/>
                </a:solidFill>
                <a:latin typeface="Arial"/>
              </a:rPr>
              <a:t>Qumaa v0.1.0-beta.2   /   13</a:t>
            </a:r>
          </a:p>
        </p:txBody>
      </p:sp>
      <p:pic>
        <p:nvPicPr>
          <p:cNvPr id="9" name="screenshot:09-comparison-header.png" descr="09-comparison-header.png"/>
          <p:cNvPicPr>
            <a:picLocks noChangeAspect="1"/>
          </p:cNvPicPr>
          <p:nvPr/>
        </p:nvPicPr>
        <p:blipFill>
          <a:blip r:embed="rId3"/>
          <a:srcRect/>
          <a:stretch>
            <a:fillRect/>
          </a:stretch>
        </p:blipFill>
        <p:spPr>
          <a:xfrm>
            <a:off x="603504" y="1813620"/>
            <a:ext cx="11009376" cy="880750"/>
          </a:xfrm>
          <a:prstGeom prst="rect">
            <a:avLst/>
          </a:prstGeom>
        </p:spPr>
      </p:pic>
      <p:sp>
        <p:nvSpPr>
          <p:cNvPr id="10" name="screenshot-caption:09-comparison-criteria.png"/>
          <p:cNvSpPr txBox="1"/>
          <p:nvPr/>
        </p:nvSpPr>
        <p:spPr>
          <a:xfrm>
            <a:off x="649224" y="2715768"/>
            <a:ext cx="10917936" cy="210312"/>
          </a:xfrm>
          <a:prstGeom prst="rect">
            <a:avLst/>
          </a:prstGeom>
          <a:noFill/>
        </p:spPr>
        <p:txBody>
          <a:bodyPr wrap="square" lIns="0" rIns="0" tIns="0" bIns="0" anchor="t">
            <a:spAutoFit/>
          </a:bodyPr>
          <a:lstStyle/>
          <a:p>
            <a:pPr algn="l">
              <a:lnSpc>
                <a:spcPct val="110000"/>
              </a:lnSpc>
              <a:spcBef>
                <a:spcPts val="0"/>
              </a:spcBef>
              <a:spcAft>
                <a:spcPts val="300"/>
              </a:spcAft>
            </a:pPr>
            <a:r>
              <a:rPr sz="1019" b="0">
                <a:solidFill>
                  <a:srgbClr val="716B7B"/>
                </a:solidFill>
                <a:latin typeface="Arial"/>
              </a:rPr>
              <a:t>Criteria and supporting evidence from the same comparison</a:t>
            </a:r>
          </a:p>
        </p:txBody>
      </p:sp>
      <p:pic>
        <p:nvPicPr>
          <p:cNvPr id="11" name="screenshot:09-comparison-criteria.png" descr="09-comparison-criteria.png"/>
          <p:cNvPicPr>
            <a:picLocks noChangeAspect="1"/>
          </p:cNvPicPr>
          <p:nvPr/>
        </p:nvPicPr>
        <p:blipFill>
          <a:blip r:embed="rId4"/>
          <a:srcRect/>
          <a:stretch>
            <a:fillRect/>
          </a:stretch>
        </p:blipFill>
        <p:spPr>
          <a:xfrm>
            <a:off x="866490" y="2962656"/>
            <a:ext cx="10483402" cy="2706624"/>
          </a:xfrm>
          <a:prstGeom prst="rect">
            <a:avLst/>
          </a:prstGeom>
        </p:spPr>
      </p:pic>
      <p:sp>
        <p:nvSpPr>
          <p:cNvPr id="12" name="TextBox 11"/>
          <p:cNvSpPr txBox="1"/>
          <p:nvPr/>
        </p:nvSpPr>
        <p:spPr>
          <a:xfrm>
            <a:off x="685800" y="5888736"/>
            <a:ext cx="10808208" cy="384048"/>
          </a:xfrm>
          <a:prstGeom prst="rect">
            <a:avLst/>
          </a:prstGeom>
          <a:noFill/>
        </p:spPr>
        <p:txBody>
          <a:bodyPr wrap="square" lIns="0" rIns="0" tIns="0" bIns="0" anchor="t">
            <a:spAutoFit/>
          </a:bodyPr>
          <a:lstStyle/>
          <a:p>
            <a:pPr algn="l">
              <a:lnSpc>
                <a:spcPct val="110000"/>
              </a:lnSpc>
              <a:spcBef>
                <a:spcPts val="0"/>
              </a:spcBef>
              <a:spcAft>
                <a:spcPts val="300"/>
              </a:spcAft>
            </a:pPr>
            <a:r>
              <a:rPr sz="1700" b="0">
                <a:solidFill>
                  <a:srgbClr val="3D3949"/>
                </a:solidFill>
                <a:latin typeface="Arial"/>
              </a:rPr>
              <a:t>Review the same criteria, screening details, and unresolved questions for each person.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shortlist">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a:lnSpc>
                <a:spcPct val="110000"/>
              </a:lnSpc>
              <a:spcBef>
                <a:spcPts val="0"/>
              </a:spcBef>
              <a:spcAft>
                <a:spcPts val="300"/>
              </a:spcAft>
            </a:pPr>
            <a:r>
              <a:rPr sz="1000" b="1">
                <a:solidFill>
                  <a:srgbClr val="6D3FB0"/>
                </a:solidFill>
                <a:latin typeface="Arial"/>
              </a:rPr>
              <a:t>QUMAA</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l">
              <a:lnSpc>
                <a:spcPct val="110000"/>
              </a:lnSpc>
              <a:spcBef>
                <a:spcPts val="0"/>
              </a:spcBef>
              <a:spcAft>
                <a:spcPts val="300"/>
              </a:spcAft>
            </a:pPr>
            <a:r>
              <a:rPr sz="3000" b="1">
                <a:solidFill>
                  <a:srgbClr val="2B2733"/>
                </a:solidFill>
                <a:latin typeface="Arial"/>
              </a:rPr>
              <a:t>Preparing and exporting a shortlist</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l">
              <a:lnSpc>
                <a:spcPct val="110000"/>
              </a:lnSpc>
              <a:spcBef>
                <a:spcPts val="0"/>
              </a:spcBef>
              <a:spcAft>
                <a:spcPts val="300"/>
              </a:spcAft>
            </a:pPr>
            <a:r>
              <a:rPr sz="1450" b="0">
                <a:solidFill>
                  <a:srgbClr val="716B7B"/>
                </a:solidFill>
                <a:latin typeface="Arial"/>
              </a:rPr>
              <a:t>Choose candidates and set the order for the hiring review.</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a:lnSpc>
                <a:spcPct val="110000"/>
              </a:lnSpc>
              <a:spcBef>
                <a:spcPts val="0"/>
              </a:spcBef>
              <a:spcAft>
                <a:spcPts val="300"/>
              </a:spcAft>
            </a:pPr>
            <a:r>
              <a:rPr sz="919" b="0">
                <a:solidFill>
                  <a:srgbClr val="716B7B"/>
                </a:solidFill>
                <a:latin typeface="Arial"/>
              </a:rPr>
              <a:t>Actual application · Fictional demo data</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a:lnSpc>
                <a:spcPct val="110000"/>
              </a:lnSpc>
              <a:spcBef>
                <a:spcPts val="0"/>
              </a:spcBef>
              <a:spcAft>
                <a:spcPts val="300"/>
              </a:spcAft>
            </a:pPr>
            <a:r>
              <a:rPr sz="919" b="0">
                <a:solidFill>
                  <a:srgbClr val="716B7B"/>
                </a:solidFill>
                <a:latin typeface="Arial"/>
              </a:rPr>
              <a:t>Qumaa v0.1.0-beta.2   /   14</a:t>
            </a:r>
          </a:p>
        </p:txBody>
      </p:sp>
      <p:sp>
        <p:nvSpPr>
          <p:cNvPr id="9" name="Oval 8"/>
          <p:cNvSpPr/>
          <p:nvPr/>
        </p:nvSpPr>
        <p:spPr>
          <a:xfrm>
            <a:off x="576072" y="1787651"/>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1</a:t>
            </a:r>
          </a:p>
        </p:txBody>
      </p:sp>
      <p:sp>
        <p:nvSpPr>
          <p:cNvPr id="10" name="TextBox 9"/>
          <p:cNvSpPr txBox="1"/>
          <p:nvPr/>
        </p:nvSpPr>
        <p:spPr>
          <a:xfrm>
            <a:off x="1005840" y="176479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Choose candidates</a:t>
            </a:r>
          </a:p>
        </p:txBody>
      </p:sp>
      <p:sp>
        <p:nvSpPr>
          <p:cNvPr id="11" name="TextBox 10"/>
          <p:cNvSpPr txBox="1"/>
          <p:nvPr/>
        </p:nvSpPr>
        <p:spPr>
          <a:xfrm>
            <a:off x="1005840" y="235000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Set relevant candidates to Shortlisted.</a:t>
            </a:r>
          </a:p>
        </p:txBody>
      </p:sp>
      <p:sp>
        <p:nvSpPr>
          <p:cNvPr id="12" name="Oval 11"/>
          <p:cNvSpPr/>
          <p:nvPr/>
        </p:nvSpPr>
        <p:spPr>
          <a:xfrm>
            <a:off x="576072" y="302209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2</a:t>
            </a:r>
          </a:p>
        </p:txBody>
      </p:sp>
      <p:sp>
        <p:nvSpPr>
          <p:cNvPr id="13" name="TextBox 12"/>
          <p:cNvSpPr txBox="1"/>
          <p:nvPr/>
        </p:nvSpPr>
        <p:spPr>
          <a:xfrm>
            <a:off x="1005840" y="299923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Arrange the shortlist</a:t>
            </a:r>
          </a:p>
        </p:txBody>
      </p:sp>
      <p:sp>
        <p:nvSpPr>
          <p:cNvPr id="14" name="TextBox 13"/>
          <p:cNvSpPr txBox="1"/>
          <p:nvPr/>
        </p:nvSpPr>
        <p:spPr>
          <a:xfrm>
            <a:off x="1005840" y="358444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Use the up and down arrows in Shortlist.</a:t>
            </a:r>
          </a:p>
        </p:txBody>
      </p:sp>
      <p:sp>
        <p:nvSpPr>
          <p:cNvPr id="15" name="Oval 14"/>
          <p:cNvSpPr/>
          <p:nvPr/>
        </p:nvSpPr>
        <p:spPr>
          <a:xfrm>
            <a:off x="576072" y="425653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3</a:t>
            </a:r>
          </a:p>
        </p:txBody>
      </p:sp>
      <p:sp>
        <p:nvSpPr>
          <p:cNvPr id="16" name="TextBox 15"/>
          <p:cNvSpPr txBox="1"/>
          <p:nvPr/>
        </p:nvSpPr>
        <p:spPr>
          <a:xfrm>
            <a:off x="1005840" y="423367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Export the record</a:t>
            </a:r>
          </a:p>
        </p:txBody>
      </p:sp>
      <p:sp>
        <p:nvSpPr>
          <p:cNvPr id="17" name="TextBox 16"/>
          <p:cNvSpPr txBox="1"/>
          <p:nvPr/>
        </p:nvSpPr>
        <p:spPr>
          <a:xfrm>
            <a:off x="1005840" y="481888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Select Export PDF or Export CSV.</a:t>
            </a:r>
          </a:p>
        </p:txBody>
      </p:sp>
      <p:sp>
        <p:nvSpPr>
          <p:cNvPr id="18" name="Rectangle 17"/>
          <p:cNvSpPr/>
          <p:nvPr/>
        </p:nvSpPr>
        <p:spPr>
          <a:xfrm>
            <a:off x="3694176" y="1682496"/>
            <a:ext cx="7964424" cy="4535424"/>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10-shortlist.png" descr="10-shortlist.png"/>
          <p:cNvPicPr>
            <a:picLocks noChangeAspect="1"/>
          </p:cNvPicPr>
          <p:nvPr/>
        </p:nvPicPr>
        <p:blipFill>
          <a:blip r:embed="rId3"/>
          <a:srcRect/>
          <a:stretch>
            <a:fillRect/>
          </a:stretch>
        </p:blipFill>
        <p:spPr>
          <a:xfrm>
            <a:off x="3758184" y="2451966"/>
            <a:ext cx="7836408" cy="2996482"/>
          </a:xfrm>
          <a:prstGeom prst="rect">
            <a:avLst/>
          </a:prstGeom>
        </p:spPr>
      </p:pic>
      <p:sp>
        <p:nvSpPr>
          <p:cNvPr id="20" name="Rounded Rectangle 19"/>
          <p:cNvSpPr/>
          <p:nvPr/>
        </p:nvSpPr>
        <p:spPr>
          <a:xfrm>
            <a:off x="585216" y="5596128"/>
            <a:ext cx="2816352" cy="585216"/>
          </a:xfrm>
          <a:prstGeom prst="roundRect">
            <a:avLst>
              <a:gd name="adj" fmla="val 12000"/>
            </a:avLst>
          </a:prstGeom>
          <a:solidFill>
            <a:srgbClr val="EC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687568"/>
            <a:ext cx="2560320" cy="457200"/>
          </a:xfrm>
          <a:prstGeom prst="rect">
            <a:avLst/>
          </a:prstGeom>
          <a:noFill/>
        </p:spPr>
        <p:txBody>
          <a:bodyPr wrap="square" lIns="0" rIns="0" tIns="0" bIns="0" anchor="t">
            <a:spAutoFit/>
          </a:bodyPr>
          <a:lstStyle/>
          <a:p>
            <a:pPr algn="l">
              <a:lnSpc>
                <a:spcPct val="110000"/>
              </a:lnSpc>
              <a:spcBef>
                <a:spcPts val="0"/>
              </a:spcBef>
              <a:spcAft>
                <a:spcPts val="300"/>
              </a:spcAft>
            </a:pPr>
            <a:r>
              <a:rPr sz="1350" b="0">
                <a:solidFill>
                  <a:srgbClr val="6D3FB0"/>
                </a:solidFill>
                <a:latin typeface="Arial"/>
              </a:rPr>
              <a:t>Exports include the full ordered shortlist.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versions">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a:lnSpc>
                <a:spcPct val="110000"/>
              </a:lnSpc>
              <a:spcBef>
                <a:spcPts val="0"/>
              </a:spcBef>
              <a:spcAft>
                <a:spcPts val="300"/>
              </a:spcAft>
            </a:pPr>
            <a:r>
              <a:rPr sz="1000" b="1">
                <a:solidFill>
                  <a:srgbClr val="6D3FB0"/>
                </a:solidFill>
                <a:latin typeface="Arial"/>
              </a:rPr>
              <a:t>QUMAA</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l">
              <a:lnSpc>
                <a:spcPct val="110000"/>
              </a:lnSpc>
              <a:spcBef>
                <a:spcPts val="0"/>
              </a:spcBef>
              <a:spcAft>
                <a:spcPts val="300"/>
              </a:spcAft>
            </a:pPr>
            <a:r>
              <a:rPr sz="3000" b="1">
                <a:solidFill>
                  <a:srgbClr val="2B2733"/>
                </a:solidFill>
                <a:latin typeface="Arial"/>
              </a:rPr>
              <a:t>Linking updated CV versions</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l">
              <a:lnSpc>
                <a:spcPct val="110000"/>
              </a:lnSpc>
              <a:spcBef>
                <a:spcPts val="0"/>
              </a:spcBef>
              <a:spcAft>
                <a:spcPts val="300"/>
              </a:spcAft>
            </a:pPr>
            <a:r>
              <a:rPr sz="1450" b="0">
                <a:solidFill>
                  <a:srgbClr val="716B7B"/>
                </a:solidFill>
                <a:latin typeface="Arial"/>
              </a:rPr>
              <a:t>Confirm identity before linking two records as the same person.</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a:lnSpc>
                <a:spcPct val="110000"/>
              </a:lnSpc>
              <a:spcBef>
                <a:spcPts val="0"/>
              </a:spcBef>
              <a:spcAft>
                <a:spcPts val="300"/>
              </a:spcAft>
            </a:pPr>
            <a:r>
              <a:rPr sz="919" b="0">
                <a:solidFill>
                  <a:srgbClr val="716B7B"/>
                </a:solidFill>
                <a:latin typeface="Arial"/>
              </a:rPr>
              <a:t>Actual application · Fictional demo data</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a:lnSpc>
                <a:spcPct val="110000"/>
              </a:lnSpc>
              <a:spcBef>
                <a:spcPts val="0"/>
              </a:spcBef>
              <a:spcAft>
                <a:spcPts val="300"/>
              </a:spcAft>
            </a:pPr>
            <a:r>
              <a:rPr sz="919" b="0">
                <a:solidFill>
                  <a:srgbClr val="716B7B"/>
                </a:solidFill>
                <a:latin typeface="Arial"/>
              </a:rPr>
              <a:t>Qumaa v0.1.0-beta.2   /   15</a:t>
            </a:r>
          </a:p>
        </p:txBody>
      </p:sp>
      <p:sp>
        <p:nvSpPr>
          <p:cNvPr id="9" name="Oval 8"/>
          <p:cNvSpPr/>
          <p:nvPr/>
        </p:nvSpPr>
        <p:spPr>
          <a:xfrm>
            <a:off x="576072" y="1787651"/>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1</a:t>
            </a:r>
          </a:p>
        </p:txBody>
      </p:sp>
      <p:sp>
        <p:nvSpPr>
          <p:cNvPr id="10" name="TextBox 9"/>
          <p:cNvSpPr txBox="1"/>
          <p:nvPr/>
        </p:nvSpPr>
        <p:spPr>
          <a:xfrm>
            <a:off x="1005840" y="1764792"/>
            <a:ext cx="5148072" cy="585216"/>
          </a:xfrm>
          <a:prstGeom prst="rect">
            <a:avLst/>
          </a:prstGeom>
          <a:noFill/>
        </p:spPr>
        <p:txBody>
          <a:bodyPr wrap="square" lIns="0" rIns="0" tIns="0" bIns="0" anchor="t">
            <a:spAutoFit/>
          </a:bodyPr>
          <a:lstStyle/>
          <a:p>
            <a:pPr algn="l">
              <a:lnSpc>
                <a:spcPct val="110000"/>
              </a:lnSpc>
              <a:spcBef>
                <a:spcPts val="0"/>
              </a:spcBef>
              <a:spcAft>
                <a:spcPts val="300"/>
              </a:spcAft>
            </a:pPr>
            <a:r>
              <a:rPr sz="2100" b="1">
                <a:solidFill>
                  <a:srgbClr val="2B2733"/>
                </a:solidFill>
                <a:latin typeface="Arial"/>
              </a:rPr>
              <a:t>Import the new CV</a:t>
            </a:r>
          </a:p>
        </p:txBody>
      </p:sp>
      <p:sp>
        <p:nvSpPr>
          <p:cNvPr id="11" name="TextBox 10"/>
          <p:cNvSpPr txBox="1"/>
          <p:nvPr/>
        </p:nvSpPr>
        <p:spPr>
          <a:xfrm>
            <a:off x="1005840" y="2350008"/>
            <a:ext cx="5148072" cy="694944"/>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Add the updated document to Library.</a:t>
            </a:r>
          </a:p>
        </p:txBody>
      </p:sp>
      <p:sp>
        <p:nvSpPr>
          <p:cNvPr id="12" name="Oval 11"/>
          <p:cNvSpPr/>
          <p:nvPr/>
        </p:nvSpPr>
        <p:spPr>
          <a:xfrm>
            <a:off x="576072" y="3031236"/>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2</a:t>
            </a:r>
          </a:p>
        </p:txBody>
      </p:sp>
      <p:sp>
        <p:nvSpPr>
          <p:cNvPr id="13" name="TextBox 12"/>
          <p:cNvSpPr txBox="1"/>
          <p:nvPr/>
        </p:nvSpPr>
        <p:spPr>
          <a:xfrm>
            <a:off x="1005840" y="3008376"/>
            <a:ext cx="5148072" cy="585216"/>
          </a:xfrm>
          <a:prstGeom prst="rect">
            <a:avLst/>
          </a:prstGeom>
          <a:noFill/>
        </p:spPr>
        <p:txBody>
          <a:bodyPr wrap="square" lIns="0" rIns="0" tIns="0" bIns="0" anchor="t">
            <a:spAutoFit/>
          </a:bodyPr>
          <a:lstStyle/>
          <a:p>
            <a:pPr algn="l">
              <a:lnSpc>
                <a:spcPct val="110000"/>
              </a:lnSpc>
              <a:spcBef>
                <a:spcPts val="0"/>
              </a:spcBef>
              <a:spcAft>
                <a:spcPts val="300"/>
              </a:spcAft>
            </a:pPr>
            <a:r>
              <a:rPr sz="2100" b="1">
                <a:solidFill>
                  <a:srgbClr val="2B2733"/>
                </a:solidFill>
                <a:latin typeface="Arial"/>
              </a:rPr>
              <a:t>Open Resume history</a:t>
            </a:r>
          </a:p>
        </p:txBody>
      </p:sp>
      <p:sp>
        <p:nvSpPr>
          <p:cNvPr id="14" name="TextBox 13"/>
          <p:cNvSpPr txBox="1"/>
          <p:nvPr/>
        </p:nvSpPr>
        <p:spPr>
          <a:xfrm>
            <a:off x="1005840" y="3593592"/>
            <a:ext cx="5148072" cy="694944"/>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Select Link another CV in the candidate panel.</a:t>
            </a:r>
          </a:p>
        </p:txBody>
      </p:sp>
      <p:sp>
        <p:nvSpPr>
          <p:cNvPr id="15" name="Oval 14"/>
          <p:cNvSpPr/>
          <p:nvPr/>
        </p:nvSpPr>
        <p:spPr>
          <a:xfrm>
            <a:off x="576072" y="4274820"/>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3</a:t>
            </a:r>
          </a:p>
        </p:txBody>
      </p:sp>
      <p:sp>
        <p:nvSpPr>
          <p:cNvPr id="16" name="TextBox 15"/>
          <p:cNvSpPr txBox="1"/>
          <p:nvPr/>
        </p:nvSpPr>
        <p:spPr>
          <a:xfrm>
            <a:off x="1005840" y="4251960"/>
            <a:ext cx="5148072" cy="585216"/>
          </a:xfrm>
          <a:prstGeom prst="rect">
            <a:avLst/>
          </a:prstGeom>
          <a:noFill/>
        </p:spPr>
        <p:txBody>
          <a:bodyPr wrap="square" lIns="0" rIns="0" tIns="0" bIns="0" anchor="t">
            <a:spAutoFit/>
          </a:bodyPr>
          <a:lstStyle/>
          <a:p>
            <a:pPr algn="l">
              <a:lnSpc>
                <a:spcPct val="110000"/>
              </a:lnSpc>
              <a:spcBef>
                <a:spcPts val="0"/>
              </a:spcBef>
              <a:spcAft>
                <a:spcPts val="300"/>
              </a:spcAft>
            </a:pPr>
            <a:r>
              <a:rPr sz="2100" b="1">
                <a:solidFill>
                  <a:srgbClr val="2B2733"/>
                </a:solidFill>
                <a:latin typeface="Arial"/>
              </a:rPr>
              <a:t>Confirm the link</a:t>
            </a:r>
          </a:p>
        </p:txBody>
      </p:sp>
      <p:sp>
        <p:nvSpPr>
          <p:cNvPr id="17" name="TextBox 16"/>
          <p:cNvSpPr txBox="1"/>
          <p:nvPr/>
        </p:nvSpPr>
        <p:spPr>
          <a:xfrm>
            <a:off x="1005840" y="4837176"/>
            <a:ext cx="5148072" cy="694944"/>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Choose the record and select Link as same person.</a:t>
            </a:r>
          </a:p>
        </p:txBody>
      </p:sp>
      <p:sp>
        <p:nvSpPr>
          <p:cNvPr id="18" name="Rectangle 17"/>
          <p:cNvSpPr/>
          <p:nvPr/>
        </p:nvSpPr>
        <p:spPr>
          <a:xfrm>
            <a:off x="6492240" y="1627632"/>
            <a:ext cx="5166360" cy="4590288"/>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11-versions.png" descr="11-versions.png"/>
          <p:cNvPicPr>
            <a:picLocks noChangeAspect="1"/>
          </p:cNvPicPr>
          <p:nvPr/>
        </p:nvPicPr>
        <p:blipFill>
          <a:blip r:embed="rId3"/>
          <a:srcRect/>
          <a:stretch>
            <a:fillRect/>
          </a:stretch>
        </p:blipFill>
        <p:spPr>
          <a:xfrm>
            <a:off x="6556248" y="2861238"/>
            <a:ext cx="5038344" cy="2123075"/>
          </a:xfrm>
          <a:prstGeom prst="rect">
            <a:avLst/>
          </a:prstGeom>
        </p:spPr>
      </p:pic>
      <p:sp>
        <p:nvSpPr>
          <p:cNvPr id="20" name="Rounded Rectangle 19"/>
          <p:cNvSpPr/>
          <p:nvPr/>
        </p:nvSpPr>
        <p:spPr>
          <a:xfrm>
            <a:off x="585216" y="5596128"/>
            <a:ext cx="5577840" cy="585216"/>
          </a:xfrm>
          <a:prstGeom prst="roundRect">
            <a:avLst>
              <a:gd name="adj" fmla="val 12000"/>
            </a:avLst>
          </a:prstGeom>
          <a:solidFill>
            <a:srgbClr val="EC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687568"/>
            <a:ext cx="5321807" cy="457200"/>
          </a:xfrm>
          <a:prstGeom prst="rect">
            <a:avLst/>
          </a:prstGeom>
          <a:noFill/>
        </p:spPr>
        <p:txBody>
          <a:bodyPr wrap="square" lIns="0" rIns="0" tIns="0" bIns="0" anchor="t">
            <a:spAutoFit/>
          </a:bodyPr>
          <a:lstStyle/>
          <a:p>
            <a:pPr algn="l">
              <a:lnSpc>
                <a:spcPct val="110000"/>
              </a:lnSpc>
              <a:spcBef>
                <a:spcPts val="0"/>
              </a:spcBef>
              <a:spcAft>
                <a:spcPts val="300"/>
              </a:spcAft>
            </a:pPr>
            <a:r>
              <a:rPr sz="1400" b="0">
                <a:solidFill>
                  <a:srgbClr val="6D3FB0"/>
                </a:solidFill>
                <a:latin typeface="Arial"/>
              </a:rPr>
              <a:t>Linked versions retain the candidate's recruiting context.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refresh">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a:lnSpc>
                <a:spcPct val="110000"/>
              </a:lnSpc>
              <a:spcBef>
                <a:spcPts val="0"/>
              </a:spcBef>
              <a:spcAft>
                <a:spcPts val="300"/>
              </a:spcAft>
            </a:pPr>
            <a:r>
              <a:rPr sz="1000" b="1">
                <a:solidFill>
                  <a:srgbClr val="6D3FB0"/>
                </a:solidFill>
                <a:latin typeface="Arial"/>
              </a:rPr>
              <a:t>QUMAA</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l">
              <a:lnSpc>
                <a:spcPct val="110000"/>
              </a:lnSpc>
              <a:spcBef>
                <a:spcPts val="0"/>
              </a:spcBef>
              <a:spcAft>
                <a:spcPts val="300"/>
              </a:spcAft>
            </a:pPr>
            <a:r>
              <a:rPr sz="3000" b="1">
                <a:solidFill>
                  <a:srgbClr val="2B2733"/>
                </a:solidFill>
                <a:latin typeface="Arial"/>
              </a:rPr>
              <a:t>Refreshing saved matches</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l">
              <a:lnSpc>
                <a:spcPct val="110000"/>
              </a:lnSpc>
              <a:spcBef>
                <a:spcPts val="0"/>
              </a:spcBef>
              <a:spcAft>
                <a:spcPts val="300"/>
              </a:spcAft>
            </a:pPr>
            <a:r>
              <a:rPr sz="1450" b="0">
                <a:solidFill>
                  <a:srgbClr val="716B7B"/>
                </a:solidFill>
                <a:latin typeface="Arial"/>
              </a:rPr>
              <a:t>Refresh when the library or job requirements change.</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a:lnSpc>
                <a:spcPct val="110000"/>
              </a:lnSpc>
              <a:spcBef>
                <a:spcPts val="0"/>
              </a:spcBef>
              <a:spcAft>
                <a:spcPts val="300"/>
              </a:spcAft>
            </a:pPr>
            <a:r>
              <a:rPr sz="919" b="0">
                <a:solidFill>
                  <a:srgbClr val="716B7B"/>
                </a:solidFill>
                <a:latin typeface="Arial"/>
              </a:rPr>
              <a:t>Actual application · Fictional demo data</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a:lnSpc>
                <a:spcPct val="110000"/>
              </a:lnSpc>
              <a:spcBef>
                <a:spcPts val="0"/>
              </a:spcBef>
              <a:spcAft>
                <a:spcPts val="300"/>
              </a:spcAft>
            </a:pPr>
            <a:r>
              <a:rPr sz="919" b="0">
                <a:solidFill>
                  <a:srgbClr val="716B7B"/>
                </a:solidFill>
                <a:latin typeface="Arial"/>
              </a:rPr>
              <a:t>Qumaa v0.1.0-beta.2   /   16</a:t>
            </a:r>
          </a:p>
        </p:txBody>
      </p:sp>
      <p:sp>
        <p:nvSpPr>
          <p:cNvPr id="9" name="Oval 8"/>
          <p:cNvSpPr/>
          <p:nvPr/>
        </p:nvSpPr>
        <p:spPr>
          <a:xfrm>
            <a:off x="576072" y="1787651"/>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1</a:t>
            </a:r>
          </a:p>
        </p:txBody>
      </p:sp>
      <p:sp>
        <p:nvSpPr>
          <p:cNvPr id="10" name="TextBox 9"/>
          <p:cNvSpPr txBox="1"/>
          <p:nvPr/>
        </p:nvSpPr>
        <p:spPr>
          <a:xfrm>
            <a:off x="1005840" y="176479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Reopen the job</a:t>
            </a:r>
          </a:p>
        </p:txBody>
      </p:sp>
      <p:sp>
        <p:nvSpPr>
          <p:cNvPr id="11" name="TextBox 10"/>
          <p:cNvSpPr txBox="1"/>
          <p:nvPr/>
        </p:nvSpPr>
        <p:spPr>
          <a:xfrm>
            <a:off x="1005840" y="235000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Return after importing or updating CVs.</a:t>
            </a:r>
          </a:p>
        </p:txBody>
      </p:sp>
      <p:sp>
        <p:nvSpPr>
          <p:cNvPr id="12" name="Oval 11"/>
          <p:cNvSpPr/>
          <p:nvPr/>
        </p:nvSpPr>
        <p:spPr>
          <a:xfrm>
            <a:off x="576072" y="302209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2</a:t>
            </a:r>
          </a:p>
        </p:txBody>
      </p:sp>
      <p:sp>
        <p:nvSpPr>
          <p:cNvPr id="13" name="TextBox 12"/>
          <p:cNvSpPr txBox="1"/>
          <p:nvPr/>
        </p:nvSpPr>
        <p:spPr>
          <a:xfrm>
            <a:off x="1005840" y="299923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Read the notice</a:t>
            </a:r>
          </a:p>
        </p:txBody>
      </p:sp>
      <p:sp>
        <p:nvSpPr>
          <p:cNvPr id="14" name="TextBox 13"/>
          <p:cNvSpPr txBox="1"/>
          <p:nvPr/>
        </p:nvSpPr>
        <p:spPr>
          <a:xfrm>
            <a:off x="1005840" y="358444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Check whether the saved matches are out of date.</a:t>
            </a:r>
          </a:p>
        </p:txBody>
      </p:sp>
      <p:sp>
        <p:nvSpPr>
          <p:cNvPr id="15" name="Oval 14"/>
          <p:cNvSpPr/>
          <p:nvPr/>
        </p:nvSpPr>
        <p:spPr>
          <a:xfrm>
            <a:off x="576072" y="425653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3</a:t>
            </a:r>
          </a:p>
        </p:txBody>
      </p:sp>
      <p:sp>
        <p:nvSpPr>
          <p:cNvPr id="16" name="TextBox 15"/>
          <p:cNvSpPr txBox="1"/>
          <p:nvPr/>
        </p:nvSpPr>
        <p:spPr>
          <a:xfrm>
            <a:off x="1005840" y="423367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Refresh matches</a:t>
            </a:r>
          </a:p>
        </p:txBody>
      </p:sp>
      <p:sp>
        <p:nvSpPr>
          <p:cNvPr id="17" name="TextBox 16"/>
          <p:cNvSpPr txBox="1"/>
          <p:nvPr/>
        </p:nvSpPr>
        <p:spPr>
          <a:xfrm>
            <a:off x="1005840" y="481888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Review the updated ranking and evidence.</a:t>
            </a:r>
          </a:p>
        </p:txBody>
      </p:sp>
      <p:sp>
        <p:nvSpPr>
          <p:cNvPr id="18" name="Rounded Rectangle 17"/>
          <p:cNvSpPr/>
          <p:nvPr/>
        </p:nvSpPr>
        <p:spPr>
          <a:xfrm>
            <a:off x="3694176" y="1682496"/>
            <a:ext cx="7964424" cy="4535424"/>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12-refresh.png" descr="12-refresh.png"/>
          <p:cNvPicPr>
            <a:picLocks noChangeAspect="1"/>
          </p:cNvPicPr>
          <p:nvPr/>
        </p:nvPicPr>
        <p:blipFill>
          <a:blip r:embed="rId3"/>
          <a:srcRect/>
          <a:stretch>
            <a:fillRect/>
          </a:stretch>
        </p:blipFill>
        <p:spPr>
          <a:xfrm>
            <a:off x="3831336" y="2622621"/>
            <a:ext cx="7690104" cy="314309"/>
          </a:xfrm>
          <a:prstGeom prst="rect">
            <a:avLst/>
          </a:prstGeom>
        </p:spPr>
      </p:pic>
      <p:cxnSp>
        <p:nvCxnSpPr>
          <p:cNvPr id="20" name="Connector 19"/>
          <p:cNvCxnSpPr/>
          <p:nvPr/>
        </p:nvCxnSpPr>
        <p:spPr>
          <a:xfrm>
            <a:off x="7680960" y="3493008"/>
            <a:ext cx="0" cy="320040"/>
          </a:xfrm>
          <a:prstGeom prst="line">
            <a:avLst/>
          </a:prstGeom>
          <a:ln w="20320">
            <a:solidFill>
              <a:srgbClr val="6D3FB0"/>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21" name="screenshot:12-refresh-action.png" descr="12-refresh-action.png"/>
          <p:cNvPicPr>
            <a:picLocks noChangeAspect="1"/>
          </p:cNvPicPr>
          <p:nvPr/>
        </p:nvPicPr>
        <p:blipFill>
          <a:blip r:embed="rId4"/>
          <a:srcRect/>
          <a:stretch>
            <a:fillRect/>
          </a:stretch>
        </p:blipFill>
        <p:spPr>
          <a:xfrm>
            <a:off x="3831336" y="4297065"/>
            <a:ext cx="7690104" cy="824189"/>
          </a:xfrm>
          <a:prstGeom prst="rect">
            <a:avLst/>
          </a:prstGeom>
        </p:spPr>
      </p:pic>
      <p:sp>
        <p:nvSpPr>
          <p:cNvPr id="22" name="Rounded Rectangle 21"/>
          <p:cNvSpPr/>
          <p:nvPr/>
        </p:nvSpPr>
        <p:spPr>
          <a:xfrm>
            <a:off x="585216" y="5596128"/>
            <a:ext cx="2816352" cy="585216"/>
          </a:xfrm>
          <a:prstGeom prst="roundRect">
            <a:avLst>
              <a:gd name="adj" fmla="val 12000"/>
            </a:avLst>
          </a:prstGeom>
          <a:solidFill>
            <a:srgbClr val="EC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 y="5687568"/>
            <a:ext cx="2560320" cy="457200"/>
          </a:xfrm>
          <a:prstGeom prst="rect">
            <a:avLst/>
          </a:prstGeom>
          <a:noFill/>
        </p:spPr>
        <p:txBody>
          <a:bodyPr wrap="square" lIns="0" rIns="0" tIns="0" bIns="0" anchor="t">
            <a:spAutoFit/>
          </a:bodyPr>
          <a:lstStyle/>
          <a:p>
            <a:pPr algn="l">
              <a:lnSpc>
                <a:spcPct val="110000"/>
              </a:lnSpc>
              <a:spcBef>
                <a:spcPts val="0"/>
              </a:spcBef>
              <a:spcAft>
                <a:spcPts val="300"/>
              </a:spcAft>
            </a:pPr>
            <a:r>
              <a:rPr sz="1350" b="0">
                <a:solidFill>
                  <a:srgbClr val="6D3FB0"/>
                </a:solidFill>
                <a:latin typeface="Arial"/>
              </a:rPr>
              <a:t>Saved reviews and notes remain available after refresh.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name="status">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a:lnSpc>
                <a:spcPct val="110000"/>
              </a:lnSpc>
              <a:spcBef>
                <a:spcPts val="0"/>
              </a:spcBef>
              <a:spcAft>
                <a:spcPts val="300"/>
              </a:spcAft>
            </a:pPr>
            <a:r>
              <a:rPr sz="1000" b="1">
                <a:solidFill>
                  <a:srgbClr val="6D3FB0"/>
                </a:solidFill>
                <a:latin typeface="Arial"/>
              </a:rPr>
              <a:t>QUMAA</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l">
              <a:lnSpc>
                <a:spcPct val="110000"/>
              </a:lnSpc>
              <a:spcBef>
                <a:spcPts val="0"/>
              </a:spcBef>
              <a:spcAft>
                <a:spcPts val="300"/>
              </a:spcAft>
            </a:pPr>
            <a:r>
              <a:rPr sz="3000" b="1">
                <a:solidFill>
                  <a:srgbClr val="2B2733"/>
                </a:solidFill>
                <a:latin typeface="Arial"/>
              </a:rPr>
              <a:t>Changing job status</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l">
              <a:lnSpc>
                <a:spcPct val="110000"/>
              </a:lnSpc>
              <a:spcBef>
                <a:spcPts val="0"/>
              </a:spcBef>
              <a:spcAft>
                <a:spcPts val="300"/>
              </a:spcAft>
            </a:pPr>
            <a:r>
              <a:rPr sz="1450" b="0">
                <a:solidFill>
                  <a:srgbClr val="716B7B"/>
                </a:solidFill>
                <a:latin typeface="Arial"/>
              </a:rPr>
              <a:t>Each recorded status change includes a date and time.</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a:lnSpc>
                <a:spcPct val="110000"/>
              </a:lnSpc>
              <a:spcBef>
                <a:spcPts val="0"/>
              </a:spcBef>
              <a:spcAft>
                <a:spcPts val="300"/>
              </a:spcAft>
            </a:pPr>
            <a:r>
              <a:rPr sz="919" b="0">
                <a:solidFill>
                  <a:srgbClr val="716B7B"/>
                </a:solidFill>
                <a:latin typeface="Arial"/>
              </a:rPr>
              <a:t>Actual application · Fictional demo data</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a:lnSpc>
                <a:spcPct val="110000"/>
              </a:lnSpc>
              <a:spcBef>
                <a:spcPts val="0"/>
              </a:spcBef>
              <a:spcAft>
                <a:spcPts val="300"/>
              </a:spcAft>
            </a:pPr>
            <a:r>
              <a:rPr sz="919" b="0">
                <a:solidFill>
                  <a:srgbClr val="716B7B"/>
                </a:solidFill>
                <a:latin typeface="Arial"/>
              </a:rPr>
              <a:t>Qumaa v0.1.0-beta.2   /   17</a:t>
            </a:r>
          </a:p>
        </p:txBody>
      </p:sp>
      <p:sp>
        <p:nvSpPr>
          <p:cNvPr id="9" name="Oval 8"/>
          <p:cNvSpPr/>
          <p:nvPr/>
        </p:nvSpPr>
        <p:spPr>
          <a:xfrm>
            <a:off x="576072" y="1787651"/>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1</a:t>
            </a:r>
          </a:p>
        </p:txBody>
      </p:sp>
      <p:sp>
        <p:nvSpPr>
          <p:cNvPr id="10" name="TextBox 9"/>
          <p:cNvSpPr txBox="1"/>
          <p:nvPr/>
        </p:nvSpPr>
        <p:spPr>
          <a:xfrm>
            <a:off x="1005840" y="176479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Open Change status</a:t>
            </a:r>
          </a:p>
        </p:txBody>
      </p:sp>
      <p:sp>
        <p:nvSpPr>
          <p:cNvPr id="11" name="TextBox 10"/>
          <p:cNvSpPr txBox="1"/>
          <p:nvPr/>
        </p:nvSpPr>
        <p:spPr>
          <a:xfrm>
            <a:off x="1005840" y="235000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Use the control in the selected job.</a:t>
            </a:r>
          </a:p>
        </p:txBody>
      </p:sp>
      <p:sp>
        <p:nvSpPr>
          <p:cNvPr id="12" name="Oval 11"/>
          <p:cNvSpPr/>
          <p:nvPr/>
        </p:nvSpPr>
        <p:spPr>
          <a:xfrm>
            <a:off x="576072" y="302209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2</a:t>
            </a:r>
          </a:p>
        </p:txBody>
      </p:sp>
      <p:sp>
        <p:nvSpPr>
          <p:cNvPr id="13" name="TextBox 12"/>
          <p:cNvSpPr txBox="1"/>
          <p:nvPr/>
        </p:nvSpPr>
        <p:spPr>
          <a:xfrm>
            <a:off x="1005840" y="299923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Choose the status</a:t>
            </a:r>
          </a:p>
        </p:txBody>
      </p:sp>
      <p:sp>
        <p:nvSpPr>
          <p:cNvPr id="14" name="TextBox 13"/>
          <p:cNvSpPr txBox="1"/>
          <p:nvPr/>
        </p:nvSpPr>
        <p:spPr>
          <a:xfrm>
            <a:off x="1005840" y="358444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Open, On hold, Filled, or Archived.</a:t>
            </a:r>
          </a:p>
        </p:txBody>
      </p:sp>
      <p:sp>
        <p:nvSpPr>
          <p:cNvPr id="15" name="Oval 14"/>
          <p:cNvSpPr/>
          <p:nvPr/>
        </p:nvSpPr>
        <p:spPr>
          <a:xfrm>
            <a:off x="576072" y="425653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3</a:t>
            </a:r>
          </a:p>
        </p:txBody>
      </p:sp>
      <p:sp>
        <p:nvSpPr>
          <p:cNvPr id="16" name="TextBox 15"/>
          <p:cNvSpPr txBox="1"/>
          <p:nvPr/>
        </p:nvSpPr>
        <p:spPr>
          <a:xfrm>
            <a:off x="1005840" y="423367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Check the history</a:t>
            </a:r>
          </a:p>
        </p:txBody>
      </p:sp>
      <p:sp>
        <p:nvSpPr>
          <p:cNvPr id="17" name="TextBox 16"/>
          <p:cNvSpPr txBox="1"/>
          <p:nvPr/>
        </p:nvSpPr>
        <p:spPr>
          <a:xfrm>
            <a:off x="1005840" y="481888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Review the creation and status-change timestamps.</a:t>
            </a:r>
          </a:p>
        </p:txBody>
      </p:sp>
      <p:sp>
        <p:nvSpPr>
          <p:cNvPr id="18" name="Rectangle 17"/>
          <p:cNvSpPr/>
          <p:nvPr/>
        </p:nvSpPr>
        <p:spPr>
          <a:xfrm>
            <a:off x="3694176" y="1682496"/>
            <a:ext cx="7964424" cy="4535424"/>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16-status.png" descr="16-status.png"/>
          <p:cNvPicPr>
            <a:picLocks noChangeAspect="1"/>
          </p:cNvPicPr>
          <p:nvPr/>
        </p:nvPicPr>
        <p:blipFill>
          <a:blip r:embed="rId3"/>
          <a:srcRect/>
          <a:stretch>
            <a:fillRect/>
          </a:stretch>
        </p:blipFill>
        <p:spPr>
          <a:xfrm>
            <a:off x="3758184" y="3094379"/>
            <a:ext cx="7836408" cy="1711656"/>
          </a:xfrm>
          <a:prstGeom prst="rect">
            <a:avLst/>
          </a:prstGeom>
        </p:spPr>
      </p:pic>
      <p:sp>
        <p:nvSpPr>
          <p:cNvPr id="20" name="Rounded Rectangle 19"/>
          <p:cNvSpPr/>
          <p:nvPr/>
        </p:nvSpPr>
        <p:spPr>
          <a:xfrm>
            <a:off x="585216" y="5596128"/>
            <a:ext cx="2816352" cy="585216"/>
          </a:xfrm>
          <a:prstGeom prst="roundRect">
            <a:avLst>
              <a:gd name="adj" fmla="val 12000"/>
            </a:avLst>
          </a:prstGeom>
          <a:solidFill>
            <a:srgbClr val="EC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687568"/>
            <a:ext cx="2560320" cy="457200"/>
          </a:xfrm>
          <a:prstGeom prst="rect">
            <a:avLst/>
          </a:prstGeom>
          <a:noFill/>
        </p:spPr>
        <p:txBody>
          <a:bodyPr wrap="square" lIns="0" rIns="0" tIns="0" bIns="0" anchor="t">
            <a:spAutoFit/>
          </a:bodyPr>
          <a:lstStyle/>
          <a:p>
            <a:pPr algn="l">
              <a:lnSpc>
                <a:spcPct val="110000"/>
              </a:lnSpc>
              <a:spcBef>
                <a:spcPts val="0"/>
              </a:spcBef>
              <a:spcAft>
                <a:spcPts val="300"/>
              </a:spcAft>
            </a:pPr>
            <a:r>
              <a:rPr sz="1350" b="0">
                <a:solidFill>
                  <a:srgbClr val="6D3FB0"/>
                </a:solidFill>
                <a:latin typeface="Arial"/>
              </a:rPr>
              <a:t>Archived jobs retain their recorded hiring outcome.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name="hiring">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a:lnSpc>
                <a:spcPct val="110000"/>
              </a:lnSpc>
              <a:spcBef>
                <a:spcPts val="0"/>
              </a:spcBef>
              <a:spcAft>
                <a:spcPts val="300"/>
              </a:spcAft>
            </a:pPr>
            <a:r>
              <a:rPr sz="1000" b="1">
                <a:solidFill>
                  <a:srgbClr val="6D3FB0"/>
                </a:solidFill>
                <a:latin typeface="Arial"/>
              </a:rPr>
              <a:t>QUMAA</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l">
              <a:lnSpc>
                <a:spcPct val="110000"/>
              </a:lnSpc>
              <a:spcBef>
                <a:spcPts val="0"/>
              </a:spcBef>
              <a:spcAft>
                <a:spcPts val="300"/>
              </a:spcAft>
            </a:pPr>
            <a:r>
              <a:rPr sz="3000" b="1">
                <a:solidFill>
                  <a:srgbClr val="2B2733"/>
                </a:solidFill>
                <a:latin typeface="Arial"/>
              </a:rPr>
              <a:t>Recording a hiring outcome</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l">
              <a:lnSpc>
                <a:spcPct val="110000"/>
              </a:lnSpc>
              <a:spcBef>
                <a:spcPts val="0"/>
              </a:spcBef>
              <a:spcAft>
                <a:spcPts val="300"/>
              </a:spcAft>
            </a:pPr>
            <a:r>
              <a:rPr sz="1450" b="0">
                <a:solidFill>
                  <a:srgbClr val="716B7B"/>
                </a:solidFill>
                <a:latin typeface="Arial"/>
              </a:rPr>
              <a:t>A filled job identifies the hired person and optional backup candidates.</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a:lnSpc>
                <a:spcPct val="110000"/>
              </a:lnSpc>
              <a:spcBef>
                <a:spcPts val="0"/>
              </a:spcBef>
              <a:spcAft>
                <a:spcPts val="300"/>
              </a:spcAft>
            </a:pPr>
            <a:r>
              <a:rPr sz="919" b="0">
                <a:solidFill>
                  <a:srgbClr val="716B7B"/>
                </a:solidFill>
                <a:latin typeface="Arial"/>
              </a:rPr>
              <a:t>Actual application · Fictional demo data</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a:lnSpc>
                <a:spcPct val="110000"/>
              </a:lnSpc>
              <a:spcBef>
                <a:spcPts val="0"/>
              </a:spcBef>
              <a:spcAft>
                <a:spcPts val="300"/>
              </a:spcAft>
            </a:pPr>
            <a:r>
              <a:rPr sz="919" b="0">
                <a:solidFill>
                  <a:srgbClr val="716B7B"/>
                </a:solidFill>
                <a:latin typeface="Arial"/>
              </a:rPr>
              <a:t>Qumaa v0.1.0-beta.2   /   18</a:t>
            </a:r>
          </a:p>
        </p:txBody>
      </p:sp>
      <p:sp>
        <p:nvSpPr>
          <p:cNvPr id="9" name="Oval 8"/>
          <p:cNvSpPr/>
          <p:nvPr/>
        </p:nvSpPr>
        <p:spPr>
          <a:xfrm>
            <a:off x="576072" y="1787651"/>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1</a:t>
            </a:r>
          </a:p>
        </p:txBody>
      </p:sp>
      <p:sp>
        <p:nvSpPr>
          <p:cNvPr id="10" name="TextBox 9"/>
          <p:cNvSpPr txBox="1"/>
          <p:nvPr/>
        </p:nvSpPr>
        <p:spPr>
          <a:xfrm>
            <a:off x="1005840" y="176479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Select Filled</a:t>
            </a:r>
          </a:p>
        </p:txBody>
      </p:sp>
      <p:sp>
        <p:nvSpPr>
          <p:cNvPr id="11" name="TextBox 10"/>
          <p:cNvSpPr txBox="1"/>
          <p:nvPr/>
        </p:nvSpPr>
        <p:spPr>
          <a:xfrm>
            <a:off x="1005840" y="235000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Change the job status after confirming the outcome.</a:t>
            </a:r>
          </a:p>
        </p:txBody>
      </p:sp>
      <p:sp>
        <p:nvSpPr>
          <p:cNvPr id="12" name="Oval 11"/>
          <p:cNvSpPr/>
          <p:nvPr/>
        </p:nvSpPr>
        <p:spPr>
          <a:xfrm>
            <a:off x="576072" y="302209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2</a:t>
            </a:r>
          </a:p>
        </p:txBody>
      </p:sp>
      <p:sp>
        <p:nvSpPr>
          <p:cNvPr id="13" name="TextBox 12"/>
          <p:cNvSpPr txBox="1"/>
          <p:nvPr/>
        </p:nvSpPr>
        <p:spPr>
          <a:xfrm>
            <a:off x="1005840" y="299923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Choose the candidates</a:t>
            </a:r>
          </a:p>
        </p:txBody>
      </p:sp>
      <p:sp>
        <p:nvSpPr>
          <p:cNvPr id="14" name="TextBox 13"/>
          <p:cNvSpPr txBox="1"/>
          <p:nvPr/>
        </p:nvSpPr>
        <p:spPr>
          <a:xfrm>
            <a:off x="1005840" y="358444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Select the hired person and backups.</a:t>
            </a:r>
          </a:p>
        </p:txBody>
      </p:sp>
      <p:sp>
        <p:nvSpPr>
          <p:cNvPr id="15" name="Oval 14"/>
          <p:cNvSpPr/>
          <p:nvPr/>
        </p:nvSpPr>
        <p:spPr>
          <a:xfrm>
            <a:off x="576072" y="425653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3</a:t>
            </a:r>
          </a:p>
        </p:txBody>
      </p:sp>
      <p:sp>
        <p:nvSpPr>
          <p:cNvPr id="16" name="TextBox 15"/>
          <p:cNvSpPr txBox="1"/>
          <p:nvPr/>
        </p:nvSpPr>
        <p:spPr>
          <a:xfrm>
            <a:off x="1005840" y="423367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Save and inspect</a:t>
            </a:r>
          </a:p>
        </p:txBody>
      </p:sp>
      <p:sp>
        <p:nvSpPr>
          <p:cNvPr id="17" name="TextBox 16"/>
          <p:cNvSpPr txBox="1"/>
          <p:nvPr/>
        </p:nvSpPr>
        <p:spPr>
          <a:xfrm>
            <a:off x="1005840" y="481888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Review the recorded cards, timestamp, and linked CVs.</a:t>
            </a:r>
          </a:p>
        </p:txBody>
      </p:sp>
      <p:sp>
        <p:nvSpPr>
          <p:cNvPr id="18" name="Rectangle 17"/>
          <p:cNvSpPr/>
          <p:nvPr/>
        </p:nvSpPr>
        <p:spPr>
          <a:xfrm>
            <a:off x="3694176" y="1682496"/>
            <a:ext cx="7964424" cy="4535424"/>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17-hiring.png" descr="17-hiring.png"/>
          <p:cNvPicPr>
            <a:picLocks noChangeAspect="1"/>
          </p:cNvPicPr>
          <p:nvPr/>
        </p:nvPicPr>
        <p:blipFill>
          <a:blip r:embed="rId3"/>
          <a:srcRect/>
          <a:stretch>
            <a:fillRect/>
          </a:stretch>
        </p:blipFill>
        <p:spPr>
          <a:xfrm>
            <a:off x="3758184" y="2696233"/>
            <a:ext cx="7836408" cy="2507948"/>
          </a:xfrm>
          <a:prstGeom prst="rect">
            <a:avLst/>
          </a:prstGeom>
        </p:spPr>
      </p:pic>
      <p:sp>
        <p:nvSpPr>
          <p:cNvPr id="20" name="Rounded Rectangle 19"/>
          <p:cNvSpPr/>
          <p:nvPr/>
        </p:nvSpPr>
        <p:spPr>
          <a:xfrm>
            <a:off x="585216" y="5596128"/>
            <a:ext cx="2816352" cy="585216"/>
          </a:xfrm>
          <a:prstGeom prst="roundRect">
            <a:avLst>
              <a:gd name="adj" fmla="val 12000"/>
            </a:avLst>
          </a:prstGeom>
          <a:solidFill>
            <a:srgbClr val="EC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687568"/>
            <a:ext cx="2560320" cy="457200"/>
          </a:xfrm>
          <a:prstGeom prst="rect">
            <a:avLst/>
          </a:prstGeom>
          <a:noFill/>
        </p:spPr>
        <p:txBody>
          <a:bodyPr wrap="square" lIns="0" rIns="0" tIns="0" bIns="0" anchor="t">
            <a:spAutoFit/>
          </a:bodyPr>
          <a:lstStyle/>
          <a:p>
            <a:pPr algn="l">
              <a:lnSpc>
                <a:spcPct val="110000"/>
              </a:lnSpc>
              <a:spcBef>
                <a:spcPts val="0"/>
              </a:spcBef>
              <a:spcAft>
                <a:spcPts val="300"/>
              </a:spcAft>
            </a:pPr>
            <a:r>
              <a:rPr sz="1350" b="0">
                <a:solidFill>
                  <a:srgbClr val="6D3FB0"/>
                </a:solidFill>
                <a:latin typeface="Arial"/>
              </a:rPr>
              <a:t>Backup #3 requires backup #2.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name="ai-settings">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a:lnSpc>
                <a:spcPct val="110000"/>
              </a:lnSpc>
              <a:spcBef>
                <a:spcPts val="0"/>
              </a:spcBef>
              <a:spcAft>
                <a:spcPts val="300"/>
              </a:spcAft>
            </a:pPr>
            <a:r>
              <a:rPr sz="1000" b="1">
                <a:solidFill>
                  <a:srgbClr val="6D3FB0"/>
                </a:solidFill>
                <a:latin typeface="Arial"/>
              </a:rPr>
              <a:t>QUMAA</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l">
              <a:lnSpc>
                <a:spcPct val="110000"/>
              </a:lnSpc>
              <a:spcBef>
                <a:spcPts val="0"/>
              </a:spcBef>
              <a:spcAft>
                <a:spcPts val="300"/>
              </a:spcAft>
            </a:pPr>
            <a:r>
              <a:rPr sz="3000" b="1">
                <a:solidFill>
                  <a:srgbClr val="2B2733"/>
                </a:solidFill>
                <a:latin typeface="Arial"/>
              </a:rPr>
              <a:t>Selecting an AI provider and model</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l">
              <a:lnSpc>
                <a:spcPct val="110000"/>
              </a:lnSpc>
              <a:spcBef>
                <a:spcPts val="0"/>
              </a:spcBef>
              <a:spcAft>
                <a:spcPts val="300"/>
              </a:spcAft>
            </a:pPr>
            <a:r>
              <a:rPr sz="1450" b="0">
                <a:solidFill>
                  <a:srgbClr val="716B7B"/>
                </a:solidFill>
                <a:latin typeface="Arial"/>
              </a:rPr>
              <a:t>AI reranking is optional and configured in Settings.</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a:lnSpc>
                <a:spcPct val="110000"/>
              </a:lnSpc>
              <a:spcBef>
                <a:spcPts val="0"/>
              </a:spcBef>
              <a:spcAft>
                <a:spcPts val="300"/>
              </a:spcAft>
            </a:pPr>
            <a:r>
              <a:rPr sz="919" b="0">
                <a:solidFill>
                  <a:srgbClr val="716B7B"/>
                </a:solidFill>
                <a:latin typeface="Arial"/>
              </a:rPr>
              <a:t>Actual application · Fictional demo data</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a:lnSpc>
                <a:spcPct val="110000"/>
              </a:lnSpc>
              <a:spcBef>
                <a:spcPts val="0"/>
              </a:spcBef>
              <a:spcAft>
                <a:spcPts val="300"/>
              </a:spcAft>
            </a:pPr>
            <a:r>
              <a:rPr sz="919" b="0">
                <a:solidFill>
                  <a:srgbClr val="716B7B"/>
                </a:solidFill>
                <a:latin typeface="Arial"/>
              </a:rPr>
              <a:t>Qumaa v0.1.0-beta.2   /   19</a:t>
            </a:r>
          </a:p>
        </p:txBody>
      </p:sp>
      <p:sp>
        <p:nvSpPr>
          <p:cNvPr id="9" name="Rounded Rectangle 8"/>
          <p:cNvSpPr/>
          <p:nvPr/>
        </p:nvSpPr>
        <p:spPr>
          <a:xfrm>
            <a:off x="603504" y="1792224"/>
            <a:ext cx="2980944" cy="2011680"/>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1965960"/>
            <a:ext cx="2560320" cy="338328"/>
          </a:xfrm>
          <a:prstGeom prst="rect">
            <a:avLst/>
          </a:prstGeom>
          <a:noFill/>
        </p:spPr>
        <p:txBody>
          <a:bodyPr wrap="square" lIns="0" rIns="0" tIns="0" bIns="0" anchor="t">
            <a:spAutoFit/>
          </a:bodyPr>
          <a:lstStyle/>
          <a:p>
            <a:pPr algn="l">
              <a:lnSpc>
                <a:spcPct val="110000"/>
              </a:lnSpc>
              <a:spcBef>
                <a:spcPts val="0"/>
              </a:spcBef>
              <a:spcAft>
                <a:spcPts val="300"/>
              </a:spcAft>
            </a:pPr>
            <a:r>
              <a:rPr sz="2300" b="1">
                <a:solidFill>
                  <a:srgbClr val="6D3FB0"/>
                </a:solidFill>
                <a:latin typeface="Arial"/>
              </a:rPr>
              <a:t>Anthropic</a:t>
            </a:r>
          </a:p>
        </p:txBody>
      </p:sp>
      <p:sp>
        <p:nvSpPr>
          <p:cNvPr id="11" name="TextBox 10"/>
          <p:cNvSpPr txBox="1"/>
          <p:nvPr/>
        </p:nvSpPr>
        <p:spPr>
          <a:xfrm>
            <a:off x="795528" y="2569464"/>
            <a:ext cx="2560320" cy="1078992"/>
          </a:xfrm>
          <a:prstGeom prst="rect">
            <a:avLst/>
          </a:prstGeom>
          <a:noFill/>
        </p:spPr>
        <p:txBody>
          <a:bodyPr wrap="square" lIns="0" rIns="0" tIns="0" bIns="0" anchor="t">
            <a:spAutoFit/>
          </a:bodyPr>
          <a:lstStyle/>
          <a:p>
            <a:pPr algn="l">
              <a:lnSpc>
                <a:spcPct val="110000"/>
              </a:lnSpc>
              <a:spcBef>
                <a:spcPts val="0"/>
              </a:spcBef>
              <a:spcAft>
                <a:spcPts val="300"/>
              </a:spcAft>
            </a:pPr>
            <a:r>
              <a:rPr sz="2000" b="0">
                <a:solidFill>
                  <a:srgbClr val="2B2733"/>
                </a:solidFill>
                <a:latin typeface="Arial"/>
              </a:rPr>
              <a:t>Sonnet 5</a:t>
            </a:r>
          </a:p>
          <a:p>
            <a:pPr algn="l">
              <a:lnSpc>
                <a:spcPct val="110000"/>
              </a:lnSpc>
              <a:spcBef>
                <a:spcPts val="0"/>
              </a:spcBef>
              <a:spcAft>
                <a:spcPts val="300"/>
              </a:spcAft>
            </a:pPr>
            <a:r>
              <a:rPr sz="2000" b="0">
                <a:solidFill>
                  <a:srgbClr val="2B2733"/>
                </a:solidFill>
                <a:latin typeface="Arial"/>
              </a:rPr>
              <a:t>Opus 5</a:t>
            </a:r>
          </a:p>
          <a:p>
            <a:pPr algn="l">
              <a:lnSpc>
                <a:spcPct val="110000"/>
              </a:lnSpc>
              <a:spcBef>
                <a:spcPts val="0"/>
              </a:spcBef>
              <a:spcAft>
                <a:spcPts val="300"/>
              </a:spcAft>
            </a:pPr>
            <a:r>
              <a:rPr sz="2000" b="0">
                <a:solidFill>
                  <a:srgbClr val="2B2733"/>
                </a:solidFill>
                <a:latin typeface="Arial"/>
              </a:rPr>
              <a:t>Fable 5.1</a:t>
            </a:r>
          </a:p>
        </p:txBody>
      </p:sp>
      <p:sp>
        <p:nvSpPr>
          <p:cNvPr id="12" name="Rounded Rectangle 11"/>
          <p:cNvSpPr/>
          <p:nvPr/>
        </p:nvSpPr>
        <p:spPr>
          <a:xfrm>
            <a:off x="603504" y="4023360"/>
            <a:ext cx="2980944" cy="2011680"/>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4197096"/>
            <a:ext cx="2560320" cy="338328"/>
          </a:xfrm>
          <a:prstGeom prst="rect">
            <a:avLst/>
          </a:prstGeom>
          <a:noFill/>
        </p:spPr>
        <p:txBody>
          <a:bodyPr wrap="square" lIns="0" rIns="0" tIns="0" bIns="0" anchor="t">
            <a:spAutoFit/>
          </a:bodyPr>
          <a:lstStyle/>
          <a:p>
            <a:pPr algn="l">
              <a:lnSpc>
                <a:spcPct val="110000"/>
              </a:lnSpc>
              <a:spcBef>
                <a:spcPts val="0"/>
              </a:spcBef>
              <a:spcAft>
                <a:spcPts val="300"/>
              </a:spcAft>
            </a:pPr>
            <a:r>
              <a:rPr sz="2300" b="1">
                <a:solidFill>
                  <a:srgbClr val="6D3FB0"/>
                </a:solidFill>
                <a:latin typeface="Arial"/>
              </a:rPr>
              <a:t>OpenAI</a:t>
            </a:r>
          </a:p>
        </p:txBody>
      </p:sp>
      <p:sp>
        <p:nvSpPr>
          <p:cNvPr id="14" name="TextBox 13"/>
          <p:cNvSpPr txBox="1"/>
          <p:nvPr/>
        </p:nvSpPr>
        <p:spPr>
          <a:xfrm>
            <a:off x="795528" y="4800600"/>
            <a:ext cx="2560320" cy="1078992"/>
          </a:xfrm>
          <a:prstGeom prst="rect">
            <a:avLst/>
          </a:prstGeom>
          <a:noFill/>
        </p:spPr>
        <p:txBody>
          <a:bodyPr wrap="square" lIns="0" rIns="0" tIns="0" bIns="0" anchor="t">
            <a:spAutoFit/>
          </a:bodyPr>
          <a:lstStyle/>
          <a:p>
            <a:pPr algn="l">
              <a:lnSpc>
                <a:spcPct val="110000"/>
              </a:lnSpc>
              <a:spcBef>
                <a:spcPts val="0"/>
              </a:spcBef>
              <a:spcAft>
                <a:spcPts val="300"/>
              </a:spcAft>
            </a:pPr>
            <a:r>
              <a:rPr sz="2000" b="0">
                <a:solidFill>
                  <a:srgbClr val="2B2733"/>
                </a:solidFill>
                <a:latin typeface="Arial"/>
              </a:rPr>
              <a:t>GPT-4o mini</a:t>
            </a:r>
          </a:p>
          <a:p>
            <a:pPr algn="l">
              <a:lnSpc>
                <a:spcPct val="110000"/>
              </a:lnSpc>
              <a:spcBef>
                <a:spcPts val="0"/>
              </a:spcBef>
              <a:spcAft>
                <a:spcPts val="300"/>
              </a:spcAft>
            </a:pPr>
            <a:r>
              <a:rPr sz="2000" b="0">
                <a:solidFill>
                  <a:srgbClr val="2B2733"/>
                </a:solidFill>
                <a:latin typeface="Arial"/>
              </a:rPr>
              <a:t>GPT-5.6</a:t>
            </a:r>
          </a:p>
          <a:p>
            <a:pPr algn="l">
              <a:lnSpc>
                <a:spcPct val="110000"/>
              </a:lnSpc>
              <a:spcBef>
                <a:spcPts val="0"/>
              </a:spcBef>
              <a:spcAft>
                <a:spcPts val="300"/>
              </a:spcAft>
            </a:pPr>
            <a:r>
              <a:rPr sz="2000" b="0">
                <a:solidFill>
                  <a:srgbClr val="2B2733"/>
                </a:solidFill>
                <a:latin typeface="Arial"/>
              </a:rPr>
              <a:t>GPT-6 Astra</a:t>
            </a:r>
          </a:p>
        </p:txBody>
      </p:sp>
      <p:sp>
        <p:nvSpPr>
          <p:cNvPr id="15" name="Rectangle 14"/>
          <p:cNvSpPr/>
          <p:nvPr/>
        </p:nvSpPr>
        <p:spPr>
          <a:xfrm>
            <a:off x="3822191" y="1792224"/>
            <a:ext cx="7799831" cy="3108960"/>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screenshot:18-ai-settings.png" descr="18-ai-settings.png"/>
          <p:cNvPicPr>
            <a:picLocks noChangeAspect="1"/>
          </p:cNvPicPr>
          <p:nvPr/>
        </p:nvPicPr>
        <p:blipFill>
          <a:blip r:embed="rId3"/>
          <a:srcRect/>
          <a:stretch>
            <a:fillRect/>
          </a:stretch>
        </p:blipFill>
        <p:spPr>
          <a:xfrm>
            <a:off x="3886200" y="2320243"/>
            <a:ext cx="7671815" cy="2052921"/>
          </a:xfrm>
          <a:prstGeom prst="rect">
            <a:avLst/>
          </a:prstGeom>
        </p:spPr>
      </p:pic>
      <p:sp>
        <p:nvSpPr>
          <p:cNvPr id="17" name="TextBox 16"/>
          <p:cNvSpPr txBox="1"/>
          <p:nvPr/>
        </p:nvSpPr>
        <p:spPr>
          <a:xfrm>
            <a:off x="3968496" y="5212080"/>
            <a:ext cx="7424927" cy="749808"/>
          </a:xfrm>
          <a:prstGeom prst="rect">
            <a:avLst/>
          </a:prstGeom>
          <a:noFill/>
        </p:spPr>
        <p:txBody>
          <a:bodyPr wrap="square" lIns="0" rIns="0" tIns="0" bIns="0" anchor="t">
            <a:spAutoFit/>
          </a:bodyPr>
          <a:lstStyle/>
          <a:p>
            <a:pPr algn="l">
              <a:lnSpc>
                <a:spcPct val="110000"/>
              </a:lnSpc>
              <a:spcBef>
                <a:spcPts val="0"/>
              </a:spcBef>
              <a:spcAft>
                <a:spcPts val="300"/>
              </a:spcAft>
            </a:pPr>
            <a:r>
              <a:rPr sz="2100" b="0">
                <a:solidFill>
                  <a:srgbClr val="3D3949"/>
                </a:solidFill>
                <a:latin typeface="Arial"/>
              </a:rPr>
              <a:t>Choose AI provider and AI model, add your own provider key, then enable reranking.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name="ai-review">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a:lnSpc>
                <a:spcPct val="110000"/>
              </a:lnSpc>
              <a:spcBef>
                <a:spcPts val="0"/>
              </a:spcBef>
              <a:spcAft>
                <a:spcPts val="300"/>
              </a:spcAft>
            </a:pPr>
            <a:r>
              <a:rPr sz="1000" b="1">
                <a:solidFill>
                  <a:srgbClr val="6D3FB0"/>
                </a:solidFill>
                <a:latin typeface="Arial"/>
              </a:rPr>
              <a:t>QUMAA</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l">
              <a:lnSpc>
                <a:spcPct val="110000"/>
              </a:lnSpc>
              <a:spcBef>
                <a:spcPts val="0"/>
              </a:spcBef>
              <a:spcAft>
                <a:spcPts val="300"/>
              </a:spcAft>
            </a:pPr>
            <a:r>
              <a:rPr sz="3000" b="1">
                <a:solidFill>
                  <a:srgbClr val="2B2733"/>
                </a:solidFill>
                <a:latin typeface="Arial"/>
              </a:rPr>
              <a:t>Reviewing data before AI reranking</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l">
              <a:lnSpc>
                <a:spcPct val="110000"/>
              </a:lnSpc>
              <a:spcBef>
                <a:spcPts val="0"/>
              </a:spcBef>
              <a:spcAft>
                <a:spcPts val="300"/>
              </a:spcAft>
            </a:pPr>
            <a:r>
              <a:rPr sz="1450" b="0">
                <a:solidFill>
                  <a:srgbClr val="716B7B"/>
                </a:solidFill>
                <a:latin typeface="Arial"/>
              </a:rPr>
              <a:t>The notice identifies the selected provider and the data to be sent.</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a:lnSpc>
                <a:spcPct val="110000"/>
              </a:lnSpc>
              <a:spcBef>
                <a:spcPts val="0"/>
              </a:spcBef>
              <a:spcAft>
                <a:spcPts val="300"/>
              </a:spcAft>
            </a:pPr>
            <a:r>
              <a:rPr sz="919" b="0">
                <a:solidFill>
                  <a:srgbClr val="716B7B"/>
                </a:solidFill>
                <a:latin typeface="Arial"/>
              </a:rPr>
              <a:t>Actual application · Fictional demo data</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a:lnSpc>
                <a:spcPct val="110000"/>
              </a:lnSpc>
              <a:spcBef>
                <a:spcPts val="0"/>
              </a:spcBef>
              <a:spcAft>
                <a:spcPts val="300"/>
              </a:spcAft>
            </a:pPr>
            <a:r>
              <a:rPr sz="919" b="0">
                <a:solidFill>
                  <a:srgbClr val="716B7B"/>
                </a:solidFill>
                <a:latin typeface="Arial"/>
              </a:rPr>
              <a:t>Qumaa v0.1.0-beta.2   /   20</a:t>
            </a:r>
          </a:p>
        </p:txBody>
      </p:sp>
      <p:sp>
        <p:nvSpPr>
          <p:cNvPr id="9" name="Oval 8"/>
          <p:cNvSpPr/>
          <p:nvPr/>
        </p:nvSpPr>
        <p:spPr>
          <a:xfrm>
            <a:off x="576072" y="1787651"/>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1</a:t>
            </a:r>
          </a:p>
        </p:txBody>
      </p:sp>
      <p:sp>
        <p:nvSpPr>
          <p:cNvPr id="10" name="TextBox 9"/>
          <p:cNvSpPr txBox="1"/>
          <p:nvPr/>
        </p:nvSpPr>
        <p:spPr>
          <a:xfrm>
            <a:off x="1005840" y="1764792"/>
            <a:ext cx="5148072" cy="585216"/>
          </a:xfrm>
          <a:prstGeom prst="rect">
            <a:avLst/>
          </a:prstGeom>
          <a:noFill/>
        </p:spPr>
        <p:txBody>
          <a:bodyPr wrap="square" lIns="0" rIns="0" tIns="0" bIns="0" anchor="t">
            <a:spAutoFit/>
          </a:bodyPr>
          <a:lstStyle/>
          <a:p>
            <a:pPr algn="l">
              <a:lnSpc>
                <a:spcPct val="110000"/>
              </a:lnSpc>
              <a:spcBef>
                <a:spcPts val="0"/>
              </a:spcBef>
              <a:spcAft>
                <a:spcPts val="300"/>
              </a:spcAft>
            </a:pPr>
            <a:r>
              <a:rPr sz="2100" b="1">
                <a:solidFill>
                  <a:srgbClr val="2B2733"/>
                </a:solidFill>
                <a:latin typeface="Arial"/>
              </a:rPr>
              <a:t>Start from results</a:t>
            </a:r>
          </a:p>
        </p:txBody>
      </p:sp>
      <p:sp>
        <p:nvSpPr>
          <p:cNvPr id="11" name="TextBox 10"/>
          <p:cNvSpPr txBox="1"/>
          <p:nvPr/>
        </p:nvSpPr>
        <p:spPr>
          <a:xfrm>
            <a:off x="1005840" y="2350008"/>
            <a:ext cx="5148072" cy="694944"/>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Choose Rerank with the selected model.</a:t>
            </a:r>
          </a:p>
        </p:txBody>
      </p:sp>
      <p:sp>
        <p:nvSpPr>
          <p:cNvPr id="12" name="Oval 11"/>
          <p:cNvSpPr/>
          <p:nvPr/>
        </p:nvSpPr>
        <p:spPr>
          <a:xfrm>
            <a:off x="576072" y="3031236"/>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2</a:t>
            </a:r>
          </a:p>
        </p:txBody>
      </p:sp>
      <p:sp>
        <p:nvSpPr>
          <p:cNvPr id="13" name="TextBox 12"/>
          <p:cNvSpPr txBox="1"/>
          <p:nvPr/>
        </p:nvSpPr>
        <p:spPr>
          <a:xfrm>
            <a:off x="1005840" y="3008376"/>
            <a:ext cx="5148072" cy="585216"/>
          </a:xfrm>
          <a:prstGeom prst="rect">
            <a:avLst/>
          </a:prstGeom>
          <a:noFill/>
        </p:spPr>
        <p:txBody>
          <a:bodyPr wrap="square" lIns="0" rIns="0" tIns="0" bIns="0" anchor="t">
            <a:spAutoFit/>
          </a:bodyPr>
          <a:lstStyle/>
          <a:p>
            <a:pPr algn="l">
              <a:lnSpc>
                <a:spcPct val="110000"/>
              </a:lnSpc>
              <a:spcBef>
                <a:spcPts val="0"/>
              </a:spcBef>
              <a:spcAft>
                <a:spcPts val="300"/>
              </a:spcAft>
            </a:pPr>
            <a:r>
              <a:rPr sz="2100" b="1">
                <a:solidFill>
                  <a:srgbClr val="2B2733"/>
                </a:solidFill>
                <a:latin typeface="Arial"/>
              </a:rPr>
              <a:t>Read the summary</a:t>
            </a:r>
          </a:p>
        </p:txBody>
      </p:sp>
      <p:sp>
        <p:nvSpPr>
          <p:cNvPr id="14" name="TextBox 13"/>
          <p:cNvSpPr txBox="1"/>
          <p:nvPr/>
        </p:nvSpPr>
        <p:spPr>
          <a:xfrm>
            <a:off x="1005840" y="3593592"/>
            <a:ext cx="5148072" cy="694944"/>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Open the eye icon, See exported data, for request details.</a:t>
            </a:r>
          </a:p>
        </p:txBody>
      </p:sp>
      <p:sp>
        <p:nvSpPr>
          <p:cNvPr id="15" name="Oval 14"/>
          <p:cNvSpPr/>
          <p:nvPr/>
        </p:nvSpPr>
        <p:spPr>
          <a:xfrm>
            <a:off x="576072" y="4274820"/>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3</a:t>
            </a:r>
          </a:p>
        </p:txBody>
      </p:sp>
      <p:sp>
        <p:nvSpPr>
          <p:cNvPr id="16" name="TextBox 15"/>
          <p:cNvSpPr txBox="1"/>
          <p:nvPr/>
        </p:nvSpPr>
        <p:spPr>
          <a:xfrm>
            <a:off x="1005840" y="4251960"/>
            <a:ext cx="5148072" cy="585216"/>
          </a:xfrm>
          <a:prstGeom prst="rect">
            <a:avLst/>
          </a:prstGeom>
          <a:noFill/>
        </p:spPr>
        <p:txBody>
          <a:bodyPr wrap="square" lIns="0" rIns="0" tIns="0" bIns="0" anchor="t">
            <a:spAutoFit/>
          </a:bodyPr>
          <a:lstStyle/>
          <a:p>
            <a:pPr algn="l">
              <a:lnSpc>
                <a:spcPct val="110000"/>
              </a:lnSpc>
              <a:spcBef>
                <a:spcPts val="0"/>
              </a:spcBef>
              <a:spcAft>
                <a:spcPts val="300"/>
              </a:spcAft>
            </a:pPr>
            <a:r>
              <a:rPr sz="2100" b="1">
                <a:solidFill>
                  <a:srgbClr val="2B2733"/>
                </a:solidFill>
                <a:latin typeface="Arial"/>
              </a:rPr>
              <a:t>Confirm the request</a:t>
            </a:r>
          </a:p>
        </p:txBody>
      </p:sp>
      <p:sp>
        <p:nvSpPr>
          <p:cNvPr id="17" name="TextBox 16"/>
          <p:cNvSpPr txBox="1"/>
          <p:nvPr/>
        </p:nvSpPr>
        <p:spPr>
          <a:xfrm>
            <a:off x="1005840" y="4837176"/>
            <a:ext cx="5148072" cy="694944"/>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Approve only after reviewing the information.</a:t>
            </a:r>
          </a:p>
        </p:txBody>
      </p:sp>
      <p:sp>
        <p:nvSpPr>
          <p:cNvPr id="18" name="Rectangle 17"/>
          <p:cNvSpPr/>
          <p:nvPr/>
        </p:nvSpPr>
        <p:spPr>
          <a:xfrm>
            <a:off x="6492240" y="1627632"/>
            <a:ext cx="5166360" cy="4590288"/>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19-ai-review.png" descr="19-ai-review.png"/>
          <p:cNvPicPr>
            <a:picLocks noChangeAspect="1"/>
          </p:cNvPicPr>
          <p:nvPr/>
        </p:nvPicPr>
        <p:blipFill>
          <a:blip r:embed="rId3"/>
          <a:srcRect/>
          <a:stretch>
            <a:fillRect/>
          </a:stretch>
        </p:blipFill>
        <p:spPr>
          <a:xfrm>
            <a:off x="6556248" y="2621203"/>
            <a:ext cx="5038344" cy="2603144"/>
          </a:xfrm>
          <a:prstGeom prst="rect">
            <a:avLst/>
          </a:prstGeom>
        </p:spPr>
      </p:pic>
      <p:sp>
        <p:nvSpPr>
          <p:cNvPr id="20" name="Rounded Rectangle 19"/>
          <p:cNvSpPr/>
          <p:nvPr/>
        </p:nvSpPr>
        <p:spPr>
          <a:xfrm>
            <a:off x="585216" y="5596128"/>
            <a:ext cx="5577840" cy="585216"/>
          </a:xfrm>
          <a:prstGeom prst="roundRect">
            <a:avLst>
              <a:gd name="adj" fmla="val 12000"/>
            </a:avLst>
          </a:prstGeom>
          <a:solidFill>
            <a:srgbClr val="EC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687568"/>
            <a:ext cx="5321807" cy="457200"/>
          </a:xfrm>
          <a:prstGeom prst="rect">
            <a:avLst/>
          </a:prstGeom>
          <a:noFill/>
        </p:spPr>
        <p:txBody>
          <a:bodyPr wrap="square" lIns="0" rIns="0" tIns="0" bIns="0" anchor="t">
            <a:spAutoFit/>
          </a:bodyPr>
          <a:lstStyle/>
          <a:p>
            <a:pPr algn="l">
              <a:lnSpc>
                <a:spcPct val="110000"/>
              </a:lnSpc>
              <a:spcBef>
                <a:spcPts val="0"/>
              </a:spcBef>
              <a:spcAft>
                <a:spcPts val="300"/>
              </a:spcAft>
            </a:pPr>
            <a:r>
              <a:rPr sz="1400" b="0">
                <a:solidFill>
                  <a:srgbClr val="6D3FB0"/>
                </a:solidFill>
                <a:latin typeface="Arial"/>
              </a:rPr>
              <a:t>Each rerank requires confirmation before sending.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name="ai-workflow">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a:lnSpc>
                <a:spcPct val="110000"/>
              </a:lnSpc>
              <a:spcBef>
                <a:spcPts val="0"/>
              </a:spcBef>
              <a:spcAft>
                <a:spcPts val="300"/>
              </a:spcAft>
            </a:pPr>
            <a:r>
              <a:rPr sz="1000" b="1">
                <a:solidFill>
                  <a:srgbClr val="6D3FB0"/>
                </a:solidFill>
                <a:latin typeface="Arial"/>
              </a:rPr>
              <a:t>QUMAA</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l">
              <a:lnSpc>
                <a:spcPct val="110000"/>
              </a:lnSpc>
              <a:spcBef>
                <a:spcPts val="0"/>
              </a:spcBef>
              <a:spcAft>
                <a:spcPts val="300"/>
              </a:spcAft>
            </a:pPr>
            <a:r>
              <a:rPr sz="3000" b="1">
                <a:solidFill>
                  <a:srgbClr val="2B2733"/>
                </a:solidFill>
                <a:latin typeface="Arial"/>
              </a:rPr>
              <a:t>Understanding an AI rerank</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l">
              <a:lnSpc>
                <a:spcPct val="110000"/>
              </a:lnSpc>
              <a:spcBef>
                <a:spcPts val="0"/>
              </a:spcBef>
              <a:spcAft>
                <a:spcPts val="300"/>
              </a:spcAft>
            </a:pPr>
            <a:r>
              <a:rPr sz="1450" b="0">
                <a:solidFill>
                  <a:srgbClr val="716B7B"/>
                </a:solidFill>
                <a:latin typeface="Arial"/>
              </a:rPr>
              <a:t>The selected model reorders a limited candidate set using the supplied evidence.</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a:lnSpc>
                <a:spcPct val="110000"/>
              </a:lnSpc>
              <a:spcBef>
                <a:spcPts val="0"/>
              </a:spcBef>
              <a:spcAft>
                <a:spcPts val="300"/>
              </a:spcAft>
            </a:pPr>
            <a:r>
              <a:rPr sz="919" b="0">
                <a:solidFill>
                  <a:srgbClr val="716B7B"/>
                </a:solidFill>
                <a:latin typeface="Arial"/>
              </a:rPr>
              <a:t>AI reranking · Editable diagram</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a:lnSpc>
                <a:spcPct val="110000"/>
              </a:lnSpc>
              <a:spcBef>
                <a:spcPts val="0"/>
              </a:spcBef>
              <a:spcAft>
                <a:spcPts val="300"/>
              </a:spcAft>
            </a:pPr>
            <a:r>
              <a:rPr sz="919" b="0">
                <a:solidFill>
                  <a:srgbClr val="716B7B"/>
                </a:solidFill>
                <a:latin typeface="Arial"/>
              </a:rPr>
              <a:t>Qumaa v0.1.0-beta.2   /   21</a:t>
            </a:r>
          </a:p>
        </p:txBody>
      </p:sp>
      <p:sp>
        <p:nvSpPr>
          <p:cNvPr id="9" name="Rounded Rectangle 8"/>
          <p:cNvSpPr/>
          <p:nvPr/>
        </p:nvSpPr>
        <p:spPr>
          <a:xfrm>
            <a:off x="603504" y="1810512"/>
            <a:ext cx="3465576" cy="2286000"/>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002536"/>
            <a:ext cx="3063240" cy="475488"/>
          </a:xfrm>
          <a:prstGeom prst="rect">
            <a:avLst/>
          </a:prstGeom>
          <a:noFill/>
        </p:spPr>
        <p:txBody>
          <a:bodyPr wrap="square" lIns="0" rIns="0" tIns="0" bIns="0" anchor="t">
            <a:spAutoFit/>
          </a:bodyPr>
          <a:lstStyle/>
          <a:p>
            <a:pPr algn="l">
              <a:lnSpc>
                <a:spcPct val="110000"/>
              </a:lnSpc>
              <a:spcBef>
                <a:spcPts val="0"/>
              </a:spcBef>
              <a:spcAft>
                <a:spcPts val="300"/>
              </a:spcAft>
            </a:pPr>
            <a:r>
              <a:rPr sz="2300" b="1">
                <a:solidFill>
                  <a:srgbClr val="6D3FB0"/>
                </a:solidFill>
                <a:latin typeface="Arial"/>
              </a:rPr>
              <a:t>Local results</a:t>
            </a:r>
          </a:p>
        </p:txBody>
      </p:sp>
      <p:sp>
        <p:nvSpPr>
          <p:cNvPr id="11" name="TextBox 10"/>
          <p:cNvSpPr txBox="1"/>
          <p:nvPr/>
        </p:nvSpPr>
        <p:spPr>
          <a:xfrm>
            <a:off x="804672" y="2679192"/>
            <a:ext cx="3054096" cy="1252728"/>
          </a:xfrm>
          <a:prstGeom prst="rect">
            <a:avLst/>
          </a:prstGeom>
          <a:noFill/>
        </p:spPr>
        <p:txBody>
          <a:bodyPr wrap="square" lIns="0" rIns="0" tIns="0" bIns="0" anchor="t">
            <a:spAutoFit/>
          </a:bodyPr>
          <a:lstStyle/>
          <a:p>
            <a:pPr algn="l">
              <a:lnSpc>
                <a:spcPct val="110000"/>
              </a:lnSpc>
              <a:spcBef>
                <a:spcPts val="0"/>
              </a:spcBef>
              <a:spcAft>
                <a:spcPts val="300"/>
              </a:spcAft>
            </a:pPr>
            <a:r>
              <a:rPr sz="1800" b="0">
                <a:solidFill>
                  <a:srgbClr val="2B2733"/>
                </a:solidFill>
                <a:latin typeface="Arial"/>
              </a:rPr>
              <a:t>The application prepares up to 15 candidates from the local search.</a:t>
            </a:r>
          </a:p>
        </p:txBody>
      </p:sp>
      <p:sp>
        <p:nvSpPr>
          <p:cNvPr id="12" name="Rounded Rectangle 11"/>
          <p:cNvSpPr/>
          <p:nvPr/>
        </p:nvSpPr>
        <p:spPr>
          <a:xfrm>
            <a:off x="4352544" y="1810512"/>
            <a:ext cx="3465576" cy="2286000"/>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2002536"/>
            <a:ext cx="3063240" cy="475488"/>
          </a:xfrm>
          <a:prstGeom prst="rect">
            <a:avLst/>
          </a:prstGeom>
          <a:noFill/>
        </p:spPr>
        <p:txBody>
          <a:bodyPr wrap="square" lIns="0" rIns="0" tIns="0" bIns="0" anchor="t">
            <a:spAutoFit/>
          </a:bodyPr>
          <a:lstStyle/>
          <a:p>
            <a:pPr algn="l">
              <a:lnSpc>
                <a:spcPct val="110000"/>
              </a:lnSpc>
              <a:spcBef>
                <a:spcPts val="0"/>
              </a:spcBef>
              <a:spcAft>
                <a:spcPts val="300"/>
              </a:spcAft>
            </a:pPr>
            <a:r>
              <a:rPr sz="2300" b="1">
                <a:solidFill>
                  <a:srgbClr val="6D3FB0"/>
                </a:solidFill>
                <a:latin typeface="Arial"/>
              </a:rPr>
              <a:t>Reviewed request</a:t>
            </a:r>
          </a:p>
        </p:txBody>
      </p:sp>
      <p:sp>
        <p:nvSpPr>
          <p:cNvPr id="14" name="TextBox 13"/>
          <p:cNvSpPr txBox="1"/>
          <p:nvPr/>
        </p:nvSpPr>
        <p:spPr>
          <a:xfrm>
            <a:off x="4553712" y="2679192"/>
            <a:ext cx="3054096" cy="1252728"/>
          </a:xfrm>
          <a:prstGeom prst="rect">
            <a:avLst/>
          </a:prstGeom>
          <a:noFill/>
        </p:spPr>
        <p:txBody>
          <a:bodyPr wrap="square" lIns="0" rIns="0" tIns="0" bIns="0" anchor="t">
            <a:spAutoFit/>
          </a:bodyPr>
          <a:lstStyle/>
          <a:p>
            <a:pPr algn="l">
              <a:lnSpc>
                <a:spcPct val="110000"/>
              </a:lnSpc>
              <a:spcBef>
                <a:spcPts val="0"/>
              </a:spcBef>
              <a:spcAft>
                <a:spcPts val="300"/>
              </a:spcAft>
            </a:pPr>
            <a:r>
              <a:rPr sz="1800" b="0">
                <a:solidFill>
                  <a:srgbClr val="2B2733"/>
                </a:solidFill>
                <a:latin typeface="Arial"/>
              </a:rPr>
              <a:t>After confirmation, the selected provider receives the posting and redacted passages.</a:t>
            </a:r>
          </a:p>
        </p:txBody>
      </p:sp>
      <p:sp>
        <p:nvSpPr>
          <p:cNvPr id="15" name="Rounded Rectangle 14"/>
          <p:cNvSpPr/>
          <p:nvPr/>
        </p:nvSpPr>
        <p:spPr>
          <a:xfrm>
            <a:off x="8101583" y="1810512"/>
            <a:ext cx="3465576" cy="2286000"/>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2752" y="2002536"/>
            <a:ext cx="3063240" cy="475488"/>
          </a:xfrm>
          <a:prstGeom prst="rect">
            <a:avLst/>
          </a:prstGeom>
          <a:noFill/>
        </p:spPr>
        <p:txBody>
          <a:bodyPr wrap="square" lIns="0" rIns="0" tIns="0" bIns="0" anchor="t">
            <a:spAutoFit/>
          </a:bodyPr>
          <a:lstStyle/>
          <a:p>
            <a:pPr algn="l">
              <a:lnSpc>
                <a:spcPct val="110000"/>
              </a:lnSpc>
              <a:spcBef>
                <a:spcPts val="0"/>
              </a:spcBef>
              <a:spcAft>
                <a:spcPts val="300"/>
              </a:spcAft>
            </a:pPr>
            <a:r>
              <a:rPr sz="2300" b="1">
                <a:solidFill>
                  <a:srgbClr val="6D3FB0"/>
                </a:solidFill>
                <a:latin typeface="Arial"/>
              </a:rPr>
              <a:t>Returned assessment</a:t>
            </a:r>
          </a:p>
        </p:txBody>
      </p:sp>
      <p:sp>
        <p:nvSpPr>
          <p:cNvPr id="17" name="TextBox 16"/>
          <p:cNvSpPr txBox="1"/>
          <p:nvPr/>
        </p:nvSpPr>
        <p:spPr>
          <a:xfrm>
            <a:off x="8302752" y="2679192"/>
            <a:ext cx="3054096" cy="1252728"/>
          </a:xfrm>
          <a:prstGeom prst="rect">
            <a:avLst/>
          </a:prstGeom>
          <a:noFill/>
        </p:spPr>
        <p:txBody>
          <a:bodyPr wrap="square" lIns="0" rIns="0" tIns="0" bIns="0" anchor="t">
            <a:spAutoFit/>
          </a:bodyPr>
          <a:lstStyle/>
          <a:p>
            <a:pPr algn="l">
              <a:lnSpc>
                <a:spcPct val="110000"/>
              </a:lnSpc>
              <a:spcBef>
                <a:spcPts val="0"/>
              </a:spcBef>
              <a:spcAft>
                <a:spcPts val="300"/>
              </a:spcAft>
            </a:pPr>
            <a:r>
              <a:rPr sz="1800" b="0">
                <a:solidFill>
                  <a:srgbClr val="2B2733"/>
                </a:solidFill>
                <a:latin typeface="Arial"/>
              </a:rPr>
              <a:t>The model returns an order and a short evidence-based reason for each candidate.</a:t>
            </a:r>
          </a:p>
        </p:txBody>
      </p:sp>
      <p:cxnSp>
        <p:nvCxnSpPr>
          <p:cNvPr id="18" name="Connector 17"/>
          <p:cNvCxnSpPr/>
          <p:nvPr/>
        </p:nvCxnSpPr>
        <p:spPr>
          <a:xfrm>
            <a:off x="4087368" y="2852928"/>
            <a:ext cx="237744" cy="0"/>
          </a:xfrm>
          <a:prstGeom prst="line">
            <a:avLst/>
          </a:prstGeom>
          <a:ln w="22860">
            <a:solidFill>
              <a:srgbClr val="6D3FB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836408" y="2852928"/>
            <a:ext cx="237744" cy="0"/>
          </a:xfrm>
          <a:prstGeom prst="line">
            <a:avLst/>
          </a:prstGeom>
          <a:ln w="22860">
            <a:solidFill>
              <a:srgbClr val="6D3FB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22376" y="4379976"/>
            <a:ext cx="5157216" cy="374904"/>
          </a:xfrm>
          <a:prstGeom prst="rect">
            <a:avLst/>
          </a:prstGeom>
          <a:noFill/>
        </p:spPr>
        <p:txBody>
          <a:bodyPr wrap="square" lIns="0" rIns="0" tIns="0" bIns="0" anchor="t">
            <a:spAutoFit/>
          </a:bodyPr>
          <a:lstStyle/>
          <a:p>
            <a:pPr algn="l">
              <a:lnSpc>
                <a:spcPct val="110000"/>
              </a:lnSpc>
              <a:spcBef>
                <a:spcPts val="0"/>
              </a:spcBef>
              <a:spcAft>
                <a:spcPts val="300"/>
              </a:spcAft>
            </a:pPr>
            <a:r>
              <a:rPr sz="2200" b="1">
                <a:solidFill>
                  <a:srgbClr val="2B2733"/>
                </a:solidFill>
                <a:latin typeface="Arial"/>
              </a:rPr>
              <a:t>Assessment basis</a:t>
            </a:r>
          </a:p>
        </p:txBody>
      </p:sp>
      <p:sp>
        <p:nvSpPr>
          <p:cNvPr id="21" name="TextBox 20"/>
          <p:cNvSpPr txBox="1"/>
          <p:nvPr/>
        </p:nvSpPr>
        <p:spPr>
          <a:xfrm>
            <a:off x="722376" y="4937760"/>
            <a:ext cx="5038344" cy="1078992"/>
          </a:xfrm>
          <a:prstGeom prst="rect">
            <a:avLst/>
          </a:prstGeom>
          <a:noFill/>
        </p:spPr>
        <p:txBody>
          <a:bodyPr wrap="square" lIns="0" rIns="0" tIns="0" bIns="0" anchor="t">
            <a:spAutoFit/>
          </a:bodyPr>
          <a:lstStyle/>
          <a:p>
            <a:pPr algn="l">
              <a:lnSpc>
                <a:spcPct val="110000"/>
              </a:lnSpc>
              <a:spcBef>
                <a:spcPts val="0"/>
              </a:spcBef>
              <a:spcAft>
                <a:spcPts val="300"/>
              </a:spcAft>
            </a:pPr>
            <a:r>
              <a:rPr sz="2000" b="0">
                <a:solidFill>
                  <a:srgbClr val="3D3949"/>
                </a:solidFill>
                <a:latin typeface="Arial"/>
              </a:rPr>
              <a:t>Relevant experience, demonstrated responsibility, and evidence for job requirements.</a:t>
            </a:r>
          </a:p>
        </p:txBody>
      </p:sp>
      <p:sp>
        <p:nvSpPr>
          <p:cNvPr id="22" name="TextBox 21"/>
          <p:cNvSpPr txBox="1"/>
          <p:nvPr/>
        </p:nvSpPr>
        <p:spPr>
          <a:xfrm>
            <a:off x="6300216" y="4379976"/>
            <a:ext cx="5065776" cy="374904"/>
          </a:xfrm>
          <a:prstGeom prst="rect">
            <a:avLst/>
          </a:prstGeom>
          <a:noFill/>
        </p:spPr>
        <p:txBody>
          <a:bodyPr wrap="square" lIns="0" rIns="0" tIns="0" bIns="0" anchor="t">
            <a:spAutoFit/>
          </a:bodyPr>
          <a:lstStyle/>
          <a:p>
            <a:pPr algn="l">
              <a:lnSpc>
                <a:spcPct val="110000"/>
              </a:lnSpc>
              <a:spcBef>
                <a:spcPts val="0"/>
              </a:spcBef>
              <a:spcAft>
                <a:spcPts val="300"/>
              </a:spcAft>
            </a:pPr>
            <a:r>
              <a:rPr sz="2200" b="1">
                <a:solidFill>
                  <a:srgbClr val="2B2733"/>
                </a:solidFill>
                <a:latin typeface="Arial"/>
              </a:rPr>
              <a:t>Reading the result</a:t>
            </a:r>
          </a:p>
        </p:txBody>
      </p:sp>
      <p:sp>
        <p:nvSpPr>
          <p:cNvPr id="23" name="TextBox 22"/>
          <p:cNvSpPr txBox="1"/>
          <p:nvPr/>
        </p:nvSpPr>
        <p:spPr>
          <a:xfrm>
            <a:off x="6300216" y="4937760"/>
            <a:ext cx="5029200" cy="1088136"/>
          </a:xfrm>
          <a:prstGeom prst="rect">
            <a:avLst/>
          </a:prstGeom>
          <a:noFill/>
        </p:spPr>
        <p:txBody>
          <a:bodyPr wrap="square" lIns="0" rIns="0" tIns="0" bIns="0" anchor="t">
            <a:spAutoFit/>
          </a:bodyPr>
          <a:lstStyle/>
          <a:p>
            <a:pPr algn="l">
              <a:lnSpc>
                <a:spcPct val="110000"/>
              </a:lnSpc>
              <a:spcBef>
                <a:spcPts val="0"/>
              </a:spcBef>
              <a:spcAft>
                <a:spcPts val="300"/>
              </a:spcAft>
            </a:pPr>
            <a:r>
              <a:rPr sz="2000" b="0">
                <a:solidFill>
                  <a:srgbClr val="3D3949"/>
                </a:solidFill>
                <a:latin typeface="Arial"/>
              </a:rPr>
              <a:t>Candidate membership and local scores remain unchanged. The model label identifies who produced the order.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name="watched-folder">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a:lnSpc>
                <a:spcPct val="110000"/>
              </a:lnSpc>
              <a:spcBef>
                <a:spcPts val="0"/>
              </a:spcBef>
              <a:spcAft>
                <a:spcPts val="300"/>
              </a:spcAft>
            </a:pPr>
            <a:r>
              <a:rPr sz="1000" b="1">
                <a:solidFill>
                  <a:srgbClr val="6D3FB0"/>
                </a:solidFill>
                <a:latin typeface="Arial"/>
              </a:rPr>
              <a:t>QUMAA</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l">
              <a:lnSpc>
                <a:spcPct val="110000"/>
              </a:lnSpc>
              <a:spcBef>
                <a:spcPts val="0"/>
              </a:spcBef>
              <a:spcAft>
                <a:spcPts val="300"/>
              </a:spcAft>
            </a:pPr>
            <a:r>
              <a:rPr sz="3000" b="1">
                <a:solidFill>
                  <a:srgbClr val="2B2733"/>
                </a:solidFill>
                <a:latin typeface="Arial"/>
              </a:rPr>
              <a:t>Using a watched folder</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l">
              <a:lnSpc>
                <a:spcPct val="110000"/>
              </a:lnSpc>
              <a:spcBef>
                <a:spcPts val="0"/>
              </a:spcBef>
              <a:spcAft>
                <a:spcPts val="300"/>
              </a:spcAft>
            </a:pPr>
            <a:r>
              <a:rPr sz="1450" b="0">
                <a:solidFill>
                  <a:srgbClr val="716B7B"/>
                </a:solidFill>
                <a:latin typeface="Arial"/>
              </a:rPr>
              <a:t>Import incoming CVs from a selected local folder while Qumaa is running.</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a:lnSpc>
                <a:spcPct val="110000"/>
              </a:lnSpc>
              <a:spcBef>
                <a:spcPts val="0"/>
              </a:spcBef>
              <a:spcAft>
                <a:spcPts val="300"/>
              </a:spcAft>
            </a:pPr>
            <a:r>
              <a:rPr sz="919" b="0">
                <a:solidFill>
                  <a:srgbClr val="716B7B"/>
                </a:solidFill>
                <a:latin typeface="Arial"/>
              </a:rPr>
              <a:t>Actual application · Fictional demo data</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a:lnSpc>
                <a:spcPct val="110000"/>
              </a:lnSpc>
              <a:spcBef>
                <a:spcPts val="0"/>
              </a:spcBef>
              <a:spcAft>
                <a:spcPts val="300"/>
              </a:spcAft>
            </a:pPr>
            <a:r>
              <a:rPr sz="919" b="0">
                <a:solidFill>
                  <a:srgbClr val="716B7B"/>
                </a:solidFill>
                <a:latin typeface="Arial"/>
              </a:rPr>
              <a:t>Qumaa v0.1.0-beta.2   /   22</a:t>
            </a:r>
          </a:p>
        </p:txBody>
      </p:sp>
      <p:sp>
        <p:nvSpPr>
          <p:cNvPr id="9" name="Oval 8"/>
          <p:cNvSpPr/>
          <p:nvPr/>
        </p:nvSpPr>
        <p:spPr>
          <a:xfrm>
            <a:off x="576072" y="1787651"/>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1</a:t>
            </a:r>
          </a:p>
        </p:txBody>
      </p:sp>
      <p:sp>
        <p:nvSpPr>
          <p:cNvPr id="10" name="TextBox 9"/>
          <p:cNvSpPr txBox="1"/>
          <p:nvPr/>
        </p:nvSpPr>
        <p:spPr>
          <a:xfrm>
            <a:off x="1005840" y="176479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Open Settings</a:t>
            </a:r>
          </a:p>
        </p:txBody>
      </p:sp>
      <p:sp>
        <p:nvSpPr>
          <p:cNvPr id="11" name="TextBox 10"/>
          <p:cNvSpPr txBox="1"/>
          <p:nvPr/>
        </p:nvSpPr>
        <p:spPr>
          <a:xfrm>
            <a:off x="1005840" y="235000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Find the Watched folder section.</a:t>
            </a:r>
          </a:p>
        </p:txBody>
      </p:sp>
      <p:sp>
        <p:nvSpPr>
          <p:cNvPr id="12" name="Oval 11"/>
          <p:cNvSpPr/>
          <p:nvPr/>
        </p:nvSpPr>
        <p:spPr>
          <a:xfrm>
            <a:off x="576072" y="302209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2</a:t>
            </a:r>
          </a:p>
        </p:txBody>
      </p:sp>
      <p:sp>
        <p:nvSpPr>
          <p:cNvPr id="13" name="TextBox 12"/>
          <p:cNvSpPr txBox="1"/>
          <p:nvPr/>
        </p:nvSpPr>
        <p:spPr>
          <a:xfrm>
            <a:off x="1005840" y="299923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Choose the folder</a:t>
            </a:r>
          </a:p>
        </p:txBody>
      </p:sp>
      <p:sp>
        <p:nvSpPr>
          <p:cNvPr id="14" name="TextBox 13"/>
          <p:cNvSpPr txBox="1"/>
          <p:nvPr/>
        </p:nvSpPr>
        <p:spPr>
          <a:xfrm>
            <a:off x="1005840" y="358444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Select the local folder used for incoming CVs.</a:t>
            </a:r>
          </a:p>
        </p:txBody>
      </p:sp>
      <p:sp>
        <p:nvSpPr>
          <p:cNvPr id="15" name="Oval 14"/>
          <p:cNvSpPr/>
          <p:nvPr/>
        </p:nvSpPr>
        <p:spPr>
          <a:xfrm>
            <a:off x="576072" y="425653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3</a:t>
            </a:r>
          </a:p>
        </p:txBody>
      </p:sp>
      <p:sp>
        <p:nvSpPr>
          <p:cNvPr id="16" name="TextBox 15"/>
          <p:cNvSpPr txBox="1"/>
          <p:nvPr/>
        </p:nvSpPr>
        <p:spPr>
          <a:xfrm>
            <a:off x="1005840" y="423367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Review imports</a:t>
            </a:r>
          </a:p>
        </p:txBody>
      </p:sp>
      <p:sp>
        <p:nvSpPr>
          <p:cNvPr id="17" name="TextBox 16"/>
          <p:cNvSpPr txBox="1"/>
          <p:nvPr/>
        </p:nvSpPr>
        <p:spPr>
          <a:xfrm>
            <a:off x="1005840" y="481888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Check Library and refresh relevant saved jobs.</a:t>
            </a:r>
          </a:p>
        </p:txBody>
      </p:sp>
      <p:sp>
        <p:nvSpPr>
          <p:cNvPr id="18" name="Rectangle 17"/>
          <p:cNvSpPr/>
          <p:nvPr/>
        </p:nvSpPr>
        <p:spPr>
          <a:xfrm>
            <a:off x="3694176" y="1682496"/>
            <a:ext cx="7964424" cy="4535424"/>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14-watched-folder.png" descr="14-watched-folder.png"/>
          <p:cNvPicPr>
            <a:picLocks noChangeAspect="1"/>
          </p:cNvPicPr>
          <p:nvPr/>
        </p:nvPicPr>
        <p:blipFill>
          <a:blip r:embed="rId3"/>
          <a:srcRect/>
          <a:stretch>
            <a:fillRect/>
          </a:stretch>
        </p:blipFill>
        <p:spPr>
          <a:xfrm>
            <a:off x="3758184" y="3304429"/>
            <a:ext cx="7836408" cy="1291556"/>
          </a:xfrm>
          <a:prstGeom prst="rect">
            <a:avLst/>
          </a:prstGeom>
        </p:spPr>
      </p:pic>
      <p:sp>
        <p:nvSpPr>
          <p:cNvPr id="20" name="Rounded Rectangle 19"/>
          <p:cNvSpPr/>
          <p:nvPr/>
        </p:nvSpPr>
        <p:spPr>
          <a:xfrm>
            <a:off x="585216" y="5596128"/>
            <a:ext cx="2816352" cy="585216"/>
          </a:xfrm>
          <a:prstGeom prst="roundRect">
            <a:avLst>
              <a:gd name="adj" fmla="val 12000"/>
            </a:avLst>
          </a:prstGeom>
          <a:solidFill>
            <a:srgbClr val="EC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687568"/>
            <a:ext cx="2560320" cy="457200"/>
          </a:xfrm>
          <a:prstGeom prst="rect">
            <a:avLst/>
          </a:prstGeom>
          <a:noFill/>
        </p:spPr>
        <p:txBody>
          <a:bodyPr wrap="square" lIns="0" rIns="0" tIns="0" bIns="0" anchor="t">
            <a:spAutoFit/>
          </a:bodyPr>
          <a:lstStyle/>
          <a:p>
            <a:pPr algn="l">
              <a:lnSpc>
                <a:spcPct val="110000"/>
              </a:lnSpc>
              <a:spcBef>
                <a:spcPts val="0"/>
              </a:spcBef>
              <a:spcAft>
                <a:spcPts val="300"/>
              </a:spcAft>
            </a:pPr>
            <a:r>
              <a:rPr sz="1350" b="0">
                <a:solidFill>
                  <a:srgbClr val="6D3FB0"/>
                </a:solidFill>
                <a:latin typeface="Arial"/>
              </a:rPr>
              <a:t>Refresh saved matches after new imports.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name="backups">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a:lnSpc>
                <a:spcPct val="110000"/>
              </a:lnSpc>
              <a:spcBef>
                <a:spcPts val="0"/>
              </a:spcBef>
              <a:spcAft>
                <a:spcPts val="300"/>
              </a:spcAft>
            </a:pPr>
            <a:r>
              <a:rPr sz="1000" b="1">
                <a:solidFill>
                  <a:srgbClr val="6D3FB0"/>
                </a:solidFill>
                <a:latin typeface="Arial"/>
              </a:rPr>
              <a:t>QUMAA</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l">
              <a:lnSpc>
                <a:spcPct val="110000"/>
              </a:lnSpc>
              <a:spcBef>
                <a:spcPts val="0"/>
              </a:spcBef>
              <a:spcAft>
                <a:spcPts val="300"/>
              </a:spcAft>
            </a:pPr>
            <a:r>
              <a:rPr sz="3000" b="1">
                <a:solidFill>
                  <a:srgbClr val="2B2733"/>
                </a:solidFill>
                <a:latin typeface="Arial"/>
              </a:rPr>
              <a:t>Backing up and restoring records</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l">
              <a:lnSpc>
                <a:spcPct val="110000"/>
              </a:lnSpc>
              <a:spcBef>
                <a:spcPts val="0"/>
              </a:spcBef>
              <a:spcAft>
                <a:spcPts val="300"/>
              </a:spcAft>
            </a:pPr>
            <a:r>
              <a:rPr sz="1450" b="0">
                <a:solidFill>
                  <a:srgbClr val="716B7B"/>
                </a:solidFill>
                <a:latin typeface="Arial"/>
              </a:rPr>
              <a:t>Use Settings to create or restore a portable library backup.</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a:lnSpc>
                <a:spcPct val="110000"/>
              </a:lnSpc>
              <a:spcBef>
                <a:spcPts val="0"/>
              </a:spcBef>
              <a:spcAft>
                <a:spcPts val="300"/>
              </a:spcAft>
            </a:pPr>
            <a:r>
              <a:rPr sz="919" b="0">
                <a:solidFill>
                  <a:srgbClr val="716B7B"/>
                </a:solidFill>
                <a:latin typeface="Arial"/>
              </a:rPr>
              <a:t>Actual application · Fictional demo data</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a:lnSpc>
                <a:spcPct val="110000"/>
              </a:lnSpc>
              <a:spcBef>
                <a:spcPts val="0"/>
              </a:spcBef>
              <a:spcAft>
                <a:spcPts val="300"/>
              </a:spcAft>
            </a:pPr>
            <a:r>
              <a:rPr sz="919" b="0">
                <a:solidFill>
                  <a:srgbClr val="716B7B"/>
                </a:solidFill>
                <a:latin typeface="Arial"/>
              </a:rPr>
              <a:t>Qumaa v0.1.0-beta.2   /   23</a:t>
            </a:r>
          </a:p>
        </p:txBody>
      </p:sp>
      <p:sp>
        <p:nvSpPr>
          <p:cNvPr id="9" name="Oval 8"/>
          <p:cNvSpPr/>
          <p:nvPr/>
        </p:nvSpPr>
        <p:spPr>
          <a:xfrm>
            <a:off x="576072" y="1787651"/>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1</a:t>
            </a:r>
          </a:p>
        </p:txBody>
      </p:sp>
      <p:sp>
        <p:nvSpPr>
          <p:cNvPr id="10" name="TextBox 9"/>
          <p:cNvSpPr txBox="1"/>
          <p:nvPr/>
        </p:nvSpPr>
        <p:spPr>
          <a:xfrm>
            <a:off x="1005840" y="176479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Create a backup</a:t>
            </a:r>
          </a:p>
        </p:txBody>
      </p:sp>
      <p:sp>
        <p:nvSpPr>
          <p:cNvPr id="11" name="TextBox 10"/>
          <p:cNvSpPr txBox="1"/>
          <p:nvPr/>
        </p:nvSpPr>
        <p:spPr>
          <a:xfrm>
            <a:off x="1005840" y="235000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In Library &amp; backups, select Back up.</a:t>
            </a:r>
          </a:p>
        </p:txBody>
      </p:sp>
      <p:sp>
        <p:nvSpPr>
          <p:cNvPr id="12" name="Oval 11"/>
          <p:cNvSpPr/>
          <p:nvPr/>
        </p:nvSpPr>
        <p:spPr>
          <a:xfrm>
            <a:off x="576072" y="302209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2</a:t>
            </a:r>
          </a:p>
        </p:txBody>
      </p:sp>
      <p:sp>
        <p:nvSpPr>
          <p:cNvPr id="13" name="TextBox 12"/>
          <p:cNvSpPr txBox="1"/>
          <p:nvPr/>
        </p:nvSpPr>
        <p:spPr>
          <a:xfrm>
            <a:off x="1005840" y="299923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Store it securely</a:t>
            </a:r>
          </a:p>
        </p:txBody>
      </p:sp>
      <p:sp>
        <p:nvSpPr>
          <p:cNvPr id="14" name="TextBox 13"/>
          <p:cNvSpPr txBox="1"/>
          <p:nvPr/>
        </p:nvSpPr>
        <p:spPr>
          <a:xfrm>
            <a:off x="1005840" y="358444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Backups contain candidate records.</a:t>
            </a:r>
          </a:p>
        </p:txBody>
      </p:sp>
      <p:sp>
        <p:nvSpPr>
          <p:cNvPr id="15" name="Oval 14"/>
          <p:cNvSpPr/>
          <p:nvPr/>
        </p:nvSpPr>
        <p:spPr>
          <a:xfrm>
            <a:off x="576072" y="4256532"/>
            <a:ext cx="310896" cy="310896"/>
          </a:xfrm>
          <a:prstGeom prst="ellipse">
            <a:avLst/>
          </a:prstGeom>
          <a:solidFill>
            <a:srgbClr val="6D3FB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spcBef>
                <a:spcPts val="0"/>
              </a:spcBef>
              <a:spcAft>
                <a:spcPts val="0"/>
              </a:spcAft>
            </a:pPr>
            <a:r>
              <a:rPr sz="1100" b="1">
                <a:solidFill>
                  <a:srgbClr val="FFFFFF"/>
                </a:solidFill>
                <a:latin typeface="Arial"/>
              </a:rPr>
              <a:t>3</a:t>
            </a:r>
          </a:p>
        </p:txBody>
      </p:sp>
      <p:sp>
        <p:nvSpPr>
          <p:cNvPr id="16" name="TextBox 15"/>
          <p:cNvSpPr txBox="1"/>
          <p:nvPr/>
        </p:nvSpPr>
        <p:spPr>
          <a:xfrm>
            <a:off x="1005840" y="4233672"/>
            <a:ext cx="2386584" cy="585216"/>
          </a:xfrm>
          <a:prstGeom prst="rect">
            <a:avLst/>
          </a:prstGeom>
          <a:noFill/>
        </p:spPr>
        <p:txBody>
          <a:bodyPr wrap="square" lIns="0" rIns="0" tIns="0" bIns="0" anchor="t">
            <a:spAutoFit/>
          </a:bodyPr>
          <a:lstStyle/>
          <a:p>
            <a:pPr algn="l">
              <a:lnSpc>
                <a:spcPct val="110000"/>
              </a:lnSpc>
              <a:spcBef>
                <a:spcPts val="0"/>
              </a:spcBef>
              <a:spcAft>
                <a:spcPts val="300"/>
              </a:spcAft>
            </a:pPr>
            <a:r>
              <a:rPr sz="1900" b="1">
                <a:solidFill>
                  <a:srgbClr val="2B2733"/>
                </a:solidFill>
                <a:latin typeface="Arial"/>
              </a:rPr>
              <a:t>Restore when needed</a:t>
            </a:r>
          </a:p>
        </p:txBody>
      </p:sp>
      <p:sp>
        <p:nvSpPr>
          <p:cNvPr id="17" name="TextBox 16"/>
          <p:cNvSpPr txBox="1"/>
          <p:nvPr/>
        </p:nvSpPr>
        <p:spPr>
          <a:xfrm>
            <a:off x="1005840" y="4818888"/>
            <a:ext cx="2386584"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0">
                <a:solidFill>
                  <a:srgbClr val="3D3949"/>
                </a:solidFill>
                <a:latin typeface="Arial"/>
              </a:rPr>
              <a:t>After indexing finishes, refresh saved matches.</a:t>
            </a:r>
          </a:p>
        </p:txBody>
      </p:sp>
      <p:sp>
        <p:nvSpPr>
          <p:cNvPr id="18" name="Rectangle 17"/>
          <p:cNvSpPr/>
          <p:nvPr/>
        </p:nvSpPr>
        <p:spPr>
          <a:xfrm>
            <a:off x="3694176" y="1682496"/>
            <a:ext cx="7964424" cy="4535424"/>
          </a:xfrm>
          <a:prstGeom prst="rect">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14-backups.png" descr="14-backups.png"/>
          <p:cNvPicPr>
            <a:picLocks noChangeAspect="1"/>
          </p:cNvPicPr>
          <p:nvPr/>
        </p:nvPicPr>
        <p:blipFill>
          <a:blip r:embed="rId3"/>
          <a:srcRect/>
          <a:stretch>
            <a:fillRect/>
          </a:stretch>
        </p:blipFill>
        <p:spPr>
          <a:xfrm>
            <a:off x="3758184" y="2292227"/>
            <a:ext cx="7836408" cy="3315961"/>
          </a:xfrm>
          <a:prstGeom prst="rect">
            <a:avLst/>
          </a:prstGeom>
        </p:spPr>
      </p:pic>
      <p:sp>
        <p:nvSpPr>
          <p:cNvPr id="20" name="Rounded Rectangle 19"/>
          <p:cNvSpPr/>
          <p:nvPr/>
        </p:nvSpPr>
        <p:spPr>
          <a:xfrm>
            <a:off x="585216" y="5596128"/>
            <a:ext cx="2816352" cy="585216"/>
          </a:xfrm>
          <a:prstGeom prst="roundRect">
            <a:avLst>
              <a:gd name="adj" fmla="val 12000"/>
            </a:avLst>
          </a:prstGeom>
          <a:solidFill>
            <a:srgbClr val="EC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687568"/>
            <a:ext cx="2560320" cy="457200"/>
          </a:xfrm>
          <a:prstGeom prst="rect">
            <a:avLst/>
          </a:prstGeom>
          <a:noFill/>
        </p:spPr>
        <p:txBody>
          <a:bodyPr wrap="square" lIns="0" rIns="0" tIns="0" bIns="0" anchor="t">
            <a:spAutoFit/>
          </a:bodyPr>
          <a:lstStyle/>
          <a:p>
            <a:pPr algn="l">
              <a:lnSpc>
                <a:spcPct val="110000"/>
              </a:lnSpc>
              <a:spcBef>
                <a:spcPts val="0"/>
              </a:spcBef>
              <a:spcAft>
                <a:spcPts val="300"/>
              </a:spcAft>
            </a:pPr>
            <a:r>
              <a:rPr sz="1350" b="0">
                <a:solidFill>
                  <a:srgbClr val="6D3FB0"/>
                </a:solidFill>
                <a:latin typeface="Arial"/>
              </a:rPr>
              <a:t>Backups exclude API keys and original CV files.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name="reference">
    <p:bg>
      <p:bgPr>
        <a:solidFill>
          <a:srgbClr val="F4F1F8"/>
        </a:solidFill>
        <a:effectLst/>
      </p:bgPr>
    </p:bg>
    <p:spTree>
      <p:nvGrpSpPr>
        <p:cNvPr id="1" name=""/>
        <p:cNvGrpSpPr/>
        <p:nvPr/>
      </p:nvGrpSpPr>
      <p:grpSpPr/>
      <p:pic>
        <p:nvPicPr>
          <p:cNvPr id="2" name="Picture 1" descr="icon.png"/>
          <p:cNvPicPr>
            <a:picLocks noChangeAspect="1"/>
          </p:cNvPicPr>
          <p:nvPr/>
        </p:nvPicPr>
        <p:blipFill>
          <a:blip r:embed="rId2"/>
          <a:stretch>
            <a:fillRect/>
          </a:stretch>
        </p:blipFill>
        <p:spPr>
          <a:xfrm>
            <a:off x="530352" y="146304"/>
            <a:ext cx="274320" cy="274320"/>
          </a:xfrm>
          <a:prstGeom prst="rect">
            <a:avLst/>
          </a:prstGeom>
        </p:spPr>
      </p:pic>
      <p:sp>
        <p:nvSpPr>
          <p:cNvPr id="3" name="TextBox 2"/>
          <p:cNvSpPr txBox="1"/>
          <p:nvPr/>
        </p:nvSpPr>
        <p:spPr>
          <a:xfrm>
            <a:off x="914399" y="178308"/>
            <a:ext cx="1554480" cy="192024"/>
          </a:xfrm>
          <a:prstGeom prst="rect">
            <a:avLst/>
          </a:prstGeom>
          <a:noFill/>
        </p:spPr>
        <p:txBody>
          <a:bodyPr wrap="square" lIns="0" rIns="0" tIns="0" bIns="0" anchor="t">
            <a:spAutoFit/>
          </a:bodyPr>
          <a:lstStyle/>
          <a:p>
            <a:pPr algn="l">
              <a:lnSpc>
                <a:spcPct val="110000"/>
              </a:lnSpc>
              <a:spcBef>
                <a:spcPts val="0"/>
              </a:spcBef>
              <a:spcAft>
                <a:spcPts val="300"/>
              </a:spcAft>
            </a:pPr>
            <a:r>
              <a:rPr sz="1000" b="1">
                <a:solidFill>
                  <a:srgbClr val="6D3FB0"/>
                </a:solidFill>
                <a:latin typeface="Arial"/>
              </a:rPr>
              <a:t>QUMAA</a:t>
            </a:r>
          </a:p>
        </p:txBody>
      </p:sp>
      <p:sp>
        <p:nvSpPr>
          <p:cNvPr id="4" name="TextBox 3"/>
          <p:cNvSpPr txBox="1"/>
          <p:nvPr/>
        </p:nvSpPr>
        <p:spPr>
          <a:xfrm>
            <a:off x="530352" y="557784"/>
            <a:ext cx="11109960" cy="603504"/>
          </a:xfrm>
          <a:prstGeom prst="rect">
            <a:avLst/>
          </a:prstGeom>
          <a:noFill/>
        </p:spPr>
        <p:txBody>
          <a:bodyPr wrap="square" lIns="0" rIns="0" tIns="0" bIns="0" anchor="t">
            <a:spAutoFit/>
          </a:bodyPr>
          <a:lstStyle/>
          <a:p>
            <a:pPr algn="l">
              <a:lnSpc>
                <a:spcPct val="110000"/>
              </a:lnSpc>
              <a:spcBef>
                <a:spcPts val="0"/>
              </a:spcBef>
              <a:spcAft>
                <a:spcPts val="300"/>
              </a:spcAft>
            </a:pPr>
            <a:r>
              <a:rPr sz="3000" b="1">
                <a:solidFill>
                  <a:srgbClr val="2B2733"/>
                </a:solidFill>
                <a:latin typeface="Arial"/>
              </a:rPr>
              <a:t>Reference: where information is kept</a:t>
            </a:r>
          </a:p>
        </p:txBody>
      </p:sp>
      <p:sp>
        <p:nvSpPr>
          <p:cNvPr id="5" name="TextBox 4"/>
          <p:cNvSpPr txBox="1"/>
          <p:nvPr/>
        </p:nvSpPr>
        <p:spPr>
          <a:xfrm>
            <a:off x="548640" y="1133856"/>
            <a:ext cx="10972800" cy="329184"/>
          </a:xfrm>
          <a:prstGeom prst="rect">
            <a:avLst/>
          </a:prstGeom>
          <a:noFill/>
        </p:spPr>
        <p:txBody>
          <a:bodyPr wrap="square" lIns="0" rIns="0" tIns="0" bIns="0" anchor="t">
            <a:spAutoFit/>
          </a:bodyPr>
          <a:lstStyle/>
          <a:p>
            <a:pPr algn="l">
              <a:lnSpc>
                <a:spcPct val="110000"/>
              </a:lnSpc>
              <a:spcBef>
                <a:spcPts val="0"/>
              </a:spcBef>
              <a:spcAft>
                <a:spcPts val="300"/>
              </a:spcAft>
            </a:pPr>
            <a:r>
              <a:rPr sz="1450" b="0">
                <a:solidFill>
                  <a:srgbClr val="716B7B"/>
                </a:solidFill>
                <a:latin typeface="Arial"/>
              </a:rPr>
              <a:t>Use the appropriate record for the information you need to retain.</a:t>
            </a:r>
          </a:p>
        </p:txBody>
      </p:sp>
      <p:cxnSp>
        <p:nvCxnSpPr>
          <p:cNvPr id="6" name="Connector 5"/>
          <p:cNvCxnSpPr/>
          <p:nvPr/>
        </p:nvCxnSpPr>
        <p:spPr>
          <a:xfrm>
            <a:off x="530352" y="6437376"/>
            <a:ext cx="11128248" cy="0"/>
          </a:xfrm>
          <a:prstGeom prst="line">
            <a:avLst/>
          </a:prstGeom>
          <a:ln w="7620">
            <a:solidFill>
              <a:srgbClr val="DDD5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19672"/>
            <a:ext cx="7680960" cy="182880"/>
          </a:xfrm>
          <a:prstGeom prst="rect">
            <a:avLst/>
          </a:prstGeom>
          <a:noFill/>
        </p:spPr>
        <p:txBody>
          <a:bodyPr wrap="square" lIns="0" rIns="0" tIns="0" bIns="0" anchor="t">
            <a:spAutoFit/>
          </a:bodyPr>
          <a:lstStyle/>
          <a:p>
            <a:pPr algn="l">
              <a:lnSpc>
                <a:spcPct val="110000"/>
              </a:lnSpc>
              <a:spcBef>
                <a:spcPts val="0"/>
              </a:spcBef>
              <a:spcAft>
                <a:spcPts val="300"/>
              </a:spcAft>
            </a:pPr>
            <a:r>
              <a:rPr sz="919" b="0">
                <a:solidFill>
                  <a:srgbClr val="716B7B"/>
                </a:solidFill>
                <a:latin typeface="Arial"/>
              </a:rPr>
              <a:t>Recruiter guide</a:t>
            </a:r>
          </a:p>
        </p:txBody>
      </p:sp>
      <p:sp>
        <p:nvSpPr>
          <p:cNvPr id="8" name="TextBox 7"/>
          <p:cNvSpPr txBox="1"/>
          <p:nvPr/>
        </p:nvSpPr>
        <p:spPr>
          <a:xfrm>
            <a:off x="8321040" y="6519672"/>
            <a:ext cx="3319272" cy="182880"/>
          </a:xfrm>
          <a:prstGeom prst="rect">
            <a:avLst/>
          </a:prstGeom>
          <a:noFill/>
        </p:spPr>
        <p:txBody>
          <a:bodyPr wrap="square" lIns="0" rIns="0" tIns="0" bIns="0" anchor="t">
            <a:spAutoFit/>
          </a:bodyPr>
          <a:lstStyle/>
          <a:p>
            <a:pPr algn="r">
              <a:lnSpc>
                <a:spcPct val="110000"/>
              </a:lnSpc>
              <a:spcBef>
                <a:spcPts val="0"/>
              </a:spcBef>
              <a:spcAft>
                <a:spcPts val="300"/>
              </a:spcAft>
            </a:pPr>
            <a:r>
              <a:rPr sz="919" b="0">
                <a:solidFill>
                  <a:srgbClr val="716B7B"/>
                </a:solidFill>
                <a:latin typeface="Arial"/>
              </a:rPr>
              <a:t>Qumaa v0.1.0-beta.2   /   24</a:t>
            </a:r>
          </a:p>
        </p:txBody>
      </p:sp>
      <p:sp>
        <p:nvSpPr>
          <p:cNvPr id="9" name="Rounded Rectangle 8"/>
          <p:cNvSpPr/>
          <p:nvPr/>
        </p:nvSpPr>
        <p:spPr>
          <a:xfrm>
            <a:off x="612648" y="1801368"/>
            <a:ext cx="10972800" cy="832104"/>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1975104"/>
            <a:ext cx="3419856" cy="530352"/>
          </a:xfrm>
          <a:prstGeom prst="rect">
            <a:avLst/>
          </a:prstGeom>
          <a:noFill/>
        </p:spPr>
        <p:txBody>
          <a:bodyPr wrap="square" lIns="0" rIns="0" tIns="0" bIns="0" anchor="t">
            <a:spAutoFit/>
          </a:bodyPr>
          <a:lstStyle/>
          <a:p>
            <a:pPr algn="l">
              <a:lnSpc>
                <a:spcPct val="110000"/>
              </a:lnSpc>
              <a:spcBef>
                <a:spcPts val="0"/>
              </a:spcBef>
              <a:spcAft>
                <a:spcPts val="300"/>
              </a:spcAft>
            </a:pPr>
            <a:r>
              <a:rPr sz="1800" b="1">
                <a:solidFill>
                  <a:srgbClr val="6D3FB0"/>
                </a:solidFill>
                <a:latin typeface="Arial"/>
              </a:rPr>
              <a:t>Library and candidate profile</a:t>
            </a:r>
          </a:p>
        </p:txBody>
      </p:sp>
      <p:sp>
        <p:nvSpPr>
          <p:cNvPr id="11" name="TextBox 10"/>
          <p:cNvSpPr txBox="1"/>
          <p:nvPr/>
        </p:nvSpPr>
        <p:spPr>
          <a:xfrm>
            <a:off x="4526280" y="1965960"/>
            <a:ext cx="6821424" cy="557784"/>
          </a:xfrm>
          <a:prstGeom prst="rect">
            <a:avLst/>
          </a:prstGeom>
          <a:noFill/>
        </p:spPr>
        <p:txBody>
          <a:bodyPr wrap="square" lIns="0" rIns="0" tIns="0" bIns="0" anchor="t">
            <a:spAutoFit/>
          </a:bodyPr>
          <a:lstStyle/>
          <a:p>
            <a:pPr algn="l">
              <a:lnSpc>
                <a:spcPct val="110000"/>
              </a:lnSpc>
              <a:spcBef>
                <a:spcPts val="0"/>
              </a:spcBef>
              <a:spcAft>
                <a:spcPts val="300"/>
              </a:spcAft>
            </a:pPr>
            <a:r>
              <a:rPr sz="1800" b="0">
                <a:solidFill>
                  <a:srgbClr val="3D3949"/>
                </a:solidFill>
                <a:latin typeface="Arial"/>
              </a:rPr>
              <a:t>CV text, linked versions, corrected details, and general screening notes.</a:t>
            </a:r>
          </a:p>
        </p:txBody>
      </p:sp>
      <p:sp>
        <p:nvSpPr>
          <p:cNvPr id="12" name="Rounded Rectangle 11"/>
          <p:cNvSpPr/>
          <p:nvPr/>
        </p:nvSpPr>
        <p:spPr>
          <a:xfrm>
            <a:off x="612648" y="2734056"/>
            <a:ext cx="10972800" cy="832104"/>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2907792"/>
            <a:ext cx="3419856" cy="530352"/>
          </a:xfrm>
          <a:prstGeom prst="rect">
            <a:avLst/>
          </a:prstGeom>
          <a:noFill/>
        </p:spPr>
        <p:txBody>
          <a:bodyPr wrap="square" lIns="0" rIns="0" tIns="0" bIns="0" anchor="t">
            <a:spAutoFit/>
          </a:bodyPr>
          <a:lstStyle/>
          <a:p>
            <a:pPr algn="l">
              <a:lnSpc>
                <a:spcPct val="110000"/>
              </a:lnSpc>
              <a:spcBef>
                <a:spcPts val="0"/>
              </a:spcBef>
              <a:spcAft>
                <a:spcPts val="300"/>
              </a:spcAft>
            </a:pPr>
            <a:r>
              <a:rPr sz="1800" b="1">
                <a:solidFill>
                  <a:srgbClr val="6D3FB0"/>
                </a:solidFill>
                <a:latin typeface="Arial"/>
              </a:rPr>
              <a:t>Saved job</a:t>
            </a:r>
          </a:p>
        </p:txBody>
      </p:sp>
      <p:sp>
        <p:nvSpPr>
          <p:cNvPr id="14" name="TextBox 13"/>
          <p:cNvSpPr txBox="1"/>
          <p:nvPr/>
        </p:nvSpPr>
        <p:spPr>
          <a:xfrm>
            <a:off x="4526280" y="2898648"/>
            <a:ext cx="6821424" cy="557784"/>
          </a:xfrm>
          <a:prstGeom prst="rect">
            <a:avLst/>
          </a:prstGeom>
          <a:noFill/>
        </p:spPr>
        <p:txBody>
          <a:bodyPr wrap="square" lIns="0" rIns="0" tIns="0" bIns="0" anchor="t">
            <a:spAutoFit/>
          </a:bodyPr>
          <a:lstStyle/>
          <a:p>
            <a:pPr algn="l">
              <a:lnSpc>
                <a:spcPct val="110000"/>
              </a:lnSpc>
              <a:spcBef>
                <a:spcPts val="0"/>
              </a:spcBef>
              <a:spcAft>
                <a:spcPts val="300"/>
              </a:spcAft>
            </a:pPr>
            <a:r>
              <a:rPr sz="1800" b="0">
                <a:solidFill>
                  <a:srgbClr val="3D3949"/>
                </a:solidFill>
                <a:latin typeface="Arial"/>
              </a:rPr>
              <a:t>Posting, criteria, results, candidate reviews, shortlist, status history, and hiring outcome.</a:t>
            </a:r>
          </a:p>
        </p:txBody>
      </p:sp>
      <p:sp>
        <p:nvSpPr>
          <p:cNvPr id="15" name="Rounded Rectangle 14"/>
          <p:cNvSpPr/>
          <p:nvPr/>
        </p:nvSpPr>
        <p:spPr>
          <a:xfrm>
            <a:off x="612648" y="3666744"/>
            <a:ext cx="10972800" cy="832104"/>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8" y="3840480"/>
            <a:ext cx="3419856" cy="530352"/>
          </a:xfrm>
          <a:prstGeom prst="rect">
            <a:avLst/>
          </a:prstGeom>
          <a:noFill/>
        </p:spPr>
        <p:txBody>
          <a:bodyPr wrap="square" lIns="0" rIns="0" tIns="0" bIns="0" anchor="t">
            <a:spAutoFit/>
          </a:bodyPr>
          <a:lstStyle/>
          <a:p>
            <a:pPr algn="l">
              <a:lnSpc>
                <a:spcPct val="110000"/>
              </a:lnSpc>
              <a:spcBef>
                <a:spcPts val="0"/>
              </a:spcBef>
              <a:spcAft>
                <a:spcPts val="300"/>
              </a:spcAft>
            </a:pPr>
            <a:r>
              <a:rPr sz="1800" b="1">
                <a:solidFill>
                  <a:srgbClr val="6D3FB0"/>
                </a:solidFill>
                <a:latin typeface="Arial"/>
              </a:rPr>
              <a:t>Express search</a:t>
            </a:r>
          </a:p>
        </p:txBody>
      </p:sp>
      <p:sp>
        <p:nvSpPr>
          <p:cNvPr id="17" name="TextBox 16"/>
          <p:cNvSpPr txBox="1"/>
          <p:nvPr/>
        </p:nvSpPr>
        <p:spPr>
          <a:xfrm>
            <a:off x="4526280" y="3831335"/>
            <a:ext cx="6821424" cy="557784"/>
          </a:xfrm>
          <a:prstGeom prst="rect">
            <a:avLst/>
          </a:prstGeom>
          <a:noFill/>
        </p:spPr>
        <p:txBody>
          <a:bodyPr wrap="square" lIns="0" rIns="0" tIns="0" bIns="0" anchor="t">
            <a:spAutoFit/>
          </a:bodyPr>
          <a:lstStyle/>
          <a:p>
            <a:pPr algn="l">
              <a:lnSpc>
                <a:spcPct val="110000"/>
              </a:lnSpc>
              <a:spcBef>
                <a:spcPts val="0"/>
              </a:spcBef>
              <a:spcAft>
                <a:spcPts val="300"/>
              </a:spcAft>
            </a:pPr>
            <a:r>
              <a:rPr sz="1800" b="0">
                <a:solidFill>
                  <a:srgbClr val="3D3949"/>
                </a:solidFill>
                <a:latin typeface="Arial"/>
              </a:rPr>
              <a:t>Temporary posting and search work; retained only if you choose Save as job.</a:t>
            </a:r>
          </a:p>
        </p:txBody>
      </p:sp>
      <p:sp>
        <p:nvSpPr>
          <p:cNvPr id="18" name="Rounded Rectangle 17"/>
          <p:cNvSpPr/>
          <p:nvPr/>
        </p:nvSpPr>
        <p:spPr>
          <a:xfrm>
            <a:off x="612648" y="4599432"/>
            <a:ext cx="10972800" cy="832104"/>
          </a:xfrm>
          <a:prstGeom prst="roundRect">
            <a:avLst>
              <a:gd name="adj" fmla="val 12000"/>
            </a:avLst>
          </a:prstGeom>
          <a:solidFill>
            <a:srgbClr val="FFFFFF"/>
          </a:solidFill>
          <a:ln w="8890">
            <a:solidFill>
              <a:srgbClr val="DD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 y="4773168"/>
            <a:ext cx="3419856" cy="530352"/>
          </a:xfrm>
          <a:prstGeom prst="rect">
            <a:avLst/>
          </a:prstGeom>
          <a:noFill/>
        </p:spPr>
        <p:txBody>
          <a:bodyPr wrap="square" lIns="0" rIns="0" tIns="0" bIns="0" anchor="t">
            <a:spAutoFit/>
          </a:bodyPr>
          <a:lstStyle/>
          <a:p>
            <a:pPr algn="l">
              <a:lnSpc>
                <a:spcPct val="110000"/>
              </a:lnSpc>
              <a:spcBef>
                <a:spcPts val="0"/>
              </a:spcBef>
              <a:spcAft>
                <a:spcPts val="300"/>
              </a:spcAft>
            </a:pPr>
            <a:r>
              <a:rPr sz="1800" b="1">
                <a:solidFill>
                  <a:srgbClr val="6D3FB0"/>
                </a:solidFill>
                <a:latin typeface="Arial"/>
              </a:rPr>
              <a:t>Optional provider request</a:t>
            </a:r>
          </a:p>
        </p:txBody>
      </p:sp>
      <p:sp>
        <p:nvSpPr>
          <p:cNvPr id="20" name="TextBox 19"/>
          <p:cNvSpPr txBox="1"/>
          <p:nvPr/>
        </p:nvSpPr>
        <p:spPr>
          <a:xfrm>
            <a:off x="4526280" y="4764024"/>
            <a:ext cx="6821424" cy="557784"/>
          </a:xfrm>
          <a:prstGeom prst="rect">
            <a:avLst/>
          </a:prstGeom>
          <a:noFill/>
        </p:spPr>
        <p:txBody>
          <a:bodyPr wrap="square" lIns="0" rIns="0" tIns="0" bIns="0" anchor="t">
            <a:spAutoFit/>
          </a:bodyPr>
          <a:lstStyle/>
          <a:p>
            <a:pPr algn="l">
              <a:lnSpc>
                <a:spcPct val="110000"/>
              </a:lnSpc>
              <a:spcBef>
                <a:spcPts val="0"/>
              </a:spcBef>
              <a:spcAft>
                <a:spcPts val="300"/>
              </a:spcAft>
            </a:pPr>
            <a:r>
              <a:rPr sz="1800" b="0">
                <a:solidFill>
                  <a:srgbClr val="3D3949"/>
                </a:solidFill>
                <a:latin typeface="Arial"/>
              </a:rPr>
              <a:t>Reviewed posting and redacted passages, sent only after confirmation.</a:t>
            </a:r>
          </a:p>
        </p:txBody>
      </p:sp>
      <p:sp>
        <p:nvSpPr>
          <p:cNvPr id="21" name="TextBox 20"/>
          <p:cNvSpPr txBox="1"/>
          <p:nvPr/>
        </p:nvSpPr>
        <p:spPr>
          <a:xfrm>
            <a:off x="758952" y="5788152"/>
            <a:ext cx="6537960" cy="292608"/>
          </a:xfrm>
          <a:prstGeom prst="rect">
            <a:avLst/>
          </a:prstGeom>
          <a:noFill/>
        </p:spPr>
        <p:txBody>
          <a:bodyPr wrap="square" lIns="0" rIns="0" tIns="0" bIns="0" anchor="t">
            <a:spAutoFit/>
          </a:bodyPr>
          <a:lstStyle/>
          <a:p>
            <a:pPr algn="l">
              <a:lnSpc>
                <a:spcPct val="110000"/>
              </a:lnSpc>
              <a:spcBef>
                <a:spcPts val="0"/>
              </a:spcBef>
              <a:spcAft>
                <a:spcPts val="300"/>
              </a:spcAft>
            </a:pPr>
            <a:r>
              <a:rPr sz="1600" b="0">
                <a:solidFill>
                  <a:srgbClr val="716B7B"/>
                </a:solidFill>
                <a:latin typeface="Arial"/>
                <a:hlinkClick r:id="rId3"/>
              </a:rPr>
              <a:t>Prepared by Fawaz Aljathnan</a:t>
            </a:r>
          </a:p>
        </p:txBody>
      </p:sp>
      <p:sp>
        <p:nvSpPr>
          <p:cNvPr id="22" name="TextBox 21"/>
          <p:cNvSpPr txBox="1"/>
          <p:nvPr/>
        </p:nvSpPr>
        <p:spPr>
          <a:xfrm>
            <a:off x="8549640" y="5797296"/>
            <a:ext cx="2834640" cy="274320"/>
          </a:xfrm>
          <a:prstGeom prst="rect">
            <a:avLst/>
          </a:prstGeom>
          <a:noFill/>
        </p:spPr>
        <p:txBody>
          <a:bodyPr wrap="square" lIns="0" rIns="0" tIns="0" bIns="0" anchor="t">
            <a:spAutoFit/>
          </a:bodyPr>
          <a:lstStyle/>
          <a:p>
            <a:pPr algn="r">
              <a:lnSpc>
                <a:spcPct val="110000"/>
              </a:lnSpc>
              <a:spcBef>
                <a:spcPts val="0"/>
              </a:spcBef>
              <a:spcAft>
                <a:spcPts val="300"/>
              </a:spcAft>
            </a:pPr>
            <a:r>
              <a:rPr sz="1500" b="0">
                <a:solidFill>
                  <a:srgbClr val="6D3FB0"/>
                </a:solidFill>
                <a:latin typeface="Arial"/>
                <a:hlinkClick r:id="rId3"/>
              </a:rPr>
              <a:t>LinkedIn profile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Qumaa | Recruiter Guide</dc:title>
  <dc:subject>Application use, candidate assessment, and recruiting records</dc:subject>
  <dc:creator>Fawaz Aljathnan</dc:creator>
  <cp:keywords>Qumaa, recruiting, Express search, job status, hiring records, AI reranking</cp:keywords>
  <dc:description>Actual application screenshots with fictional demonstration data.</dc:description>
  <cp:lastModifiedBy>Steve Canny</cp:lastModifiedBy>
  <cp:revision>1</cp:revision>
  <dcterms:created xsi:type="dcterms:W3CDTF">2013-01-27T09:14:16Z</dcterms:created>
  <dcterms:modified xsi:type="dcterms:W3CDTF">2013-01-27T09:15:58Z</dcterms:modified>
  <cp:category/>
</cp:coreProperties>
</file>