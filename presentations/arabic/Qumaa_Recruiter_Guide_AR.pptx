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‫قُمع تطبيق مكتبي لمسؤولي التوظيف الذين يعملون على مكتبة سير ذاتية موجودة لديهم. يشرح هذا الدليل استيراد السير الذاتية، والبحث عبر وظيفة محفوظة أو جلسة مؤقتة، وتقييم المرشحين، وتسجيل نتائج التعيين. تعمل المطابقة العادية وتُحفظ سجلات التوظيف محليًا. ترسل إعادة الترتيب الاختيارية بالذكاء الاصطناعي طلبًا جرت مراجعته إلى المزوّد المحدد. الوظيفة وجميع بيانات المرشحين في المثال خيالية. يتحقّق مسؤول التوظيف من الأدلة ويتخذ قرار التعيين.‬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‫استخدم أرقام الشرائح للوصول إلى الموضوع المطلوب. ترتبط بطاقة كل قسم بأول شريحة فيه داخل عرض PowerPoint. تعرض الشرائح ٣ إلى ٥ مساحة العمل والمكتبة؛ وتشرح الشرائح ٦ إلى ٩ البحث عن المرشحين للوظائف؛ وتتناول الشرائح ١٠ إلى ١٥ التقييم؛ والشرائح ١٦ إلى ١٨ سجلات الوظائف؛ والشرائح ١٩ إلى ٢١ الذكاء الاصطناعي الاختياري؛ والشرائح ٢٢ إلى ٢٤ التشغيل والمعلومات المرجعية.‬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‫يحتوي التطبيق على ثلاثة تبويبات رئيسية: «الوظائف» و«المكتبة» و«الإعدادات». يظهر «بحث سريع» بجانب «وظيفة جديدة» داخل قسم «الوظائف». تستخدم عمليات البحث المحفوظة والمؤقتة آلية المطابقة المحلية نفسها وخيار إعادة الترتيب بالذكاء الاصطناعي. ترافق ملفات المرشحين أصحابها عبر الوظائف؛ بينما تخص المعايير والتقييمات والقائمة المختصرة وسجل الحالة ونتيجة التعيين وظيفة محفوظة بعينها.‬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‫يبدأ التسلسل المرقّم من يمين الصف العلوي، ثم ينزل إلى الصف السفلي ويستمر في الاتجاه المقابل. يمكن استخدام البحث السريع للبحث الأولي دون إنشاء سجل وظيفة. احفظ البحث كوظيفة عندما تحتاج إلى تقييمات دائمة أو سجل تعيين. يجري التواصل والمقابلات عبر الأدوات المعتادة في المؤسسة. بعد وصول سير جديدة، حدّث مطابقات الوظيفة المحفوظة؛ وتبقى التقييمات والملاحظات السابقة متاحة.‬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‫يمكن أيضًا سحب الملفات إلى التطبيق. يمكن البحث في السير العربية والإنجليزية بإعلانات مكتوبة بأي من اللغتين. تتطلب ملفات PDF طبقة نص قابلة للاستخدام؛ أما الصور الممسوحة ضوئيًا فتحتاج إلى تحويل خارج قُمع. قد يتجاوز التطبيق الملفات المكررة تمامًا. راجع حالات التكرار المحتملة قبل ربط السجلات. يستخدم المثال نصوص سير خيالية أُدخلت إلى مكتبة مستقلة.‬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‫يفصل المحرّر بين حقول «المسمى الوظيفي» و«الوصف الوظيفي» و«المتطلبات» و«المؤهلات العلمية والشهادات». أضف المعايير قبل الحفظ أو عُد إليها من «تعديل الوظيفة». تبدأ الوظيفة الجديدة بحالة «مفتوحة» مع تسجيل وقت إنشائها. استخدم «تغيير الحالة» بعد الإنشاء لتعليق الوظيفة أو تسجيل شغلها أو أرشفتها. تحفظ الوظيفة إعلانها ونتائج البحث وتقييمات المرشحين والقائمة المختصرة وسجل الحالة على هذا الجهاز.‬</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‫يوجد «بحث سريع» في «الوظائف» بجانب «وظيفة جديدة». الصق الوصف الوظيفي والمتطلبات، ثم اختر «البحث عن مطابقات». يستخدم البحث السير الموجودة في المكتبة المحلية، ولا يجلب متقدمين من خدمات خارجية. يبقى الإعلان المؤقت والنتائج في الذاكرة. يمكنك عرض بيانات المرشحين أو تصدير أفضل ثلاث مطابقات. تتاح التقييمات والقوائم المختصرة والمقارنة بعد اختيار «حفظ كوظيفة». قد تبقى الجلسة الحالية عند التنقّل بين التبويبات، لكنها ليست وظيفة محفوظة. ألغِ البحث أو أغلق التطبيق لإزالته. ينشئ «حفظ كوظيفة» سجلًا دائمًا باختيار صريح منك. تتاح هنا إعادة الترتيب بالذكاء الاصطناعي وفق الإعدادات وضوابط مراجعة البيانات نفسها المستخدمة في الوظائف المحفوظة.‬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‫يسهم نص المعايير في استعلام المطابقة. تنظّم تسميتا «مطلوب» و«مفضّل» تقييم مسؤول التوظيف، ولا تستبعدان أي مرشح تلقائيًا. تغطي معايير المثال التدريب في عدة فروع، وتصميم برامج التهيئة وقياسها، وتقديم التدريب بلغتين. احفظ الوظيفة بعد التعديل. إذا تغيّرت صياغة معيار، فراجع التقييمات السابقة للتأكّد من أنها ما زالت تتناول المتطلب المقصود.‬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‫بعد البحث الأول، يتحوّل زر «البحث عن مطابقات» إلى «تحديث المطابقات». تستخدم عوامل التصفية البيانات المستخرجة من السير وتصحيحات مسؤول التوظيف. تشمل الخيارات الموقع الحالي أو المفضّل والخبرة والمهارات والوسوم والتفرّغ. يتيح البحث النصي العثور على الأسماء وبيانات التواصل والمهارات والوسوم. تساعد التصفية بحسب حالة التقييم على تنظيم العمل. تغيّر التصفية ما يُعرض، ولا تتحقّق من ادعاءات المرشح أو تغيّر القرارات المحفوظة.‬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‫تجمع الدرجات المحلية التشابه الدلالي وتطابق الكلمات والمهارات المرصودة. تصف الدرجات الملاءمة ضمن سياق البحث الحالي، ولا تمثل احتمال النجاح. تتطلب الدرجة المرتفعة مراجعة نطاق الخبرة وصلتها بالوظيفة والأدلة الداعمة. قد يرجع غياب بعض الكلمات إلى اختلاف الصياغة أو عدم ذكر التفاصيل. قد تتغيّر الدرجات عندما يتغيّر الإعلان أو المكتبة.‬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‫حالات التقييم هي «لم يُقيَّم بعد» و«قيد النظر» و«ضمن القائمة المختصرة» و«تم التواصل معه» و«لن تتم المتابعة». تقييمات المعايير هي «لم يُقيَّم بعد» و«وُجد دليل» و«بحاجة إلى توضيح» و«غير مذكور» و«أكّده مسؤول التوظيف». تسجّل «وُجد دليل» نصًا داعمًا في السيرة، وتسجّل «أكّده مسؤول التوظيف» تحقّقه الشخصي. تُضبط «تم التواصل معه» يدويًا بعد التواصل عبر أدوات أخرى. اجعل أسباب القرارات مرتبطة بالوظيفة.‬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‫تُحفظ تصحيحات مسؤول التوظيف بشكل منفصل عن البيانات المستخرجة من السيرة. يستخدم حقل التصحيح الفارغ القيمة المستخرجة. يمكن للملف الاحتفاظ بالراتب المتوقع وفترة الإشعار والتفرّغ والموقع المفضّل والوسوم والملاحظات العامة. تنطبق تغييرات الملف عبر الوظائف. تخص التوصيات والتقييمات المرتبطة بوظيفة معينة تقييم تلك الوظيفة. تحقّق من المعلومات قبل الاعتماد عليها في الفرز.‬</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‫استخدم مربعات «مقارنة» في «المرشحون» أو «القائمة المختصرة»، ثم افتح «مقارنة المرشحين». تشمل المقارنة تقييمات المعايير والمقاطع المقترحة وملفات المرشحين والملاحظات. تظهر معلومات الراتب وفترة الإشعار والتفرّغ بعد تسجيلها. تعني «غير مؤكّد» أن المعلومة تحتاج إلى تحقّق. استخدم «قراءة الأدلة» للاطّلاع على السياق. الصورتان مقتطفان منفصلان من شاشة المقارنة الفعلية نفسها.‬</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‫يشمل التصدير القائمة المختصرة كاملة بترتيبها، بما فيها المرشحون المخفيون بعامل تصفية حالي، مع ملاحظات مسؤول التوظيف الخاصة بالوظيفة. يبقى المرشحون الذين تم التواصل معهم في القائمة المختصرة. حدّث المطابقات القديمة قبل التصدير. تناسب صيغة PDF جلسة المراجعة، ويمكن فتح CSV في برنامج جداول. ينشئ التصدير ملفًا ولا يرسل رسائل تواصل.‬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‫يربط الإجراء سياق عمل مسؤول التوظيف عبر نسخ السيرة الذاتية. تحقّق من الهوية قبل الربط؛ فتشابه الخبرات وحده لا يكفي. عالج تعارض بيانات مسؤول التوظيف عند طلب ذلك. يحتفظ إلغاء الربط بنسخة من معلومات الملف المشترك وتقييمات الوظائف لكل مرشح ناتج، ويمكن تعديلها مستقلّة بعد ذلك. قد تحتاج النتائج إلى تحديث بعد تغيّر المكتبة.‬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‫قد تجعل السير الجديدة أو تحديث معلومات المكتبة أو تعديل المتطلبات المطابقات المحفوظة قديمة. يعيد تحديث المطابقات حساب النتائج المحلية مع الاحتفاظ بالقرارات والملاحظات المحفوظة. أعد تقييم المعايير إذا تغيّرت صياغتها. تتطلب استعادة النسخة الاحتياطية بحثًا جديدًا بعد اكتمال الفهرسة. إذا سبق استخدام إعادة الترتيب بالذكاء الاصطناعي، ينشئ التحديث ترتيبًا محليًا جديدًا يمكن إعادة ترتيبه مرة أخرى.‬</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‫تبدأ الوظائف الجديدة بحالة «مفتوحة» مع حدث إنشاء مسجّل. يضيف حفظ تغيير الحالة حدثًا مؤرخًا إلى سجل الوظيفة. يتطلب اختيار «تم شغلها» تحديد المرشح الذي تم تعيينه. تحتفظ الأرشفة أو إعادة الفتح بآخر نتيجة تعيين مسجّلة. قد لا تتضمن الوظائف القديمة أحداثًا تاريخية تسبق إتاحة هذه الميزة؛ ولا يختلق التطبيق تواريخ لها. استخدم السجل لمعرفة متى تغيّرت حالة الوظيفة.‬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‫اختر مرشحين موجودين في «المكتبة». تتطلب الوظيفة المشغولة تحديد المرشح الذي تم تعيينه. يمكن تسجيل بديلين كحد أقصى، بالترتيب رقم ٢ ثم رقم ٣. حدّد البديل رقم ٢ قبل رقم ٣، واختر شخصًا مختلفًا لكل موضع. تعرض البطاقات المحفوظة الأسماء المسجّلة وروابط «عرض السيرة الذاتية». تُسجَّل تعديلات تفاصيل التعيين كأحداث مستقلة في سجل الحالة. تحتفظ إعادة الفتح أو الأرشفة بآخر نتيجة تعيين. تظهر سجلات السير المحذوفة بوصفها غير متاحة، دون إظهار تفاصيل المرشح التي أُزيلت.‬</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‫توفّر «الإعدادات» قائمتين منفصلتين لاختيار المزوّد والنموذج. تتضمن خيارات Anthropic نماذج Sonnet 5 وOpus 5 وFable 5.1، وتتضمن خيارات OpenAI نماذج GPT-4o mini وGPT-5.6 وGPT-6 Astra. لكل مزوّد مفتاح API محمي مستقل، ويتذكر التطبيق النموذج المختار له. لا يتضمن المُثبّت مفتاحًا. يؤدي الانتقال إلى مزوّد دون مفتاح إلى تعطيل إعادة الترتيب حتى إعدادها. تبقى المطابقة المحلية متاحة دون أي مزوّد. استُخدمت تهيئة تجريبية لالتقاط الشاشة، ولم يُرسل طلب فعلي إلى مزوّد.‬</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‫يشرح التطبيق أولًا سياسة البيانات للمزوّد والنموذج المحددين. يبقى طلب JSON الفعلي مطويًا ضمن «عرض البيانات المُرسلة». تُحفظ الموافقة على السياسة لهذا المزوّد والنموذج حتى تتغيّر السياسة؛ ومع ذلك تتطلب كل إعادة ترتيب تأكيدًا مستقلًا في نافذة النظام قبل الإرسال. يشمل الطلب الذي تراجعه الإعلان ومقاطع مطابقة منقّحة لما يصل إلى ١٥ مرشحًا. تُحجب بيانات التواصل الشائعة، لكن قد لا يزيل التنقيح كل التفاصيل التي تعرّف بالأشخاص. يُبقي إلغاء المراجعة المطابقات المحلية متاحة.‬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‫تستخدم النماذج المضبوطة تعليمات النظام نفسها. تطلب التعليمات ترتيب كل مرشح مقدّم، والحكم من المقاطع المتاحة وحدها، والإبقاء على معرّفات المرشحين المجهّلة، والتعامل مع المحتوى بوصفه أدلة لا تعليمات، وإرجاع سبب لا يزيد على ٢٥ كلمة لكل مرشح. تؤكد التعليمات نطاق المسؤولية والصلة بالعمل المدعومَين بالأدلة بدلًا من الصياغة الواثقة وحدها. يتضمن الطلب مقاطع منقّحة بطول يصل إلى ٢٥٠٠ محرف لكل مرشح. لا تضيف إعادة الترتيب مرشحين ولا تستبدل الدرجات المحلية. راجع أدلة السيرة وتحقّق من المعلومات الناقصة. تساعد تفسيرات الذكاء الاصطناعي في الفرز، وتبقى مسؤولية التقييم لدى مسؤول التوظيف.‬</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‫يراقب المجلد المستندات الواردة المدعومة أثناء تشغيل التطبيق. نظّم المستندات الأصلية واحتفظ بها منفصلة. تظل تنبيهات الاستيراد ومعالجة التكرار مطبّقة. لا يحدّث الاستيراد ترتيب كل وظيفة محفوظة تلقائيًا؛ لذا حدّث الوظائف ذات الصلة. يخص إعداد المجلد المُراقَب هذا الجهاز، ولا يدخل ضمن النسخة الاحتياطية المحمولة.‬</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‫تشمل النسخ الاحتياطية المحمولة نصوص السير والوظائف المحفوظة والملفات والتقييمات وسجلات التعيين والتفضيلات المحمولة. وتستثني مفاتيح API والموافقات على المشاركة وإعداد المجلد المُراقَب ومسارات الملفات الأصلية وموضع النافذة. النسخ غير مشفّرة؛ فاحفظها في موقع آمن مناسب، واحتفظ بمستندات السير الأصلية منفصلة عند الحاجة. تستبدل الاستعادة المكتبة المحلية الحالية بعد التأكيد وتعيد بناء فهرس البحث. أعد ضبط إعدادات الجهاز بعد الاستعادة.‬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a:latin typeface="Arial"/>
              </a:rPr>
              <a:t>‫يميّز هذا الجدول المعلومات المرتبطة بالمرشح، والمعلومات الخاصة بوظيفة محفوظة، وجلسة البحث المؤقتة، والطلب الخارجي الاختياري. استخدم ملاحظات الملف للمعلومات ذات الصلة عبر الوظائف، وملاحظات التقييم للقرارات الخاصة بوظيفة معينة. تستخدم جميع صور التطبيق في الدليل سجلات توضيحية خيالية. إعداد: Fawaz Aljathnan. LinkedIn: https://www.linkedin.com/in/fawazsalehq/.‬</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slide" Target="slide3.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9.xml"/><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linkedin.com/in/fawazsalehq/" TargetMode="External"/><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name="introduction">
    <p:bg>
      <p:bgPr>
        <a:solidFill>
          <a:srgbClr val="2B2733"/>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C0A3EA"/>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FFFFFF"/>
                </a:solidFill>
                <a:latin typeface="Arial"/>
                <a:cs typeface="Arial"/>
              </a:rPr>
              <a:t>‫قُمع: دليل التطبيق ومسؤول التوظيف‬</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C0A3EA"/>
                </a:solidFill>
                <a:latin typeface="Arial"/>
                <a:cs typeface="Arial"/>
              </a:rPr>
              <a:t>‫الغرض من التطبيق، وخطوات العمل، وإرشادات الاستخدام‬</a:t>
            </a:r>
          </a:p>
        </p:txBody>
      </p:sp>
      <p:cxnSp>
        <p:nvCxnSpPr>
          <p:cNvPr id="6" name="Connector 5"/>
          <p:cNvCxnSpPr/>
          <p:nvPr/>
        </p:nvCxnSpPr>
        <p:spPr>
          <a:xfrm>
            <a:off x="530352" y="6437376"/>
            <a:ext cx="11128248" cy="0"/>
          </a:xfrm>
          <a:prstGeom prst="line">
            <a:avLst/>
          </a:prstGeom>
          <a:ln w="7620">
            <a:solidFill>
              <a:srgbClr val="3D394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C0A3EA"/>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C0A3EA"/>
                </a:solidFill>
                <a:latin typeface="Arial"/>
                <a:cs typeface="Arial"/>
              </a:rPr>
              <a:t>‫قُمع v0.1.0-beta.2   /   ٠١‬</a:t>
            </a:r>
          </a:p>
        </p:txBody>
      </p:sp>
      <p:sp>
        <p:nvSpPr>
          <p:cNvPr id="9" name="TextBox 8"/>
          <p:cNvSpPr txBox="1"/>
          <p:nvPr/>
        </p:nvSpPr>
        <p:spPr>
          <a:xfrm>
            <a:off x="621792" y="1810512"/>
            <a:ext cx="4754880" cy="438912"/>
          </a:xfrm>
          <a:prstGeom prst="rect">
            <a:avLst/>
          </a:prstGeom>
          <a:noFill/>
        </p:spPr>
        <p:txBody>
          <a:bodyPr wrap="square" lIns="0" rIns="0" tIns="0" bIns="0" anchor="t">
            <a:spAutoFit/>
          </a:bodyPr>
          <a:lstStyle/>
          <a:p>
            <a:pPr algn="r" rtl="1">
              <a:lnSpc>
                <a:spcPct val="110000"/>
              </a:lnSpc>
              <a:spcBef>
                <a:spcPts val="0"/>
              </a:spcBef>
              <a:spcAft>
                <a:spcPts val="300"/>
              </a:spcAft>
            </a:pPr>
            <a:r>
              <a:rPr sz="2500" b="1" lang="ar-SA" altLang="en-US">
                <a:solidFill>
                  <a:srgbClr val="FFFFFF"/>
                </a:solidFill>
                <a:latin typeface="Arial"/>
                <a:cs typeface="Arial"/>
              </a:rPr>
              <a:t>‫الغرض من التطبيق‬</a:t>
            </a:r>
          </a:p>
        </p:txBody>
      </p:sp>
      <p:sp>
        <p:nvSpPr>
          <p:cNvPr id="10" name="TextBox 9"/>
          <p:cNvSpPr txBox="1"/>
          <p:nvPr/>
        </p:nvSpPr>
        <p:spPr>
          <a:xfrm>
            <a:off x="621792" y="2441448"/>
            <a:ext cx="4690872" cy="1645920"/>
          </a:xfrm>
          <a:prstGeom prst="rect">
            <a:avLst/>
          </a:prstGeom>
          <a:noFill/>
        </p:spPr>
        <p:txBody>
          <a:bodyPr wrap="square" lIns="0" rIns="0" tIns="0" bIns="0" anchor="t">
            <a:spAutoFit/>
          </a:bodyPr>
          <a:lstStyle/>
          <a:p>
            <a:pPr algn="r" rtl="1">
              <a:lnSpc>
                <a:spcPct val="110000"/>
              </a:lnSpc>
              <a:spcBef>
                <a:spcPts val="0"/>
              </a:spcBef>
              <a:spcAft>
                <a:spcPts val="300"/>
              </a:spcAft>
            </a:pPr>
            <a:r>
              <a:rPr sz="2300" b="0" lang="ar-SA" altLang="en-US">
                <a:solidFill>
                  <a:srgbClr val="FFFFFF"/>
                </a:solidFill>
                <a:latin typeface="Arial"/>
                <a:cs typeface="Arial"/>
              </a:rPr>
              <a:t>‫ابحث في مكتبة السير الذاتية المحلية وفق متطلبات الوظيفة، وراجع الأدلة الداعمة، واحفظ قرارات التوظيف.‬</a:t>
            </a:r>
          </a:p>
        </p:txBody>
      </p:sp>
      <p:sp>
        <p:nvSpPr>
          <p:cNvPr id="11" name="TextBox 10"/>
          <p:cNvSpPr txBox="1"/>
          <p:nvPr/>
        </p:nvSpPr>
        <p:spPr>
          <a:xfrm>
            <a:off x="621792" y="4178808"/>
            <a:ext cx="475488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800" b="1" lang="ar-SA" altLang="en-US">
                <a:solidFill>
                  <a:srgbClr val="C0A3EA"/>
                </a:solidFill>
                <a:latin typeface="Arial"/>
                <a:cs typeface="Arial"/>
              </a:rPr>
              <a:t>‫المثال التوضيحي‬</a:t>
            </a:r>
          </a:p>
        </p:txBody>
      </p:sp>
      <p:sp>
        <p:nvSpPr>
          <p:cNvPr id="12" name="TextBox 11"/>
          <p:cNvSpPr txBox="1"/>
          <p:nvPr/>
        </p:nvSpPr>
        <p:spPr>
          <a:xfrm>
            <a:off x="621792" y="4663440"/>
            <a:ext cx="4709160" cy="1124712"/>
          </a:xfrm>
          <a:prstGeom prst="rect">
            <a:avLst/>
          </a:prstGeom>
          <a:noFill/>
        </p:spPr>
        <p:txBody>
          <a:bodyPr wrap="square" lIns="0" rIns="0" tIns="0" bIns="0" anchor="t">
            <a:spAutoFit/>
          </a:bodyPr>
          <a:lstStyle/>
          <a:p>
            <a:pPr algn="r" rtl="1">
              <a:lnSpc>
                <a:spcPct val="110000"/>
              </a:lnSpc>
              <a:spcBef>
                <a:spcPts val="0"/>
              </a:spcBef>
              <a:spcAft>
                <a:spcPts val="300"/>
              </a:spcAft>
            </a:pPr>
            <a:r>
              <a:rPr sz="1700" b="0" lang="ar-SA" altLang="en-US">
                <a:solidFill>
                  <a:srgbClr val="FFFFFF"/>
                </a:solidFill>
                <a:latin typeface="Arial"/>
                <a:cs typeface="Arial"/>
              </a:rPr>
              <a:t>‫مدير التدريب والتطوير‬</a:t>
            </a:r>
          </a:p>
          <a:p>
            <a:pPr algn="r" rtl="1">
              <a:lnSpc>
                <a:spcPct val="110000"/>
              </a:lnSpc>
              <a:spcBef>
                <a:spcPts val="0"/>
              </a:spcBef>
              <a:spcAft>
                <a:spcPts val="300"/>
              </a:spcAft>
            </a:pPr>
            <a:r>
              <a:rPr sz="1700" b="0" lang="ar-SA" altLang="en-US">
                <a:solidFill>
                  <a:srgbClr val="FFFFFF"/>
                </a:solidFill>
                <a:latin typeface="Arial"/>
                <a:cs typeface="Arial"/>
              </a:rPr>
              <a:t>‫مجموعة أغذية ومشروبات في الرياض‬</a:t>
            </a:r>
          </a:p>
          <a:p>
            <a:pPr algn="r" rtl="1">
              <a:lnSpc>
                <a:spcPct val="110000"/>
              </a:lnSpc>
              <a:spcBef>
                <a:spcPts val="0"/>
              </a:spcBef>
              <a:spcAft>
                <a:spcPts val="300"/>
              </a:spcAft>
            </a:pPr>
            <a:r>
              <a:rPr sz="1700" b="0" lang="ar-SA" altLang="en-US">
                <a:solidFill>
                  <a:srgbClr val="FFFFFF"/>
                </a:solidFill>
                <a:latin typeface="Arial"/>
                <a:cs typeface="Arial"/>
              </a:rPr>
              <a:t>‫مرشحون وسجلات تقييم توضيحية خيالية‬</a:t>
            </a:r>
          </a:p>
        </p:txBody>
      </p:sp>
      <p:sp>
        <p:nvSpPr>
          <p:cNvPr id="13" name="Rectangle 12"/>
          <p:cNvSpPr/>
          <p:nvPr/>
        </p:nvSpPr>
        <p:spPr>
          <a:xfrm>
            <a:off x="5650992" y="1792224"/>
            <a:ext cx="5980176" cy="427024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screenshot:01-jobs.png" descr="01-jobs.png"/>
          <p:cNvPicPr>
            <a:picLocks noChangeAspect="1"/>
          </p:cNvPicPr>
          <p:nvPr/>
        </p:nvPicPr>
        <p:blipFill>
          <a:blip r:embed="rId3"/>
          <a:srcRect/>
          <a:stretch>
            <a:fillRect/>
          </a:stretch>
        </p:blipFill>
        <p:spPr>
          <a:xfrm>
            <a:off x="5715000" y="1885187"/>
            <a:ext cx="5852160" cy="40843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content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‫المحتويات‬</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‫تتبع الأقسام مراحل العمل على مهمة توظيف.‬</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‫دليل مسؤول التوظيف‬</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٠٢‬</a:t>
            </a:r>
          </a:p>
        </p:txBody>
      </p:sp>
      <p:sp>
        <p:nvSpPr>
          <p:cNvPr id="9" name="Rounded Rectangle 8">
            <a:hlinkClick action="ppaction://hlinksldjump" r:id="rId4"/>
          </p:cNvPr>
          <p:cNvSpPr/>
          <p:nvPr/>
        </p:nvSpPr>
        <p:spPr>
          <a:xfrm>
            <a:off x="6156959" y="1764792"/>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3927" y="1920240"/>
            <a:ext cx="4370832" cy="365760"/>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‫مساحة العمل ومكتبة السير‬</a:t>
            </a:r>
          </a:p>
        </p:txBody>
      </p:sp>
      <p:sp>
        <p:nvSpPr>
          <p:cNvPr id="11" name="TextBox 10"/>
          <p:cNvSpPr txBox="1"/>
          <p:nvPr/>
        </p:nvSpPr>
        <p:spPr>
          <a:xfrm>
            <a:off x="6312407" y="1947672"/>
            <a:ext cx="804672" cy="265176"/>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‫٠٣–٠٥‬</a:t>
            </a:r>
          </a:p>
        </p:txBody>
      </p:sp>
      <p:sp>
        <p:nvSpPr>
          <p:cNvPr id="12" name="TextBox 11"/>
          <p:cNvSpPr txBox="1"/>
          <p:nvPr/>
        </p:nvSpPr>
        <p:spPr>
          <a:xfrm>
            <a:off x="6403847" y="2441448"/>
            <a:ext cx="5010912"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‫التنقّل، وخطوات العمل، واستيراد السير الذاتية‬</a:t>
            </a:r>
          </a:p>
        </p:txBody>
      </p:sp>
      <p:sp>
        <p:nvSpPr>
          <p:cNvPr id="13" name="Rounded Rectangle 12">
            <a:hlinkClick action="ppaction://hlinksldjump" r:id="rId5"/>
          </p:cNvPr>
          <p:cNvSpPr/>
          <p:nvPr/>
        </p:nvSpPr>
        <p:spPr>
          <a:xfrm>
            <a:off x="6156959" y="3246120"/>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3927" y="3401568"/>
            <a:ext cx="4370832" cy="365760"/>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‫الوظائف والبحث‬</a:t>
            </a:r>
          </a:p>
        </p:txBody>
      </p:sp>
      <p:sp>
        <p:nvSpPr>
          <p:cNvPr id="15" name="TextBox 14"/>
          <p:cNvSpPr txBox="1"/>
          <p:nvPr/>
        </p:nvSpPr>
        <p:spPr>
          <a:xfrm>
            <a:off x="6312407" y="3429000"/>
            <a:ext cx="804672" cy="265176"/>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‫٠٦–٠٩‬</a:t>
            </a:r>
          </a:p>
        </p:txBody>
      </p:sp>
      <p:sp>
        <p:nvSpPr>
          <p:cNvPr id="16" name="TextBox 15"/>
          <p:cNvSpPr txBox="1"/>
          <p:nvPr/>
        </p:nvSpPr>
        <p:spPr>
          <a:xfrm>
            <a:off x="6403847" y="3922776"/>
            <a:ext cx="5010912"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‫الوظائف المحفوظة، والبحث السريع، والمعايير، والتصفية‬</a:t>
            </a:r>
          </a:p>
        </p:txBody>
      </p:sp>
      <p:sp>
        <p:nvSpPr>
          <p:cNvPr id="17" name="Rounded Rectangle 16">
            <a:hlinkClick action="ppaction://hlinksldjump" r:id="rId6"/>
          </p:cNvPr>
          <p:cNvSpPr/>
          <p:nvPr/>
        </p:nvSpPr>
        <p:spPr>
          <a:xfrm>
            <a:off x="6156959" y="4727448"/>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3927" y="4882896"/>
            <a:ext cx="4370832" cy="365760"/>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‫تقييم المرشحين‬</a:t>
            </a:r>
          </a:p>
        </p:txBody>
      </p:sp>
      <p:sp>
        <p:nvSpPr>
          <p:cNvPr id="19" name="TextBox 18"/>
          <p:cNvSpPr txBox="1"/>
          <p:nvPr/>
        </p:nvSpPr>
        <p:spPr>
          <a:xfrm>
            <a:off x="6312407" y="4910328"/>
            <a:ext cx="804672" cy="265176"/>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‫١٠–١٥‬</a:t>
            </a:r>
          </a:p>
        </p:txBody>
      </p:sp>
      <p:sp>
        <p:nvSpPr>
          <p:cNvPr id="20" name="TextBox 19"/>
          <p:cNvSpPr txBox="1"/>
          <p:nvPr/>
        </p:nvSpPr>
        <p:spPr>
          <a:xfrm>
            <a:off x="6403847" y="5404104"/>
            <a:ext cx="5010912"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‫الأدلة، والتقييمات، والملفات، والمقارنة، والقوائم المختصرة‬</a:t>
            </a:r>
          </a:p>
        </p:txBody>
      </p:sp>
      <p:sp>
        <p:nvSpPr>
          <p:cNvPr id="21" name="Rounded Rectangle 20">
            <a:hlinkClick action="ppaction://hlinksldjump" r:id="rId7"/>
          </p:cNvPr>
          <p:cNvSpPr/>
          <p:nvPr/>
        </p:nvSpPr>
        <p:spPr>
          <a:xfrm>
            <a:off x="469391" y="1764792"/>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56359" y="1920240"/>
            <a:ext cx="4370832" cy="365760"/>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‫سجلات الوظائف‬</a:t>
            </a:r>
          </a:p>
        </p:txBody>
      </p:sp>
      <p:sp>
        <p:nvSpPr>
          <p:cNvPr id="23" name="TextBox 22"/>
          <p:cNvSpPr txBox="1"/>
          <p:nvPr/>
        </p:nvSpPr>
        <p:spPr>
          <a:xfrm>
            <a:off x="624839" y="1947672"/>
            <a:ext cx="804672" cy="265176"/>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‫١٦–١٨‬</a:t>
            </a:r>
          </a:p>
        </p:txBody>
      </p:sp>
      <p:sp>
        <p:nvSpPr>
          <p:cNvPr id="24" name="TextBox 23"/>
          <p:cNvSpPr txBox="1"/>
          <p:nvPr/>
        </p:nvSpPr>
        <p:spPr>
          <a:xfrm>
            <a:off x="716279" y="2441448"/>
            <a:ext cx="5010912"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‫تحديث المطابقات، وسجل الحالة، ونتائج التعيين‬</a:t>
            </a:r>
          </a:p>
        </p:txBody>
      </p:sp>
      <p:sp>
        <p:nvSpPr>
          <p:cNvPr id="25" name="Rounded Rectangle 24">
            <a:hlinkClick action="ppaction://hlinksldjump" r:id="rId8"/>
          </p:cNvPr>
          <p:cNvSpPr/>
          <p:nvPr/>
        </p:nvSpPr>
        <p:spPr>
          <a:xfrm>
            <a:off x="469391" y="3246120"/>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56359" y="3401568"/>
            <a:ext cx="4370832" cy="365760"/>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‫إعادة الترتيب بالذكاء الاصطناعي‬</a:t>
            </a:r>
          </a:p>
        </p:txBody>
      </p:sp>
      <p:sp>
        <p:nvSpPr>
          <p:cNvPr id="27" name="TextBox 26"/>
          <p:cNvSpPr txBox="1"/>
          <p:nvPr/>
        </p:nvSpPr>
        <p:spPr>
          <a:xfrm>
            <a:off x="624839" y="3429000"/>
            <a:ext cx="804672" cy="265176"/>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‫١٩–٢١‬</a:t>
            </a:r>
          </a:p>
        </p:txBody>
      </p:sp>
      <p:sp>
        <p:nvSpPr>
          <p:cNvPr id="28" name="TextBox 27"/>
          <p:cNvSpPr txBox="1"/>
          <p:nvPr/>
        </p:nvSpPr>
        <p:spPr>
          <a:xfrm>
            <a:off x="716279" y="3922776"/>
            <a:ext cx="5010912"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‫المزوّدون، ومراجعة البيانات، وفهم النتائج‬</a:t>
            </a:r>
          </a:p>
        </p:txBody>
      </p:sp>
      <p:sp>
        <p:nvSpPr>
          <p:cNvPr id="29" name="Rounded Rectangle 28">
            <a:hlinkClick action="ppaction://hlinksldjump" r:id="rId9"/>
          </p:cNvPr>
          <p:cNvSpPr/>
          <p:nvPr/>
        </p:nvSpPr>
        <p:spPr>
          <a:xfrm>
            <a:off x="469391" y="4727448"/>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56359" y="4882896"/>
            <a:ext cx="4370832" cy="365760"/>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‫التشغيل والمعلومات المرجعية‬</a:t>
            </a:r>
          </a:p>
        </p:txBody>
      </p:sp>
      <p:sp>
        <p:nvSpPr>
          <p:cNvPr id="31" name="TextBox 30"/>
          <p:cNvSpPr txBox="1"/>
          <p:nvPr/>
        </p:nvSpPr>
        <p:spPr>
          <a:xfrm>
            <a:off x="624839" y="4910328"/>
            <a:ext cx="804672" cy="265176"/>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‫٢٢–٢٤‬</a:t>
            </a:r>
          </a:p>
        </p:txBody>
      </p:sp>
      <p:sp>
        <p:nvSpPr>
          <p:cNvPr id="32" name="TextBox 31"/>
          <p:cNvSpPr txBox="1"/>
          <p:nvPr/>
        </p:nvSpPr>
        <p:spPr>
          <a:xfrm>
            <a:off x="716279" y="5404104"/>
            <a:ext cx="5010912"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‫المجلد المُراقَب، والنسخ الاحتياطي، ونطاق السجلات‬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workspace">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‫التنقّل في مساحة العمل‬</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‫يجمع قسم «الوظائف» الوظائف المحفوظة والبحث السريع.‬</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٠٣‬</a:t>
            </a:r>
          </a:p>
        </p:txBody>
      </p:sp>
      <p:sp>
        <p:nvSpPr>
          <p:cNvPr id="9" name="Rounded Rectangle 8"/>
          <p:cNvSpPr/>
          <p:nvPr/>
        </p:nvSpPr>
        <p:spPr>
          <a:xfrm>
            <a:off x="594360" y="1792224"/>
            <a:ext cx="2889504" cy="1316736"/>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920240"/>
            <a:ext cx="2532888" cy="31089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6D3FB0"/>
                </a:solidFill>
                <a:latin typeface="Arial"/>
                <a:cs typeface="Arial"/>
              </a:rPr>
              <a:t>‫الوظائف‬</a:t>
            </a:r>
          </a:p>
        </p:txBody>
      </p:sp>
      <p:sp>
        <p:nvSpPr>
          <p:cNvPr id="11" name="TextBox 10"/>
          <p:cNvSpPr txBox="1"/>
          <p:nvPr/>
        </p:nvSpPr>
        <p:spPr>
          <a:xfrm>
            <a:off x="768096" y="2276856"/>
            <a:ext cx="2505456" cy="795528"/>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‫ابحث عن المرشحين واحفظ التقييمات ونتائج التعيين.‬</a:t>
            </a:r>
          </a:p>
        </p:txBody>
      </p:sp>
      <p:sp>
        <p:nvSpPr>
          <p:cNvPr id="12" name="Rounded Rectangle 11"/>
          <p:cNvSpPr/>
          <p:nvPr/>
        </p:nvSpPr>
        <p:spPr>
          <a:xfrm>
            <a:off x="594360" y="3200400"/>
            <a:ext cx="2889504" cy="1316736"/>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328416"/>
            <a:ext cx="2532888" cy="31089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6D3FB0"/>
                </a:solidFill>
                <a:latin typeface="Arial"/>
                <a:cs typeface="Arial"/>
              </a:rPr>
              <a:t>‫المكتبة‬</a:t>
            </a:r>
          </a:p>
        </p:txBody>
      </p:sp>
      <p:sp>
        <p:nvSpPr>
          <p:cNvPr id="14" name="TextBox 13"/>
          <p:cNvSpPr txBox="1"/>
          <p:nvPr/>
        </p:nvSpPr>
        <p:spPr>
          <a:xfrm>
            <a:off x="768096" y="3685032"/>
            <a:ext cx="2505456" cy="795528"/>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‫استورد السير، وراجع بيانات المرشحين، واربط نسخ السير الذاتية.‬</a:t>
            </a:r>
          </a:p>
        </p:txBody>
      </p:sp>
      <p:sp>
        <p:nvSpPr>
          <p:cNvPr id="15" name="Rounded Rectangle 14"/>
          <p:cNvSpPr/>
          <p:nvPr/>
        </p:nvSpPr>
        <p:spPr>
          <a:xfrm>
            <a:off x="594360" y="4608576"/>
            <a:ext cx="2889504" cy="1316736"/>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736592"/>
            <a:ext cx="2532888" cy="31089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6D3FB0"/>
                </a:solidFill>
                <a:latin typeface="Arial"/>
                <a:cs typeface="Arial"/>
              </a:rPr>
              <a:t>‫الإعدادات‬</a:t>
            </a:r>
          </a:p>
        </p:txBody>
      </p:sp>
      <p:sp>
        <p:nvSpPr>
          <p:cNvPr id="17" name="TextBox 16"/>
          <p:cNvSpPr txBox="1"/>
          <p:nvPr/>
        </p:nvSpPr>
        <p:spPr>
          <a:xfrm>
            <a:off x="768096" y="5093208"/>
            <a:ext cx="2505456" cy="795528"/>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‫اضبط التفضيلات ومزوّدي الذكاء الاصطناعي والمجلد والنسخ الاحتياطي.‬</a:t>
            </a:r>
          </a:p>
        </p:txBody>
      </p:sp>
      <p:sp>
        <p:nvSpPr>
          <p:cNvPr id="18" name="Rectangle 17"/>
          <p:cNvSpPr/>
          <p:nvPr/>
        </p:nvSpPr>
        <p:spPr>
          <a:xfrm>
            <a:off x="3703320" y="1773936"/>
            <a:ext cx="7927848" cy="4425696"/>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1-jobs.png" descr="01-jobs.png"/>
          <p:cNvPicPr>
            <a:picLocks noChangeAspect="1"/>
          </p:cNvPicPr>
          <p:nvPr/>
        </p:nvPicPr>
        <p:blipFill>
          <a:blip r:embed="rId3"/>
          <a:srcRect/>
          <a:stretch>
            <a:fillRect/>
          </a:stretch>
        </p:blipFill>
        <p:spPr>
          <a:xfrm>
            <a:off x="4588309" y="1837943"/>
            <a:ext cx="6157869" cy="4297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workflow">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‫خطوات العمل على مهمة توظيف‬</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‫مثال: فرز المرشحين لوظيفة مدير التدريب والتطوير.‬</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‫خطوات التوظيف · مخطط قابل للتعديل‬</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٠٤‬</a:t>
            </a:r>
          </a:p>
        </p:txBody>
      </p:sp>
      <p:sp>
        <p:nvSpPr>
          <p:cNvPr id="9" name="Rounded Rectangle 8"/>
          <p:cNvSpPr/>
          <p:nvPr/>
        </p:nvSpPr>
        <p:spPr>
          <a:xfrm>
            <a:off x="8122919" y="1801368"/>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13007" y="1984248"/>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1" name="TextBox 10"/>
          <p:cNvSpPr txBox="1"/>
          <p:nvPr/>
        </p:nvSpPr>
        <p:spPr>
          <a:xfrm>
            <a:off x="8342375" y="1947672"/>
            <a:ext cx="2615184" cy="521207"/>
          </a:xfrm>
          <a:prstGeom prst="rect">
            <a:avLst/>
          </a:prstGeom>
          <a:noFill/>
        </p:spPr>
        <p:txBody>
          <a:bodyPr wrap="square" lIns="0" rIns="0" tIns="0" bIns="0" anchor="t">
            <a:spAutoFit/>
          </a:bodyPr>
          <a:lstStyle/>
          <a:p>
            <a:pPr algn="r" rtl="1">
              <a:lnSpc>
                <a:spcPct val="110000"/>
              </a:lnSpc>
              <a:spcBef>
                <a:spcPts val="0"/>
              </a:spcBef>
              <a:spcAft>
                <a:spcPts val="300"/>
              </a:spcAft>
            </a:pPr>
            <a:r>
              <a:rPr sz="2000" b="1" lang="ar-SA" altLang="en-US">
                <a:solidFill>
                  <a:srgbClr val="2B2733"/>
                </a:solidFill>
                <a:latin typeface="Arial"/>
                <a:cs typeface="Arial"/>
              </a:rPr>
              <a:t>‫استيراد السير‬</a:t>
            </a:r>
          </a:p>
        </p:txBody>
      </p:sp>
      <p:sp>
        <p:nvSpPr>
          <p:cNvPr id="12" name="TextBox 11"/>
          <p:cNvSpPr txBox="1"/>
          <p:nvPr/>
        </p:nvSpPr>
        <p:spPr>
          <a:xfrm>
            <a:off x="8305799" y="2578608"/>
            <a:ext cx="3108960"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‫أنشئ مكتبة المرشحين المحلية.‬</a:t>
            </a:r>
          </a:p>
        </p:txBody>
      </p:sp>
      <p:sp>
        <p:nvSpPr>
          <p:cNvPr id="13" name="Rounded Rectangle 12"/>
          <p:cNvSpPr/>
          <p:nvPr/>
        </p:nvSpPr>
        <p:spPr>
          <a:xfrm>
            <a:off x="4410455" y="1801368"/>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400543" y="1984248"/>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5" name="TextBox 14"/>
          <p:cNvSpPr txBox="1"/>
          <p:nvPr/>
        </p:nvSpPr>
        <p:spPr>
          <a:xfrm>
            <a:off x="4629911" y="1947672"/>
            <a:ext cx="2615184" cy="521207"/>
          </a:xfrm>
          <a:prstGeom prst="rect">
            <a:avLst/>
          </a:prstGeom>
          <a:noFill/>
        </p:spPr>
        <p:txBody>
          <a:bodyPr wrap="square" lIns="0" rIns="0" tIns="0" bIns="0" anchor="t">
            <a:spAutoFit/>
          </a:bodyPr>
          <a:lstStyle/>
          <a:p>
            <a:pPr algn="r" rtl="1">
              <a:lnSpc>
                <a:spcPct val="110000"/>
              </a:lnSpc>
              <a:spcBef>
                <a:spcPts val="0"/>
              </a:spcBef>
              <a:spcAft>
                <a:spcPts val="300"/>
              </a:spcAft>
            </a:pPr>
            <a:r>
              <a:rPr sz="2000" b="1" lang="ar-SA" altLang="en-US">
                <a:solidFill>
                  <a:srgbClr val="2B2733"/>
                </a:solidFill>
                <a:latin typeface="Arial"/>
                <a:cs typeface="Arial"/>
              </a:rPr>
              <a:t>‫تحديد المتطلبات‬</a:t>
            </a:r>
          </a:p>
        </p:txBody>
      </p:sp>
      <p:sp>
        <p:nvSpPr>
          <p:cNvPr id="16" name="TextBox 15"/>
          <p:cNvSpPr txBox="1"/>
          <p:nvPr/>
        </p:nvSpPr>
        <p:spPr>
          <a:xfrm>
            <a:off x="4593335" y="2578608"/>
            <a:ext cx="3108960"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‫أنشئ وظيفة محفوظة أو بحثًا سريعًا.‬</a:t>
            </a:r>
          </a:p>
        </p:txBody>
      </p:sp>
      <p:sp>
        <p:nvSpPr>
          <p:cNvPr id="17" name="Rounded Rectangle 16"/>
          <p:cNvSpPr/>
          <p:nvPr/>
        </p:nvSpPr>
        <p:spPr>
          <a:xfrm>
            <a:off x="697991" y="1801368"/>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88080" y="1984248"/>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9" name="TextBox 18"/>
          <p:cNvSpPr txBox="1"/>
          <p:nvPr/>
        </p:nvSpPr>
        <p:spPr>
          <a:xfrm>
            <a:off x="917448" y="1947672"/>
            <a:ext cx="2615184" cy="521207"/>
          </a:xfrm>
          <a:prstGeom prst="rect">
            <a:avLst/>
          </a:prstGeom>
          <a:noFill/>
        </p:spPr>
        <p:txBody>
          <a:bodyPr wrap="square" lIns="0" rIns="0" tIns="0" bIns="0" anchor="t">
            <a:spAutoFit/>
          </a:bodyPr>
          <a:lstStyle/>
          <a:p>
            <a:pPr algn="r" rtl="1">
              <a:lnSpc>
                <a:spcPct val="110000"/>
              </a:lnSpc>
              <a:spcBef>
                <a:spcPts val="0"/>
              </a:spcBef>
              <a:spcAft>
                <a:spcPts val="300"/>
              </a:spcAft>
            </a:pPr>
            <a:r>
              <a:rPr sz="2000" b="1" lang="ar-SA" altLang="en-US">
                <a:solidFill>
                  <a:srgbClr val="2B2733"/>
                </a:solidFill>
                <a:latin typeface="Arial"/>
                <a:cs typeface="Arial"/>
              </a:rPr>
              <a:t>‫البحث عن مطابقات‬</a:t>
            </a:r>
          </a:p>
        </p:txBody>
      </p:sp>
      <p:sp>
        <p:nvSpPr>
          <p:cNvPr id="20" name="TextBox 19"/>
          <p:cNvSpPr txBox="1"/>
          <p:nvPr/>
        </p:nvSpPr>
        <p:spPr>
          <a:xfrm>
            <a:off x="880872" y="2578608"/>
            <a:ext cx="3108960"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‫راجع النتائج من المكتبة المحلية.‬</a:t>
            </a:r>
          </a:p>
        </p:txBody>
      </p:sp>
      <p:sp>
        <p:nvSpPr>
          <p:cNvPr id="21" name="Rounded Rectangle 20"/>
          <p:cNvSpPr/>
          <p:nvPr/>
        </p:nvSpPr>
        <p:spPr>
          <a:xfrm>
            <a:off x="697991" y="3703320"/>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88080" y="388620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٤</a:t>
            </a:r>
          </a:p>
        </p:txBody>
      </p:sp>
      <p:sp>
        <p:nvSpPr>
          <p:cNvPr id="23" name="TextBox 22"/>
          <p:cNvSpPr txBox="1"/>
          <p:nvPr/>
        </p:nvSpPr>
        <p:spPr>
          <a:xfrm>
            <a:off x="917448" y="3849624"/>
            <a:ext cx="2615184" cy="521207"/>
          </a:xfrm>
          <a:prstGeom prst="rect">
            <a:avLst/>
          </a:prstGeom>
          <a:noFill/>
        </p:spPr>
        <p:txBody>
          <a:bodyPr wrap="square" lIns="0" rIns="0" tIns="0" bIns="0" anchor="t">
            <a:spAutoFit/>
          </a:bodyPr>
          <a:lstStyle/>
          <a:p>
            <a:pPr algn="r" rtl="1">
              <a:lnSpc>
                <a:spcPct val="110000"/>
              </a:lnSpc>
              <a:spcBef>
                <a:spcPts val="0"/>
              </a:spcBef>
              <a:spcAft>
                <a:spcPts val="300"/>
              </a:spcAft>
            </a:pPr>
            <a:r>
              <a:rPr sz="2000" b="1" lang="ar-SA" altLang="en-US">
                <a:solidFill>
                  <a:srgbClr val="2B2733"/>
                </a:solidFill>
                <a:latin typeface="Arial"/>
                <a:cs typeface="Arial"/>
              </a:rPr>
              <a:t>‫تقييم المرشحين‬</a:t>
            </a:r>
          </a:p>
        </p:txBody>
      </p:sp>
      <p:sp>
        <p:nvSpPr>
          <p:cNvPr id="24" name="TextBox 23"/>
          <p:cNvSpPr txBox="1"/>
          <p:nvPr/>
        </p:nvSpPr>
        <p:spPr>
          <a:xfrm>
            <a:off x="880872" y="4480559"/>
            <a:ext cx="3108960"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‫راجع الأدلة وقارن واحفظ التقييمات.‬</a:t>
            </a:r>
          </a:p>
        </p:txBody>
      </p:sp>
      <p:sp>
        <p:nvSpPr>
          <p:cNvPr id="25" name="Rounded Rectangle 24"/>
          <p:cNvSpPr/>
          <p:nvPr/>
        </p:nvSpPr>
        <p:spPr>
          <a:xfrm>
            <a:off x="4410455" y="3703320"/>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00543" y="388620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٥</a:t>
            </a:r>
          </a:p>
        </p:txBody>
      </p:sp>
      <p:sp>
        <p:nvSpPr>
          <p:cNvPr id="27" name="TextBox 26"/>
          <p:cNvSpPr txBox="1"/>
          <p:nvPr/>
        </p:nvSpPr>
        <p:spPr>
          <a:xfrm>
            <a:off x="4629911" y="3849624"/>
            <a:ext cx="2615184" cy="521207"/>
          </a:xfrm>
          <a:prstGeom prst="rect">
            <a:avLst/>
          </a:prstGeom>
          <a:noFill/>
        </p:spPr>
        <p:txBody>
          <a:bodyPr wrap="square" lIns="0" rIns="0" tIns="0" bIns="0" anchor="t">
            <a:spAutoFit/>
          </a:bodyPr>
          <a:lstStyle/>
          <a:p>
            <a:pPr algn="r" rtl="1">
              <a:lnSpc>
                <a:spcPct val="110000"/>
              </a:lnSpc>
              <a:spcBef>
                <a:spcPts val="0"/>
              </a:spcBef>
              <a:spcAft>
                <a:spcPts val="300"/>
              </a:spcAft>
            </a:pPr>
            <a:r>
              <a:rPr sz="2000" b="1" lang="ar-SA" altLang="en-US">
                <a:solidFill>
                  <a:srgbClr val="2B2733"/>
                </a:solidFill>
                <a:latin typeface="Arial"/>
                <a:cs typeface="Arial"/>
              </a:rPr>
              <a:t>‫إعداد القائمة المختصرة‬</a:t>
            </a:r>
          </a:p>
        </p:txBody>
      </p:sp>
      <p:sp>
        <p:nvSpPr>
          <p:cNvPr id="28" name="TextBox 27"/>
          <p:cNvSpPr txBox="1"/>
          <p:nvPr/>
        </p:nvSpPr>
        <p:spPr>
          <a:xfrm>
            <a:off x="4593335" y="4480559"/>
            <a:ext cx="3108960"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‫اختر المرشحين ورتّب القائمة وصدّرها.‬</a:t>
            </a:r>
          </a:p>
        </p:txBody>
      </p:sp>
      <p:sp>
        <p:nvSpPr>
          <p:cNvPr id="29" name="Rounded Rectangle 28"/>
          <p:cNvSpPr/>
          <p:nvPr/>
        </p:nvSpPr>
        <p:spPr>
          <a:xfrm>
            <a:off x="8122919" y="3703320"/>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113007" y="388620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٦</a:t>
            </a:r>
          </a:p>
        </p:txBody>
      </p:sp>
      <p:sp>
        <p:nvSpPr>
          <p:cNvPr id="31" name="TextBox 30"/>
          <p:cNvSpPr txBox="1"/>
          <p:nvPr/>
        </p:nvSpPr>
        <p:spPr>
          <a:xfrm>
            <a:off x="8342375" y="3849624"/>
            <a:ext cx="2615184" cy="521207"/>
          </a:xfrm>
          <a:prstGeom prst="rect">
            <a:avLst/>
          </a:prstGeom>
          <a:noFill/>
        </p:spPr>
        <p:txBody>
          <a:bodyPr wrap="square" lIns="0" rIns="0" tIns="0" bIns="0" anchor="t">
            <a:spAutoFit/>
          </a:bodyPr>
          <a:lstStyle/>
          <a:p>
            <a:pPr algn="r" rtl="1">
              <a:lnSpc>
                <a:spcPct val="110000"/>
              </a:lnSpc>
              <a:spcBef>
                <a:spcPts val="0"/>
              </a:spcBef>
              <a:spcAft>
                <a:spcPts val="300"/>
              </a:spcAft>
            </a:pPr>
            <a:r>
              <a:rPr sz="2000" b="1" lang="ar-SA" altLang="en-US">
                <a:solidFill>
                  <a:srgbClr val="2B2733"/>
                </a:solidFill>
                <a:latin typeface="Arial"/>
                <a:cs typeface="Arial"/>
              </a:rPr>
              <a:t>‫تسجيل النتيجة‬</a:t>
            </a:r>
          </a:p>
        </p:txBody>
      </p:sp>
      <p:sp>
        <p:nvSpPr>
          <p:cNvPr id="32" name="TextBox 31"/>
          <p:cNvSpPr txBox="1"/>
          <p:nvPr/>
        </p:nvSpPr>
        <p:spPr>
          <a:xfrm>
            <a:off x="8305799" y="4480559"/>
            <a:ext cx="3108960"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3D3949"/>
                </a:solidFill>
                <a:latin typeface="Arial"/>
                <a:cs typeface="Arial"/>
              </a:rPr>
              <a:t>‫حدّث الحالة والمرشح المعيّن والبدلاء.‬</a:t>
            </a:r>
          </a:p>
        </p:txBody>
      </p:sp>
      <p:cxnSp>
        <p:nvCxnSpPr>
          <p:cNvPr id="33" name="Connector 32"/>
          <p:cNvCxnSpPr/>
          <p:nvPr/>
        </p:nvCxnSpPr>
        <p:spPr>
          <a:xfrm flipH="1">
            <a:off x="7912607" y="2487168"/>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4200143" y="2487168"/>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435351" y="3291840"/>
            <a:ext cx="0" cy="384047"/>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0">
            <a:off x="4200143" y="4389120"/>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0">
            <a:off x="7912607" y="4389120"/>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33983" y="5532120"/>
            <a:ext cx="10917936"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6D3FB0"/>
                </a:solidFill>
                <a:latin typeface="Arial"/>
                <a:cs typeface="Arial"/>
              </a:rPr>
              <a:t>‫عند تغيّر السير الذاتية أو المتطلبات، حدّث مطابقات الوظيفة المحفوظة وراجع النتائج الجديدة.‬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library">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‫استيراد مكتبة السير الذاتية‬</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‫المدخلات المدعومة: PDF نصي، وDOCX، وMarkdown، ونص ملصق.‬</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٠٥‬</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‫افتح «المكتبة»‬</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«إضافة ملفات» أو «استيراد مجلد».‬</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‫استورد السير‬</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‫حدّد المستندات أو استخدم «لصق نص».‬</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‫راجع المعالجة‬</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‫راجع تنبيهات الاستيراد وبيانات المرشحين.‬</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2-library.png" descr="02-library.png"/>
          <p:cNvPicPr>
            <a:picLocks noChangeAspect="1"/>
          </p:cNvPicPr>
          <p:nvPr/>
        </p:nvPicPr>
        <p:blipFill>
          <a:blip r:embed="rId3"/>
          <a:srcRect/>
          <a:stretch>
            <a:fillRect/>
          </a:stretch>
        </p:blipFill>
        <p:spPr>
          <a:xfrm>
            <a:off x="4352406" y="1746504"/>
            <a:ext cx="6647963" cy="4407408"/>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‫لا تتطلب المطابقة المحلية مفتاح API.‬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aved-job">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‫إنشاء وظيفة محفوظة‬</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‫استخدم وظيفة محفوظة للمهام التي تتطلب متابعة وسجلات مستمرة.‬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٠٦‬</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‫اختر «وظيفة جديدة»‬</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‫افتح «الوظائف» واختر «+ وظيفة جديدة».‬</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‫أدخل الإعلان‬</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‫أضف المسمى والمتطلبات والمؤهلات.‬</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‫احفظ الوظيفة‬</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‫تبدأ الوظيفة بحالة «مفتوحة» مع تاريخ ووقت الإنشاء.‬</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3-job-editor.png" descr="03-job-editor.png"/>
          <p:cNvPicPr>
            <a:picLocks noChangeAspect="1"/>
          </p:cNvPicPr>
          <p:nvPr/>
        </p:nvPicPr>
        <p:blipFill>
          <a:blip r:embed="rId3"/>
          <a:srcRect/>
          <a:stretch>
            <a:fillRect/>
          </a:stretch>
        </p:blipFill>
        <p:spPr>
          <a:xfrm>
            <a:off x="3758184" y="2171574"/>
            <a:ext cx="7836408" cy="3557267"/>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‫استخدم «تغيير الحالة» لتحديث حالة الوظيفة.‬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express-search">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‫البحث السريع‬</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‫الصق الوظيفة ومتطلباتها لإجراء بحث مؤقت في مكتبة السير الذاتية.‬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٠٧‬</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‫افتح «بحث سريع»‬</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‫استخدم الزر بجانب «+ وظيفة جديدة» في «الوظائف».‬</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‫الصق التفاصيل‬</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‫أدخل الوصف والمتطلبات ثم ابحث عن مطابقات.‬</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‫راجع النتائج‬</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«إلغاء البحث» أو «حفظ كوظيفة».‬</a:t>
            </a:r>
          </a:p>
        </p:txBody>
      </p:sp>
      <p:sp>
        <p:nvSpPr>
          <p:cNvPr id="18" name="Rectangle 17"/>
          <p:cNvSpPr/>
          <p:nvPr/>
        </p:nvSpPr>
        <p:spPr>
          <a:xfrm>
            <a:off x="3703320" y="1801368"/>
            <a:ext cx="7918704" cy="43616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creenshot-caption:13-express-form.png"/>
          <p:cNvSpPr txBox="1"/>
          <p:nvPr/>
        </p:nvSpPr>
        <p:spPr>
          <a:xfrm>
            <a:off x="3749039" y="1554480"/>
            <a:ext cx="7827264" cy="210312"/>
          </a:xfrm>
          <a:prstGeom prst="rect">
            <a:avLst/>
          </a:prstGeom>
          <a:noFill/>
        </p:spPr>
        <p:txBody>
          <a:bodyPr wrap="square" lIns="0" rIns="0" tIns="0" bIns="0" anchor="t">
            <a:spAutoFit/>
          </a:bodyPr>
          <a:lstStyle/>
          <a:p>
            <a:pPr algn="r" rtl="1">
              <a:lnSpc>
                <a:spcPct val="110000"/>
              </a:lnSpc>
              <a:spcBef>
                <a:spcPts val="0"/>
              </a:spcBef>
              <a:spcAft>
                <a:spcPts val="300"/>
              </a:spcAft>
            </a:pPr>
            <a:r>
              <a:rPr sz="1019" b="0" lang="ar-SA" altLang="en-US">
                <a:solidFill>
                  <a:srgbClr val="716B7B"/>
                </a:solidFill>
                <a:latin typeface="Arial"/>
                <a:cs typeface="Arial"/>
              </a:rPr>
              <a:t>‫نموذج البحث المؤقت‬</a:t>
            </a:r>
          </a:p>
        </p:txBody>
      </p:sp>
      <p:pic>
        <p:nvPicPr>
          <p:cNvPr id="20" name="screenshot:13-express-form.png" descr="13-express-form.png"/>
          <p:cNvPicPr>
            <a:picLocks noChangeAspect="1"/>
          </p:cNvPicPr>
          <p:nvPr/>
        </p:nvPicPr>
        <p:blipFill>
          <a:blip r:embed="rId3"/>
          <a:srcRect/>
          <a:stretch>
            <a:fillRect/>
          </a:stretch>
        </p:blipFill>
        <p:spPr>
          <a:xfrm>
            <a:off x="3767328" y="1958472"/>
            <a:ext cx="7790688" cy="4047478"/>
          </a:xfrm>
          <a:prstGeom prst="rect">
            <a:avLst/>
          </a:prstGeom>
        </p:spPr>
      </p:pic>
      <p:sp>
        <p:nvSpPr>
          <p:cNvPr id="21" name="Rounded Rectangle 20"/>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‫لا يُحفظ شيء إلا عند اختيار «حفظ كوظيفة».‬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criteria">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‫تحديد معايير التقييم‬</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‫ميّز بين المتطلبات الأساسية والمؤهلات المفضّلة.‬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٠٨‬</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‫أنشئ المعايير‬</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‫استخدم أسطر المتطلبات أو «إضافة معيار».‬</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‫حدّد الأهمية‬</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«مطلوب» أو «مفضّل» لكل بند.‬</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‫حدّد دليلًا واضحًا‬</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‫مثال: قيادة التدريب في عدة فروع مطاعم.‬</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4-criteria.png" descr="04-criteria.png"/>
          <p:cNvPicPr>
            <a:picLocks noChangeAspect="1"/>
          </p:cNvPicPr>
          <p:nvPr/>
        </p:nvPicPr>
        <p:blipFill>
          <a:blip r:embed="rId3"/>
          <a:srcRect/>
          <a:stretch>
            <a:fillRect/>
          </a:stretch>
        </p:blipFill>
        <p:spPr>
          <a:xfrm>
            <a:off x="3758184" y="2681349"/>
            <a:ext cx="7836408" cy="2537716"/>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‫المعايير المطلوبة لا ترفض المرشحين تلقائيًا.‬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matche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‫البحث عن المرشحين وتصفيتهم‬</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‫ابحث باستخدام الإعلان، ثم صفِّ النتائج المعروضة.‬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٠٩‬</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‫البحث عن مطابقات‬</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‫ابدأ البحث من الوظيفة المحددة.‬</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‫راجع الترتيب‬</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‫استخدم الدرجات لتحديد أولوية مراجعة الأدلة.‬</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‫طبّق التصفية‬</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‫صفِّ حسب الموقع والمهارات وغيرها.‬</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5-filters.png" descr="05-filters.png"/>
          <p:cNvPicPr>
            <a:picLocks noChangeAspect="1"/>
          </p:cNvPicPr>
          <p:nvPr/>
        </p:nvPicPr>
        <p:blipFill>
          <a:blip r:embed="rId3"/>
          <a:srcRect/>
          <a:stretch>
            <a:fillRect/>
          </a:stretch>
        </p:blipFill>
        <p:spPr>
          <a:xfrm>
            <a:off x="5064678" y="1746504"/>
            <a:ext cx="5223418" cy="4407408"/>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‫تستخدم التصفية تصحيحات ملفات المرشحين.‬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evidence">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‫فهم الدرجات والأدلة‬</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‫راجع مقاطع السيرة الذاتية التي تستند إليها النتيجة قبل التقييم.‬</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١٠‬</a:t>
            </a:r>
          </a:p>
        </p:txBody>
      </p:sp>
      <p:sp>
        <p:nvSpPr>
          <p:cNvPr id="9" name="Oval 8"/>
          <p:cNvSpPr/>
          <p:nvPr/>
        </p:nvSpPr>
        <p:spPr>
          <a:xfrm>
            <a:off x="5843016"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‫افتح بيانات المرشح‬</a:t>
            </a:r>
          </a:p>
        </p:txBody>
      </p:sp>
      <p:sp>
        <p:nvSpPr>
          <p:cNvPr id="11" name="TextBox 10"/>
          <p:cNvSpPr txBox="1"/>
          <p:nvPr/>
        </p:nvSpPr>
        <p:spPr>
          <a:xfrm>
            <a:off x="576072" y="2350008"/>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اسم المرشح من النتائج.‬</a:t>
            </a:r>
          </a:p>
        </p:txBody>
      </p:sp>
      <p:sp>
        <p:nvSpPr>
          <p:cNvPr id="12" name="Oval 11"/>
          <p:cNvSpPr/>
          <p:nvPr/>
        </p:nvSpPr>
        <p:spPr>
          <a:xfrm>
            <a:off x="5843016"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3008376"/>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‫راجع الأدلة‬</a:t>
            </a:r>
          </a:p>
        </p:txBody>
      </p:sp>
      <p:sp>
        <p:nvSpPr>
          <p:cNvPr id="14" name="TextBox 13"/>
          <p:cNvSpPr txBox="1"/>
          <p:nvPr/>
        </p:nvSpPr>
        <p:spPr>
          <a:xfrm>
            <a:off x="576072" y="3593592"/>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‫اقرأ «تفصيل الدرجة» و«المقاطع المطابقة» ونص السيرة.‬</a:t>
            </a:r>
          </a:p>
        </p:txBody>
      </p:sp>
      <p:sp>
        <p:nvSpPr>
          <p:cNvPr id="15" name="Oval 14"/>
          <p:cNvSpPr/>
          <p:nvPr/>
        </p:nvSpPr>
        <p:spPr>
          <a:xfrm>
            <a:off x="5843016"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51960"/>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‫حدّد الأسئلة‬</a:t>
            </a:r>
          </a:p>
        </p:txBody>
      </p:sp>
      <p:sp>
        <p:nvSpPr>
          <p:cNvPr id="17" name="TextBox 16"/>
          <p:cNvSpPr txBox="1"/>
          <p:nvPr/>
        </p:nvSpPr>
        <p:spPr>
          <a:xfrm>
            <a:off x="576072" y="4837176"/>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‫سجّل المعلومات الناقصة ذات الصلة للفرز أو المقابلة.‬</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6-evidence.png" descr="06-evidence.png"/>
          <p:cNvPicPr>
            <a:picLocks noChangeAspect="1"/>
          </p:cNvPicPr>
          <p:nvPr/>
        </p:nvPicPr>
        <p:blipFill>
          <a:blip r:embed="rId3"/>
          <a:srcRect/>
          <a:stretch>
            <a:fillRect/>
          </a:stretch>
        </p:blipFill>
        <p:spPr>
          <a:xfrm>
            <a:off x="6556248" y="2197738"/>
            <a:ext cx="5038344" cy="3450074"/>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400" b="0" lang="ar-SA" altLang="en-US">
                <a:solidFill>
                  <a:srgbClr val="6D3FB0"/>
                </a:solidFill>
                <a:latin typeface="Arial"/>
                <a:cs typeface="Arial"/>
              </a:rPr>
              <a:t>‫درجة المطابقة تساعد في الفرز ولا تمثل قرار تعيين.‬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review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‫تسجيل تقييمات المرشحين‬</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‫تحفظ تقييمات الوظيفة ملاحظات التقييم وأسئلة المتابعة.‬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١١‬</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‫افتح «تقييم»‬</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حالة التقييم وأدخل ملاحظات الوظيفة.‬</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‫قيّم كل معيار‬</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‫سجّل الدليل أو التأكيد أو الحاجة إلى توضيح.‬</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‫احفظ التقييم‬</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‫احفظ التعديلات قبل الانتقال إلى مرشح آخر.‬</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7-review.png" descr="07-review.png"/>
          <p:cNvPicPr>
            <a:picLocks noChangeAspect="1"/>
          </p:cNvPicPr>
          <p:nvPr/>
        </p:nvPicPr>
        <p:blipFill>
          <a:blip r:embed="rId3"/>
          <a:srcRect/>
          <a:stretch>
            <a:fillRect/>
          </a:stretch>
        </p:blipFill>
        <p:spPr>
          <a:xfrm>
            <a:off x="3758184" y="1911104"/>
            <a:ext cx="7836408" cy="4078206"/>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‫تبقى ملاحظات الوظيفة مرتبطة بهذه الوظيفة.‬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profile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‫تحديث ملفات المرشحين‬</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‫تحتفظ الملفات بمعلومات الفرز عبر الوظائف المحفوظة.‬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١٢‬</a:t>
            </a:r>
          </a:p>
        </p:txBody>
      </p:sp>
      <p:sp>
        <p:nvSpPr>
          <p:cNvPr id="9" name="Oval 8"/>
          <p:cNvSpPr/>
          <p:nvPr/>
        </p:nvSpPr>
        <p:spPr>
          <a:xfrm>
            <a:off x="5843016"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‫افتح الملف‬</a:t>
            </a:r>
          </a:p>
        </p:txBody>
      </p:sp>
      <p:sp>
        <p:nvSpPr>
          <p:cNvPr id="11" name="TextBox 10"/>
          <p:cNvSpPr txBox="1"/>
          <p:nvPr/>
        </p:nvSpPr>
        <p:spPr>
          <a:xfrm>
            <a:off x="576072" y="2350008"/>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«إضافة تفاصيل» أو «تعديل الملف».‬</a:t>
            </a:r>
          </a:p>
        </p:txBody>
      </p:sp>
      <p:sp>
        <p:nvSpPr>
          <p:cNvPr id="12" name="Oval 11"/>
          <p:cNvSpPr/>
          <p:nvPr/>
        </p:nvSpPr>
        <p:spPr>
          <a:xfrm>
            <a:off x="5843016"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3008376"/>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‫سجّل بيانات مؤكّدة‬</a:t>
            </a:r>
          </a:p>
        </p:txBody>
      </p:sp>
      <p:sp>
        <p:nvSpPr>
          <p:cNvPr id="14" name="TextBox 13"/>
          <p:cNvSpPr txBox="1"/>
          <p:nvPr/>
        </p:nvSpPr>
        <p:spPr>
          <a:xfrm>
            <a:off x="576072" y="3593592"/>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‫أضف التصحيحات والراتب وفترة الإشعار والتفرّغ والوسوم.‬</a:t>
            </a:r>
          </a:p>
        </p:txBody>
      </p:sp>
      <p:sp>
        <p:nvSpPr>
          <p:cNvPr id="15" name="Oval 14"/>
          <p:cNvSpPr/>
          <p:nvPr/>
        </p:nvSpPr>
        <p:spPr>
          <a:xfrm>
            <a:off x="5843016"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51960"/>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‫احفظ الملف‬</a:t>
            </a:r>
          </a:p>
        </p:txBody>
      </p:sp>
      <p:sp>
        <p:nvSpPr>
          <p:cNvPr id="17" name="TextBox 16"/>
          <p:cNvSpPr txBox="1"/>
          <p:nvPr/>
        </p:nvSpPr>
        <p:spPr>
          <a:xfrm>
            <a:off x="576072" y="4837176"/>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‫استخدم تقييم الوظيفة للقرارات الخاصة بها.‬</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8-profile.png" descr="08-profile.png"/>
          <p:cNvPicPr>
            <a:picLocks noChangeAspect="1"/>
          </p:cNvPicPr>
          <p:nvPr/>
        </p:nvPicPr>
        <p:blipFill>
          <a:blip r:embed="rId3"/>
          <a:srcRect/>
          <a:stretch>
            <a:fillRect/>
          </a:stretch>
        </p:blipFill>
        <p:spPr>
          <a:xfrm>
            <a:off x="6615214" y="1691640"/>
            <a:ext cx="4920410" cy="4462272"/>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400" b="0" lang="ar-SA" altLang="en-US">
                <a:solidFill>
                  <a:srgbClr val="6D3FB0"/>
                </a:solidFill>
                <a:latin typeface="Arial"/>
                <a:cs typeface="Arial"/>
              </a:rPr>
              <a:t>‫ترافق ملاحظات الملف المرشح عبر الوظائف.‬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comparison">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‫مقارنة المرشحين‬</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‫حدّد مرشحين اثنين إلى أربعة واختر «مقارنة المرشحين».‬</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١٣‬</a:t>
            </a:r>
          </a:p>
        </p:txBody>
      </p:sp>
      <p:pic>
        <p:nvPicPr>
          <p:cNvPr id="9" name="screenshot:09-comparison-header.png" descr="09-comparison-header.png"/>
          <p:cNvPicPr>
            <a:picLocks noChangeAspect="1"/>
          </p:cNvPicPr>
          <p:nvPr/>
        </p:nvPicPr>
        <p:blipFill>
          <a:blip r:embed="rId3"/>
          <a:srcRect/>
          <a:stretch>
            <a:fillRect/>
          </a:stretch>
        </p:blipFill>
        <p:spPr>
          <a:xfrm>
            <a:off x="603504" y="1813620"/>
            <a:ext cx="11009376" cy="880750"/>
          </a:xfrm>
          <a:prstGeom prst="rect">
            <a:avLst/>
          </a:prstGeom>
        </p:spPr>
      </p:pic>
      <p:sp>
        <p:nvSpPr>
          <p:cNvPr id="10" name="screenshot-caption:09-comparison-criteria.png"/>
          <p:cNvSpPr txBox="1"/>
          <p:nvPr/>
        </p:nvSpPr>
        <p:spPr>
          <a:xfrm>
            <a:off x="649224" y="2715768"/>
            <a:ext cx="10917936" cy="210312"/>
          </a:xfrm>
          <a:prstGeom prst="rect">
            <a:avLst/>
          </a:prstGeom>
          <a:noFill/>
        </p:spPr>
        <p:txBody>
          <a:bodyPr wrap="square" lIns="0" rIns="0" tIns="0" bIns="0" anchor="t">
            <a:spAutoFit/>
          </a:bodyPr>
          <a:lstStyle/>
          <a:p>
            <a:pPr algn="r" rtl="1">
              <a:lnSpc>
                <a:spcPct val="110000"/>
              </a:lnSpc>
              <a:spcBef>
                <a:spcPts val="0"/>
              </a:spcBef>
              <a:spcAft>
                <a:spcPts val="300"/>
              </a:spcAft>
            </a:pPr>
            <a:r>
              <a:rPr sz="1019" b="0" lang="ar-SA" altLang="en-US">
                <a:solidFill>
                  <a:srgbClr val="716B7B"/>
                </a:solidFill>
                <a:latin typeface="Arial"/>
                <a:cs typeface="Arial"/>
              </a:rPr>
              <a:t>‫المعايير والأدلة الداعمة من شاشة المقارنة نفسها‬</a:t>
            </a:r>
          </a:p>
        </p:txBody>
      </p:sp>
      <p:pic>
        <p:nvPicPr>
          <p:cNvPr id="11" name="screenshot:09-comparison-criteria.png" descr="09-comparison-criteria.png"/>
          <p:cNvPicPr>
            <a:picLocks noChangeAspect="1"/>
          </p:cNvPicPr>
          <p:nvPr/>
        </p:nvPicPr>
        <p:blipFill>
          <a:blip r:embed="rId4"/>
          <a:srcRect/>
          <a:stretch>
            <a:fillRect/>
          </a:stretch>
        </p:blipFill>
        <p:spPr>
          <a:xfrm>
            <a:off x="603504" y="3104936"/>
            <a:ext cx="11009376" cy="2422062"/>
          </a:xfrm>
          <a:prstGeom prst="rect">
            <a:avLst/>
          </a:prstGeom>
        </p:spPr>
      </p:pic>
      <p:sp>
        <p:nvSpPr>
          <p:cNvPr id="12" name="TextBox 11"/>
          <p:cNvSpPr txBox="1"/>
          <p:nvPr/>
        </p:nvSpPr>
        <p:spPr>
          <a:xfrm>
            <a:off x="685800" y="5888736"/>
            <a:ext cx="10808208" cy="384048"/>
          </a:xfrm>
          <a:prstGeom prst="rect">
            <a:avLst/>
          </a:prstGeom>
          <a:noFill/>
        </p:spPr>
        <p:txBody>
          <a:bodyPr wrap="square" lIns="0" rIns="0" tIns="0" bIns="0" anchor="t">
            <a:spAutoFit/>
          </a:bodyPr>
          <a:lstStyle/>
          <a:p>
            <a:pPr algn="r" rtl="1">
              <a:lnSpc>
                <a:spcPct val="110000"/>
              </a:lnSpc>
              <a:spcBef>
                <a:spcPts val="0"/>
              </a:spcBef>
              <a:spcAft>
                <a:spcPts val="300"/>
              </a:spcAft>
            </a:pPr>
            <a:r>
              <a:rPr sz="1700" b="0" lang="ar-SA" altLang="en-US">
                <a:solidFill>
                  <a:srgbClr val="3D3949"/>
                </a:solidFill>
                <a:latin typeface="Arial"/>
                <a:cs typeface="Arial"/>
              </a:rPr>
              <a:t>‫راجع المعايير ومعلومات الفرز والأسئلة غير المحسومة نفسها لكل مرشح.‬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hortlist">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‫إعداد القائمة المختصرة وتصديرها‬</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‫اختر المرشحين وحدّد ترتيبهم لمراجعة التوظيف.‬</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١٤‬</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‫اختر المرشحين‬</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‫حدّد حالة المرشحين المناسبين «ضمن القائمة المختصرة».‬</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‫رتّب القائمة المختصرة‬</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‫استخدم سهمَي الأعلى والأسفل داخل القائمة.‬</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‫صدّر السجل‬</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«تصدير PDF» أو «تصدير CSV».‬</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0-shortlist.png" descr="10-shortlist.png"/>
          <p:cNvPicPr>
            <a:picLocks noChangeAspect="1"/>
          </p:cNvPicPr>
          <p:nvPr/>
        </p:nvPicPr>
        <p:blipFill>
          <a:blip r:embed="rId3"/>
          <a:srcRect/>
          <a:stretch>
            <a:fillRect/>
          </a:stretch>
        </p:blipFill>
        <p:spPr>
          <a:xfrm>
            <a:off x="3758184" y="2359438"/>
            <a:ext cx="7836408" cy="3181538"/>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‫يشمل التصدير القائمة المختصرة كاملة بترتيبها.‬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version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‫ربط نسخ السير الذاتية المحدّثة‬</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‫تحقّق من الهوية قبل ربط سجلّين بوصفهما شخصًا واحدًا.‬</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١٥‬</a:t>
            </a:r>
          </a:p>
        </p:txBody>
      </p:sp>
      <p:sp>
        <p:nvSpPr>
          <p:cNvPr id="9" name="Oval 8"/>
          <p:cNvSpPr/>
          <p:nvPr/>
        </p:nvSpPr>
        <p:spPr>
          <a:xfrm>
            <a:off x="5843016"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‫استورد السيرة الجديدة‬</a:t>
            </a:r>
          </a:p>
        </p:txBody>
      </p:sp>
      <p:sp>
        <p:nvSpPr>
          <p:cNvPr id="11" name="TextBox 10"/>
          <p:cNvSpPr txBox="1"/>
          <p:nvPr/>
        </p:nvSpPr>
        <p:spPr>
          <a:xfrm>
            <a:off x="576072" y="2350008"/>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‫أضف المستند المحدّث إلى «المكتبة».‬</a:t>
            </a:r>
          </a:p>
        </p:txBody>
      </p:sp>
      <p:sp>
        <p:nvSpPr>
          <p:cNvPr id="12" name="Oval 11"/>
          <p:cNvSpPr/>
          <p:nvPr/>
        </p:nvSpPr>
        <p:spPr>
          <a:xfrm>
            <a:off x="5843016"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3008376"/>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‫افتح «سجل السير الذاتية»‬</a:t>
            </a:r>
          </a:p>
        </p:txBody>
      </p:sp>
      <p:sp>
        <p:nvSpPr>
          <p:cNvPr id="14" name="TextBox 13"/>
          <p:cNvSpPr txBox="1"/>
          <p:nvPr/>
        </p:nvSpPr>
        <p:spPr>
          <a:xfrm>
            <a:off x="576072" y="3593592"/>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«ربط سيرة ذاتية أخرى» من لوحة المرشح.‬</a:t>
            </a:r>
          </a:p>
        </p:txBody>
      </p:sp>
      <p:sp>
        <p:nvSpPr>
          <p:cNvPr id="15" name="Oval 14"/>
          <p:cNvSpPr/>
          <p:nvPr/>
        </p:nvSpPr>
        <p:spPr>
          <a:xfrm>
            <a:off x="5843016"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51960"/>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‫أكّد الربط‬</a:t>
            </a:r>
          </a:p>
        </p:txBody>
      </p:sp>
      <p:sp>
        <p:nvSpPr>
          <p:cNvPr id="17" name="TextBox 16"/>
          <p:cNvSpPr txBox="1"/>
          <p:nvPr/>
        </p:nvSpPr>
        <p:spPr>
          <a:xfrm>
            <a:off x="576072" y="4837176"/>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السجل ثم «الربط بوصفهما الشخص نفسه».‬</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1-versions.png" descr="11-versions.png"/>
          <p:cNvPicPr>
            <a:picLocks noChangeAspect="1"/>
          </p:cNvPicPr>
          <p:nvPr/>
        </p:nvPicPr>
        <p:blipFill>
          <a:blip r:embed="rId3"/>
          <a:srcRect/>
          <a:stretch>
            <a:fillRect/>
          </a:stretch>
        </p:blipFill>
        <p:spPr>
          <a:xfrm>
            <a:off x="6556248" y="2895404"/>
            <a:ext cx="5038344" cy="2054743"/>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400" b="0" lang="ar-SA" altLang="en-US">
                <a:solidFill>
                  <a:srgbClr val="6D3FB0"/>
                </a:solidFill>
                <a:latin typeface="Arial"/>
                <a:cs typeface="Arial"/>
              </a:rPr>
              <a:t>‫يحافظ ربط النسخ على سجل عملك مع المرشح.‬</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refresh">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‫تحديث المطابقات المحفوظة‬</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‫حدّث النتائج عندما تتغيّر المكتبة أو متطلبات الوظيفة.‬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١٦‬</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‫أعد فتح الوظيفة‬</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‫عُد إليها بعد استيراد السير أو تحديثها.‬</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‫اقرأ التنبيه‬</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‫تحقّق مما إذا كانت المطابقات تحتاج إلى تحديث.‬</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‫حدّث المطابقات‬</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‫راجع الترتيب والأدلة بعد التحديث.‬</a:t>
            </a:r>
          </a:p>
        </p:txBody>
      </p:sp>
      <p:sp>
        <p:nvSpPr>
          <p:cNvPr id="18" name="Rounded Rectangle 17"/>
          <p:cNvSpPr/>
          <p:nvPr/>
        </p:nvSpPr>
        <p:spPr>
          <a:xfrm>
            <a:off x="3694176" y="1682496"/>
            <a:ext cx="7964424" cy="453542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2-refresh.png" descr="12-refresh.png"/>
          <p:cNvPicPr>
            <a:picLocks noChangeAspect="1"/>
          </p:cNvPicPr>
          <p:nvPr/>
        </p:nvPicPr>
        <p:blipFill>
          <a:blip r:embed="rId3"/>
          <a:srcRect/>
          <a:stretch>
            <a:fillRect/>
          </a:stretch>
        </p:blipFill>
        <p:spPr>
          <a:xfrm>
            <a:off x="3831336" y="2622621"/>
            <a:ext cx="7690104" cy="314309"/>
          </a:xfrm>
          <a:prstGeom prst="rect">
            <a:avLst/>
          </a:prstGeom>
        </p:spPr>
      </p:pic>
      <p:cxnSp>
        <p:nvCxnSpPr>
          <p:cNvPr id="20" name="Connector 19"/>
          <p:cNvCxnSpPr/>
          <p:nvPr/>
        </p:nvCxnSpPr>
        <p:spPr>
          <a:xfrm>
            <a:off x="7680960" y="3493008"/>
            <a:ext cx="0" cy="320040"/>
          </a:xfrm>
          <a:prstGeom prst="line">
            <a:avLst/>
          </a:prstGeom>
          <a:ln w="2032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1" name="screenshot:12-refresh-action.png" descr="12-refresh-action.png"/>
          <p:cNvPicPr>
            <a:picLocks noChangeAspect="1"/>
          </p:cNvPicPr>
          <p:nvPr/>
        </p:nvPicPr>
        <p:blipFill>
          <a:blip r:embed="rId4"/>
          <a:srcRect/>
          <a:stretch>
            <a:fillRect/>
          </a:stretch>
        </p:blipFill>
        <p:spPr>
          <a:xfrm>
            <a:off x="3831336" y="4283096"/>
            <a:ext cx="7690104" cy="852127"/>
          </a:xfrm>
          <a:prstGeom prst="rect">
            <a:avLst/>
          </a:prstGeom>
        </p:spPr>
      </p:pic>
      <p:sp>
        <p:nvSpPr>
          <p:cNvPr id="22" name="Rounded Rectangle 21"/>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‫تبقى التقييمات والملاحظات المحفوظة بعد التحديث.‬</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tatu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‫تغيير حالة الوظيفة‬</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‫يتضمن كل تغيير مسجّل للحالة تاريخًا ووقتًا.‬</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١٧‬</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‫افتح «تغيير الحالة»‬</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‫استخدم الزر في الوظيفة المحددة.‬</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‫اختر الحالة‬</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‫«مفتوحة» أو «معلّقة» أو «تم شغلها» أو «مؤرشفة».‬</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‫راجع سجل الحالة‬</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‫راجع تاريخ ووقت الإنشاء وتغييرات الحالة.‬</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6-status.png" descr="16-status.png"/>
          <p:cNvPicPr>
            <a:picLocks noChangeAspect="1"/>
          </p:cNvPicPr>
          <p:nvPr/>
        </p:nvPicPr>
        <p:blipFill>
          <a:blip r:embed="rId3"/>
          <a:srcRect/>
          <a:stretch>
            <a:fillRect/>
          </a:stretch>
        </p:blipFill>
        <p:spPr>
          <a:xfrm>
            <a:off x="3758184" y="3068333"/>
            <a:ext cx="7836408" cy="1763749"/>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‫تحتفظ الوظائف المؤرشفة بنتيجة التعيين المسجّلة.‬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hiring">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‫تسجيل نتيجة التعيين‬</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‫تحدّد الوظيفة المشغولة المرشح المعيّن والبدلاء الاختياريين.‬</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١٨‬</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‫اختر «تم شغلها»‬</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‫غيّر حالة الوظيفة بعد تأكيد النتيجة.‬</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‫حدّد المرشحين‬</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‫حدّد المرشح المعيّن والبدلاء.‬</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‫احفظ وراجع‬</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‫راجع البطاقات والتوقيت وروابط السير الذاتية.‬</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7-hiring.png" descr="17-hiring.png"/>
          <p:cNvPicPr>
            <a:picLocks noChangeAspect="1"/>
          </p:cNvPicPr>
          <p:nvPr/>
        </p:nvPicPr>
        <p:blipFill>
          <a:blip r:embed="rId3"/>
          <a:srcRect/>
          <a:stretch>
            <a:fillRect/>
          </a:stretch>
        </p:blipFill>
        <p:spPr>
          <a:xfrm>
            <a:off x="3758184" y="2621814"/>
            <a:ext cx="7836408" cy="2656787"/>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‫يتطلب البديل رقم ٣ تحديد البديل رقم ٢ أولًا.‬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ai-setting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‫اختيار مزوّد الذكاء الاصطناعي ونموذجه‬</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‫إعادة الترتيب بالذكاء الاصطناعي اختيارية، وتُضبط من «الإعدادات».‬</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١٩‬</a:t>
            </a:r>
          </a:p>
        </p:txBody>
      </p:sp>
      <p:sp>
        <p:nvSpPr>
          <p:cNvPr id="9" name="Rounded Rectangle 8"/>
          <p:cNvSpPr/>
          <p:nvPr/>
        </p:nvSpPr>
        <p:spPr>
          <a:xfrm>
            <a:off x="603504" y="1792224"/>
            <a:ext cx="2980944" cy="201168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65960"/>
            <a:ext cx="2560320" cy="338328"/>
          </a:xfrm>
          <a:prstGeom prst="rect">
            <a:avLst/>
          </a:prstGeom>
          <a:noFill/>
        </p:spPr>
        <p:txBody>
          <a:bodyPr wrap="square" lIns="0" rIns="0" tIns="0" bIns="0" anchor="t">
            <a:spAutoFit/>
          </a:bodyPr>
          <a:lstStyle/>
          <a:p>
            <a:pPr algn="l" rtl="0">
              <a:lnSpc>
                <a:spcPct val="110000"/>
              </a:lnSpc>
              <a:spcBef>
                <a:spcPts val="0"/>
              </a:spcBef>
              <a:spcAft>
                <a:spcPts val="300"/>
              </a:spcAft>
            </a:pPr>
            <a:r>
              <a:rPr sz="2300" b="1" lang="en-US">
                <a:solidFill>
                  <a:srgbClr val="6D3FB0"/>
                </a:solidFill>
                <a:latin typeface="Arial"/>
              </a:rPr>
              <a:t>Anthropic</a:t>
            </a:r>
          </a:p>
        </p:txBody>
      </p:sp>
      <p:sp>
        <p:nvSpPr>
          <p:cNvPr id="11" name="TextBox 10"/>
          <p:cNvSpPr txBox="1"/>
          <p:nvPr/>
        </p:nvSpPr>
        <p:spPr>
          <a:xfrm>
            <a:off x="795528" y="2569464"/>
            <a:ext cx="2560320" cy="1078992"/>
          </a:xfrm>
          <a:prstGeom prst="rect">
            <a:avLst/>
          </a:prstGeom>
          <a:noFill/>
        </p:spPr>
        <p:txBody>
          <a:bodyPr wrap="square" lIns="0" rIns="0" tIns="0" bIns="0" anchor="t">
            <a:spAutoFit/>
          </a:bodyPr>
          <a:lstStyle/>
          <a:p>
            <a:pPr algn="l" rtl="0">
              <a:lnSpc>
                <a:spcPct val="110000"/>
              </a:lnSpc>
              <a:spcBef>
                <a:spcPts val="0"/>
              </a:spcBef>
              <a:spcAft>
                <a:spcPts val="300"/>
              </a:spcAft>
            </a:pPr>
            <a:r>
              <a:rPr sz="2000" b="0" lang="en-US">
                <a:solidFill>
                  <a:srgbClr val="2B2733"/>
                </a:solidFill>
                <a:latin typeface="Arial"/>
              </a:rPr>
              <a:t>Sonnet 5</a:t>
            </a:r>
          </a:p>
          <a:p>
            <a:pPr algn="l" rtl="0">
              <a:lnSpc>
                <a:spcPct val="110000"/>
              </a:lnSpc>
              <a:spcBef>
                <a:spcPts val="0"/>
              </a:spcBef>
              <a:spcAft>
                <a:spcPts val="300"/>
              </a:spcAft>
            </a:pPr>
            <a:r>
              <a:rPr sz="2000" b="0" lang="en-US">
                <a:solidFill>
                  <a:srgbClr val="2B2733"/>
                </a:solidFill>
                <a:latin typeface="Arial"/>
              </a:rPr>
              <a:t>Opus 5</a:t>
            </a:r>
          </a:p>
          <a:p>
            <a:pPr algn="l" rtl="0">
              <a:lnSpc>
                <a:spcPct val="110000"/>
              </a:lnSpc>
              <a:spcBef>
                <a:spcPts val="0"/>
              </a:spcBef>
              <a:spcAft>
                <a:spcPts val="300"/>
              </a:spcAft>
            </a:pPr>
            <a:r>
              <a:rPr sz="2000" b="0" lang="en-US">
                <a:solidFill>
                  <a:srgbClr val="2B2733"/>
                </a:solidFill>
                <a:latin typeface="Arial"/>
              </a:rPr>
              <a:t>Fable 5.1</a:t>
            </a:r>
          </a:p>
        </p:txBody>
      </p:sp>
      <p:sp>
        <p:nvSpPr>
          <p:cNvPr id="12" name="Rounded Rectangle 11"/>
          <p:cNvSpPr/>
          <p:nvPr/>
        </p:nvSpPr>
        <p:spPr>
          <a:xfrm>
            <a:off x="603504" y="4023360"/>
            <a:ext cx="2980944" cy="201168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97096"/>
            <a:ext cx="2560320" cy="338328"/>
          </a:xfrm>
          <a:prstGeom prst="rect">
            <a:avLst/>
          </a:prstGeom>
          <a:noFill/>
        </p:spPr>
        <p:txBody>
          <a:bodyPr wrap="square" lIns="0" rIns="0" tIns="0" bIns="0" anchor="t">
            <a:spAutoFit/>
          </a:bodyPr>
          <a:lstStyle/>
          <a:p>
            <a:pPr algn="l" rtl="0">
              <a:lnSpc>
                <a:spcPct val="110000"/>
              </a:lnSpc>
              <a:spcBef>
                <a:spcPts val="0"/>
              </a:spcBef>
              <a:spcAft>
                <a:spcPts val="300"/>
              </a:spcAft>
            </a:pPr>
            <a:r>
              <a:rPr sz="2300" b="1" lang="en-US">
                <a:solidFill>
                  <a:srgbClr val="6D3FB0"/>
                </a:solidFill>
                <a:latin typeface="Arial"/>
              </a:rPr>
              <a:t>OpenAI</a:t>
            </a:r>
          </a:p>
        </p:txBody>
      </p:sp>
      <p:sp>
        <p:nvSpPr>
          <p:cNvPr id="14" name="TextBox 13"/>
          <p:cNvSpPr txBox="1"/>
          <p:nvPr/>
        </p:nvSpPr>
        <p:spPr>
          <a:xfrm>
            <a:off x="795528" y="4800600"/>
            <a:ext cx="2560320" cy="1078992"/>
          </a:xfrm>
          <a:prstGeom prst="rect">
            <a:avLst/>
          </a:prstGeom>
          <a:noFill/>
        </p:spPr>
        <p:txBody>
          <a:bodyPr wrap="square" lIns="0" rIns="0" tIns="0" bIns="0" anchor="t">
            <a:spAutoFit/>
          </a:bodyPr>
          <a:lstStyle/>
          <a:p>
            <a:pPr algn="l" rtl="0">
              <a:lnSpc>
                <a:spcPct val="110000"/>
              </a:lnSpc>
              <a:spcBef>
                <a:spcPts val="0"/>
              </a:spcBef>
              <a:spcAft>
                <a:spcPts val="300"/>
              </a:spcAft>
            </a:pPr>
            <a:r>
              <a:rPr sz="2000" b="0" lang="en-US">
                <a:solidFill>
                  <a:srgbClr val="2B2733"/>
                </a:solidFill>
                <a:latin typeface="Arial"/>
              </a:rPr>
              <a:t>GPT-4o mini</a:t>
            </a:r>
          </a:p>
          <a:p>
            <a:pPr algn="l" rtl="0">
              <a:lnSpc>
                <a:spcPct val="110000"/>
              </a:lnSpc>
              <a:spcBef>
                <a:spcPts val="0"/>
              </a:spcBef>
              <a:spcAft>
                <a:spcPts val="300"/>
              </a:spcAft>
            </a:pPr>
            <a:r>
              <a:rPr sz="2000" b="0" lang="en-US">
                <a:solidFill>
                  <a:srgbClr val="2B2733"/>
                </a:solidFill>
                <a:latin typeface="Arial"/>
              </a:rPr>
              <a:t>GPT-5.6</a:t>
            </a:r>
          </a:p>
          <a:p>
            <a:pPr algn="l" rtl="0">
              <a:lnSpc>
                <a:spcPct val="110000"/>
              </a:lnSpc>
              <a:spcBef>
                <a:spcPts val="0"/>
              </a:spcBef>
              <a:spcAft>
                <a:spcPts val="300"/>
              </a:spcAft>
            </a:pPr>
            <a:r>
              <a:rPr sz="2000" b="0" lang="en-US">
                <a:solidFill>
                  <a:srgbClr val="2B2733"/>
                </a:solidFill>
                <a:latin typeface="Arial"/>
              </a:rPr>
              <a:t>GPT-6 Astra</a:t>
            </a:r>
          </a:p>
        </p:txBody>
      </p:sp>
      <p:sp>
        <p:nvSpPr>
          <p:cNvPr id="15" name="Rectangle 14"/>
          <p:cNvSpPr/>
          <p:nvPr/>
        </p:nvSpPr>
        <p:spPr>
          <a:xfrm>
            <a:off x="3822191" y="1792224"/>
            <a:ext cx="7799831" cy="3108960"/>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screenshot:18-ai-settings.png" descr="18-ai-settings.png"/>
          <p:cNvPicPr>
            <a:picLocks noChangeAspect="1"/>
          </p:cNvPicPr>
          <p:nvPr/>
        </p:nvPicPr>
        <p:blipFill>
          <a:blip r:embed="rId3"/>
          <a:srcRect/>
          <a:stretch>
            <a:fillRect/>
          </a:stretch>
        </p:blipFill>
        <p:spPr>
          <a:xfrm>
            <a:off x="3886200" y="2284725"/>
            <a:ext cx="7671815" cy="2123956"/>
          </a:xfrm>
          <a:prstGeom prst="rect">
            <a:avLst/>
          </a:prstGeom>
        </p:spPr>
      </p:pic>
      <p:sp>
        <p:nvSpPr>
          <p:cNvPr id="17" name="TextBox 16"/>
          <p:cNvSpPr txBox="1"/>
          <p:nvPr/>
        </p:nvSpPr>
        <p:spPr>
          <a:xfrm>
            <a:off x="3968496" y="5212080"/>
            <a:ext cx="7424927" cy="749808"/>
          </a:xfrm>
          <a:prstGeom prst="rect">
            <a:avLst/>
          </a:prstGeom>
          <a:noFill/>
        </p:spPr>
        <p:txBody>
          <a:bodyPr wrap="square" lIns="0" rIns="0" tIns="0" bIns="0" anchor="t">
            <a:spAutoFit/>
          </a:bodyPr>
          <a:lstStyle/>
          <a:p>
            <a:pPr algn="r" rtl="1">
              <a:lnSpc>
                <a:spcPct val="110000"/>
              </a:lnSpc>
              <a:spcBef>
                <a:spcPts val="0"/>
              </a:spcBef>
              <a:spcAft>
                <a:spcPts val="300"/>
              </a:spcAft>
            </a:pPr>
            <a:r>
              <a:rPr sz="2100" b="0" lang="ar-SA" altLang="en-US">
                <a:solidFill>
                  <a:srgbClr val="3D3949"/>
                </a:solidFill>
                <a:latin typeface="Arial"/>
                <a:cs typeface="Arial"/>
              </a:rPr>
              <a:t>‫اختر «مزوّد الذكاء الاصطناعي» و«نموذج الذكاء الاصطناعي»، وأضف مفتاح المزوّد الخاص بك، ثم فعّل إعادة الترتيب.‬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ai-review">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‫مراجعة البيانات قبل إعادة الترتيب‬</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‫يحدّد الإشعار المزوّد المختار والبيانات التي ستُرسل.‬</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٢٠‬</a:t>
            </a:r>
          </a:p>
        </p:txBody>
      </p:sp>
      <p:sp>
        <p:nvSpPr>
          <p:cNvPr id="9" name="Oval 8"/>
          <p:cNvSpPr/>
          <p:nvPr/>
        </p:nvSpPr>
        <p:spPr>
          <a:xfrm>
            <a:off x="5843016"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‫ابدأ من النتائج‬</a:t>
            </a:r>
          </a:p>
        </p:txBody>
      </p:sp>
      <p:sp>
        <p:nvSpPr>
          <p:cNvPr id="11" name="TextBox 10"/>
          <p:cNvSpPr txBox="1"/>
          <p:nvPr/>
        </p:nvSpPr>
        <p:spPr>
          <a:xfrm>
            <a:off x="576072" y="2350008"/>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إعادة الترتيب بالنموذج المحدد.‬</a:t>
            </a:r>
          </a:p>
        </p:txBody>
      </p:sp>
      <p:sp>
        <p:nvSpPr>
          <p:cNvPr id="12" name="Oval 11"/>
          <p:cNvSpPr/>
          <p:nvPr/>
        </p:nvSpPr>
        <p:spPr>
          <a:xfrm>
            <a:off x="5843016"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3008376"/>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‫اقرأ الملخص‬</a:t>
            </a:r>
          </a:p>
        </p:txBody>
      </p:sp>
      <p:sp>
        <p:nvSpPr>
          <p:cNvPr id="14" name="TextBox 13"/>
          <p:cNvSpPr txBox="1"/>
          <p:nvPr/>
        </p:nvSpPr>
        <p:spPr>
          <a:xfrm>
            <a:off x="576072" y="3593592"/>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‫افتح أيقونة العين «عرض البيانات المُرسلة» للاطّلاع على تفاصيل الطلب.‬</a:t>
            </a:r>
          </a:p>
        </p:txBody>
      </p:sp>
      <p:sp>
        <p:nvSpPr>
          <p:cNvPr id="15" name="Oval 14"/>
          <p:cNvSpPr/>
          <p:nvPr/>
        </p:nvSpPr>
        <p:spPr>
          <a:xfrm>
            <a:off x="5843016"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51960"/>
            <a:ext cx="5148072"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2100" b="1" lang="ar-SA" altLang="en-US">
                <a:solidFill>
                  <a:srgbClr val="2B2733"/>
                </a:solidFill>
                <a:latin typeface="Arial"/>
                <a:cs typeface="Arial"/>
              </a:rPr>
              <a:t>‫أكّد الطلب‬</a:t>
            </a:r>
          </a:p>
        </p:txBody>
      </p:sp>
      <p:sp>
        <p:nvSpPr>
          <p:cNvPr id="17" name="TextBox 16"/>
          <p:cNvSpPr txBox="1"/>
          <p:nvPr/>
        </p:nvSpPr>
        <p:spPr>
          <a:xfrm>
            <a:off x="576072" y="4837176"/>
            <a:ext cx="5148072" cy="694944"/>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‫وافق بعد مراجعة المعلومات.‬</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9-ai-review.png" descr="19-ai-review.png"/>
          <p:cNvPicPr>
            <a:picLocks noChangeAspect="1"/>
          </p:cNvPicPr>
          <p:nvPr/>
        </p:nvPicPr>
        <p:blipFill>
          <a:blip r:embed="rId3"/>
          <a:srcRect/>
          <a:stretch>
            <a:fillRect/>
          </a:stretch>
        </p:blipFill>
        <p:spPr>
          <a:xfrm>
            <a:off x="6556248" y="2510512"/>
            <a:ext cx="5038344" cy="2824526"/>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400" b="0" lang="ar-SA" altLang="en-US">
                <a:solidFill>
                  <a:srgbClr val="6D3FB0"/>
                </a:solidFill>
                <a:latin typeface="Arial"/>
                <a:cs typeface="Arial"/>
              </a:rPr>
              <a:t>‫تتطلب كل إعادة ترتيب تأكيدًا قبل الإرسال.‬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ai-workflow">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‫فهم إعادة الترتيب بالذكاء الاصطناعي‬</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‫يعيد النموذج ترتيب مجموعة محدودة من المرشحين وفق الأدلة المقدمة.‬</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‫إعادة الترتيب بالذكاء الاصطناعي · مخطط قابل للتعديل‬</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٢١‬</a:t>
            </a:r>
          </a:p>
        </p:txBody>
      </p:sp>
      <p:sp>
        <p:nvSpPr>
          <p:cNvPr id="9" name="Rounded Rectangle 8"/>
          <p:cNvSpPr/>
          <p:nvPr/>
        </p:nvSpPr>
        <p:spPr>
          <a:xfrm>
            <a:off x="8122919" y="1810512"/>
            <a:ext cx="3465576" cy="228600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4087" y="2002536"/>
            <a:ext cx="3063240" cy="475488"/>
          </a:xfrm>
          <a:prstGeom prst="rect">
            <a:avLst/>
          </a:prstGeom>
          <a:noFill/>
        </p:spPr>
        <p:txBody>
          <a:bodyPr wrap="square" lIns="0" rIns="0" tIns="0" bIns="0" anchor="t">
            <a:spAutoFit/>
          </a:bodyPr>
          <a:lstStyle/>
          <a:p>
            <a:pPr algn="r" rtl="1">
              <a:lnSpc>
                <a:spcPct val="110000"/>
              </a:lnSpc>
              <a:spcBef>
                <a:spcPts val="0"/>
              </a:spcBef>
              <a:spcAft>
                <a:spcPts val="300"/>
              </a:spcAft>
            </a:pPr>
            <a:r>
              <a:rPr sz="2300" b="1" lang="ar-SA" altLang="en-US">
                <a:solidFill>
                  <a:srgbClr val="6D3FB0"/>
                </a:solidFill>
                <a:latin typeface="Arial"/>
                <a:cs typeface="Arial"/>
              </a:rPr>
              <a:t>‫النتائج المحلية‬</a:t>
            </a:r>
          </a:p>
        </p:txBody>
      </p:sp>
      <p:sp>
        <p:nvSpPr>
          <p:cNvPr id="11" name="TextBox 10"/>
          <p:cNvSpPr txBox="1"/>
          <p:nvPr/>
        </p:nvSpPr>
        <p:spPr>
          <a:xfrm>
            <a:off x="8333231" y="2679192"/>
            <a:ext cx="3054096" cy="1252728"/>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2B2733"/>
                </a:solidFill>
                <a:latin typeface="Arial"/>
                <a:cs typeface="Arial"/>
              </a:rPr>
              <a:t>‫يُعدّ التطبيق بيانات ما يصل إلى ١٥ مرشحًا من البحث المحلي.‬</a:t>
            </a:r>
          </a:p>
        </p:txBody>
      </p:sp>
      <p:sp>
        <p:nvSpPr>
          <p:cNvPr id="12" name="Rounded Rectangle 11"/>
          <p:cNvSpPr/>
          <p:nvPr/>
        </p:nvSpPr>
        <p:spPr>
          <a:xfrm>
            <a:off x="4373879" y="1810512"/>
            <a:ext cx="3465576" cy="228600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5047" y="2002536"/>
            <a:ext cx="3063240" cy="475488"/>
          </a:xfrm>
          <a:prstGeom prst="rect">
            <a:avLst/>
          </a:prstGeom>
          <a:noFill/>
        </p:spPr>
        <p:txBody>
          <a:bodyPr wrap="square" lIns="0" rIns="0" tIns="0" bIns="0" anchor="t">
            <a:spAutoFit/>
          </a:bodyPr>
          <a:lstStyle/>
          <a:p>
            <a:pPr algn="r" rtl="1">
              <a:lnSpc>
                <a:spcPct val="110000"/>
              </a:lnSpc>
              <a:spcBef>
                <a:spcPts val="0"/>
              </a:spcBef>
              <a:spcAft>
                <a:spcPts val="300"/>
              </a:spcAft>
            </a:pPr>
            <a:r>
              <a:rPr sz="2300" b="1" lang="ar-SA" altLang="en-US">
                <a:solidFill>
                  <a:srgbClr val="6D3FB0"/>
                </a:solidFill>
                <a:latin typeface="Arial"/>
                <a:cs typeface="Arial"/>
              </a:rPr>
              <a:t>‫الطلب بعد مراجعته‬</a:t>
            </a:r>
          </a:p>
        </p:txBody>
      </p:sp>
      <p:sp>
        <p:nvSpPr>
          <p:cNvPr id="14" name="TextBox 13"/>
          <p:cNvSpPr txBox="1"/>
          <p:nvPr/>
        </p:nvSpPr>
        <p:spPr>
          <a:xfrm>
            <a:off x="4584191" y="2679192"/>
            <a:ext cx="3054096" cy="1252728"/>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2B2733"/>
                </a:solidFill>
                <a:latin typeface="Arial"/>
                <a:cs typeface="Arial"/>
              </a:rPr>
              <a:t>‫بعد التأكيد، يتلقى المزوّد المحدد الإعلان والمقاطع المنقّحة.‬</a:t>
            </a:r>
          </a:p>
        </p:txBody>
      </p:sp>
      <p:sp>
        <p:nvSpPr>
          <p:cNvPr id="15" name="Rounded Rectangle 14"/>
          <p:cNvSpPr/>
          <p:nvPr/>
        </p:nvSpPr>
        <p:spPr>
          <a:xfrm>
            <a:off x="624840" y="1810512"/>
            <a:ext cx="3465576" cy="228600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007" y="2002536"/>
            <a:ext cx="3063240" cy="475488"/>
          </a:xfrm>
          <a:prstGeom prst="rect">
            <a:avLst/>
          </a:prstGeom>
          <a:noFill/>
        </p:spPr>
        <p:txBody>
          <a:bodyPr wrap="square" lIns="0" rIns="0" tIns="0" bIns="0" anchor="t">
            <a:spAutoFit/>
          </a:bodyPr>
          <a:lstStyle/>
          <a:p>
            <a:pPr algn="r" rtl="1">
              <a:lnSpc>
                <a:spcPct val="110000"/>
              </a:lnSpc>
              <a:spcBef>
                <a:spcPts val="0"/>
              </a:spcBef>
              <a:spcAft>
                <a:spcPts val="300"/>
              </a:spcAft>
            </a:pPr>
            <a:r>
              <a:rPr sz="2300" b="1" lang="ar-SA" altLang="en-US">
                <a:solidFill>
                  <a:srgbClr val="6D3FB0"/>
                </a:solidFill>
                <a:latin typeface="Arial"/>
                <a:cs typeface="Arial"/>
              </a:rPr>
              <a:t>‫التقييم الوارد‬</a:t>
            </a:r>
          </a:p>
        </p:txBody>
      </p:sp>
      <p:sp>
        <p:nvSpPr>
          <p:cNvPr id="17" name="TextBox 16"/>
          <p:cNvSpPr txBox="1"/>
          <p:nvPr/>
        </p:nvSpPr>
        <p:spPr>
          <a:xfrm>
            <a:off x="835151" y="2679192"/>
            <a:ext cx="3054096" cy="1252728"/>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2B2733"/>
                </a:solidFill>
                <a:latin typeface="Arial"/>
                <a:cs typeface="Arial"/>
              </a:rPr>
              <a:t>‫يعيد النموذج ترتيبًا وسببًا موجزًا يستند إلى الأدلة لكل مرشح.‬</a:t>
            </a:r>
          </a:p>
        </p:txBody>
      </p:sp>
      <p:cxnSp>
        <p:nvCxnSpPr>
          <p:cNvPr id="18" name="Connector 17"/>
          <p:cNvCxnSpPr/>
          <p:nvPr/>
        </p:nvCxnSpPr>
        <p:spPr>
          <a:xfrm flipH="1">
            <a:off x="7866887" y="2852928"/>
            <a:ext cx="237744"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7847" y="2852928"/>
            <a:ext cx="237744"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12407" y="4379976"/>
            <a:ext cx="5157216" cy="374904"/>
          </a:xfrm>
          <a:prstGeom prst="rect">
            <a:avLst/>
          </a:prstGeom>
          <a:noFill/>
        </p:spPr>
        <p:txBody>
          <a:bodyPr wrap="square" lIns="0" rIns="0" tIns="0" bIns="0" anchor="t">
            <a:spAutoFit/>
          </a:bodyPr>
          <a:lstStyle/>
          <a:p>
            <a:pPr algn="r" rtl="1">
              <a:lnSpc>
                <a:spcPct val="110000"/>
              </a:lnSpc>
              <a:spcBef>
                <a:spcPts val="0"/>
              </a:spcBef>
              <a:spcAft>
                <a:spcPts val="300"/>
              </a:spcAft>
            </a:pPr>
            <a:r>
              <a:rPr sz="2200" b="1" lang="ar-SA" altLang="en-US">
                <a:solidFill>
                  <a:srgbClr val="2B2733"/>
                </a:solidFill>
                <a:latin typeface="Arial"/>
                <a:cs typeface="Arial"/>
              </a:rPr>
              <a:t>‫أساس التقييم‬</a:t>
            </a:r>
          </a:p>
        </p:txBody>
      </p:sp>
      <p:sp>
        <p:nvSpPr>
          <p:cNvPr id="21" name="TextBox 20"/>
          <p:cNvSpPr txBox="1"/>
          <p:nvPr/>
        </p:nvSpPr>
        <p:spPr>
          <a:xfrm>
            <a:off x="6431279" y="4937760"/>
            <a:ext cx="5038344" cy="1078992"/>
          </a:xfrm>
          <a:prstGeom prst="rect">
            <a:avLst/>
          </a:prstGeom>
          <a:noFill/>
        </p:spPr>
        <p:txBody>
          <a:bodyPr wrap="square" lIns="0" rIns="0" tIns="0" bIns="0" anchor="t">
            <a:spAutoFit/>
          </a:bodyPr>
          <a:lstStyle/>
          <a:p>
            <a:pPr algn="r" rtl="1">
              <a:lnSpc>
                <a:spcPct val="110000"/>
              </a:lnSpc>
              <a:spcBef>
                <a:spcPts val="0"/>
              </a:spcBef>
              <a:spcAft>
                <a:spcPts val="300"/>
              </a:spcAft>
            </a:pPr>
            <a:r>
              <a:rPr sz="2000" b="0" lang="ar-SA" altLang="en-US">
                <a:solidFill>
                  <a:srgbClr val="3D3949"/>
                </a:solidFill>
                <a:latin typeface="Arial"/>
                <a:cs typeface="Arial"/>
              </a:rPr>
              <a:t>‫الخبرة ذات الصلة، والمسؤوليات التي تدعمها الأدلة، ومتطلبات الوظيفة.‬</a:t>
            </a:r>
          </a:p>
        </p:txBody>
      </p:sp>
      <p:sp>
        <p:nvSpPr>
          <p:cNvPr id="22" name="TextBox 21"/>
          <p:cNvSpPr txBox="1"/>
          <p:nvPr/>
        </p:nvSpPr>
        <p:spPr>
          <a:xfrm>
            <a:off x="826007" y="4379976"/>
            <a:ext cx="5065776" cy="374904"/>
          </a:xfrm>
          <a:prstGeom prst="rect">
            <a:avLst/>
          </a:prstGeom>
          <a:noFill/>
        </p:spPr>
        <p:txBody>
          <a:bodyPr wrap="square" lIns="0" rIns="0" tIns="0" bIns="0" anchor="t">
            <a:spAutoFit/>
          </a:bodyPr>
          <a:lstStyle/>
          <a:p>
            <a:pPr algn="r" rtl="1">
              <a:lnSpc>
                <a:spcPct val="110000"/>
              </a:lnSpc>
              <a:spcBef>
                <a:spcPts val="0"/>
              </a:spcBef>
              <a:spcAft>
                <a:spcPts val="300"/>
              </a:spcAft>
            </a:pPr>
            <a:r>
              <a:rPr sz="2200" b="1" lang="ar-SA" altLang="en-US">
                <a:solidFill>
                  <a:srgbClr val="2B2733"/>
                </a:solidFill>
                <a:latin typeface="Arial"/>
                <a:cs typeface="Arial"/>
              </a:rPr>
              <a:t>‫قراءة النتيجة‬</a:t>
            </a:r>
          </a:p>
        </p:txBody>
      </p:sp>
      <p:sp>
        <p:nvSpPr>
          <p:cNvPr id="23" name="TextBox 22"/>
          <p:cNvSpPr txBox="1"/>
          <p:nvPr/>
        </p:nvSpPr>
        <p:spPr>
          <a:xfrm>
            <a:off x="862583" y="4937760"/>
            <a:ext cx="5029200" cy="1088136"/>
          </a:xfrm>
          <a:prstGeom prst="rect">
            <a:avLst/>
          </a:prstGeom>
          <a:noFill/>
        </p:spPr>
        <p:txBody>
          <a:bodyPr wrap="square" lIns="0" rIns="0" tIns="0" bIns="0" anchor="t">
            <a:spAutoFit/>
          </a:bodyPr>
          <a:lstStyle/>
          <a:p>
            <a:pPr algn="r" rtl="1">
              <a:lnSpc>
                <a:spcPct val="110000"/>
              </a:lnSpc>
              <a:spcBef>
                <a:spcPts val="0"/>
              </a:spcBef>
              <a:spcAft>
                <a:spcPts val="300"/>
              </a:spcAft>
            </a:pPr>
            <a:r>
              <a:rPr sz="2000" b="0" lang="ar-SA" altLang="en-US">
                <a:solidFill>
                  <a:srgbClr val="3D3949"/>
                </a:solidFill>
                <a:latin typeface="Arial"/>
                <a:cs typeface="Arial"/>
              </a:rPr>
              <a:t>‫تبقى مجموعة المرشحين والدرجات المحلية كما هي. يوضّح اسم النموذج مصدر الترتيب.‬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watched-folder">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‫استخدام مجلد مُراقَب‬</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‫استورد السير الواردة من مجلد محلي محدد أثناء تشغيل قُمع.‬</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٢٢‬</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‫افتح «الإعدادات»‬</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‫انتقل إلى قسم «المجلد المُراقَب».‬</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‫اختر المجلد‬</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‫حدّد المجلد المحلي المخصص للسير الواردة.‬</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‫راجع الاستيراد‬</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‫راجع المكتبة وحدّث الوظائف المحفوظة ذات الصلة.‬</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4-watched-folder.png" descr="14-watched-folder.png"/>
          <p:cNvPicPr>
            <a:picLocks noChangeAspect="1"/>
          </p:cNvPicPr>
          <p:nvPr/>
        </p:nvPicPr>
        <p:blipFill>
          <a:blip r:embed="rId3"/>
          <a:srcRect/>
          <a:stretch>
            <a:fillRect/>
          </a:stretch>
        </p:blipFill>
        <p:spPr>
          <a:xfrm>
            <a:off x="3758184" y="3279034"/>
            <a:ext cx="7836408" cy="1342347"/>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‫حدّث المطابقات المحفوظة بعد الاستيراد.‬</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backup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‫النسخ الاحتياطي واستعادة السجلات‬</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‫أنشئ نسخة محمولة من المكتبة أو استعدها عبر «الإعدادات».‬</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‫من التطبيق الفعلي · بيانات توضيحية خيالية‬</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٢٣‬</a:t>
            </a:r>
          </a:p>
        </p:txBody>
      </p:sp>
      <p:sp>
        <p:nvSpPr>
          <p:cNvPr id="9" name="Oval 8"/>
          <p:cNvSpPr/>
          <p:nvPr/>
        </p:nvSpPr>
        <p:spPr>
          <a:xfrm>
            <a:off x="3081528"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١</a:t>
            </a:r>
          </a:p>
        </p:txBody>
      </p:sp>
      <p:sp>
        <p:nvSpPr>
          <p:cNvPr id="10" name="TextBox 9"/>
          <p:cNvSpPr txBox="1"/>
          <p:nvPr/>
        </p:nvSpPr>
        <p:spPr>
          <a:xfrm>
            <a:off x="576072" y="176479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‫أنشئ نسخة احتياطية‬</a:t>
            </a:r>
          </a:p>
        </p:txBody>
      </p:sp>
      <p:sp>
        <p:nvSpPr>
          <p:cNvPr id="11" name="TextBox 10"/>
          <p:cNvSpPr txBox="1"/>
          <p:nvPr/>
        </p:nvSpPr>
        <p:spPr>
          <a:xfrm>
            <a:off x="576072" y="235000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‫اختر «نسخ احتياطي» في «المكتبة والنسخ الاحتياطية».‬</a:t>
            </a:r>
          </a:p>
        </p:txBody>
      </p:sp>
      <p:sp>
        <p:nvSpPr>
          <p:cNvPr id="12" name="Oval 11"/>
          <p:cNvSpPr/>
          <p:nvPr/>
        </p:nvSpPr>
        <p:spPr>
          <a:xfrm>
            <a:off x="3081528"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٢</a:t>
            </a:r>
          </a:p>
        </p:txBody>
      </p:sp>
      <p:sp>
        <p:nvSpPr>
          <p:cNvPr id="13" name="TextBox 12"/>
          <p:cNvSpPr txBox="1"/>
          <p:nvPr/>
        </p:nvSpPr>
        <p:spPr>
          <a:xfrm>
            <a:off x="576072" y="299923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‫احفظها بأمان‬</a:t>
            </a:r>
          </a:p>
        </p:txBody>
      </p:sp>
      <p:sp>
        <p:nvSpPr>
          <p:cNvPr id="14" name="TextBox 13"/>
          <p:cNvSpPr txBox="1"/>
          <p:nvPr/>
        </p:nvSpPr>
        <p:spPr>
          <a:xfrm>
            <a:off x="576072" y="358444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‫تحتوي النسخ على سجلات المرشحين.‬</a:t>
            </a:r>
          </a:p>
        </p:txBody>
      </p:sp>
      <p:sp>
        <p:nvSpPr>
          <p:cNvPr id="15" name="Oval 14"/>
          <p:cNvSpPr/>
          <p:nvPr/>
        </p:nvSpPr>
        <p:spPr>
          <a:xfrm>
            <a:off x="3081528"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lnSpc>
                <a:spcPct val="100000"/>
              </a:lnSpc>
              <a:spcBef>
                <a:spcPts val="0"/>
              </a:spcBef>
              <a:spcAft>
                <a:spcPts val="0"/>
              </a:spcAft>
            </a:pPr>
            <a:r>
              <a:rPr sz="1100" b="1" lang="ar-SA" altLang="en-US">
                <a:solidFill>
                  <a:srgbClr val="FFFFFF"/>
                </a:solidFill>
                <a:latin typeface="Arial"/>
                <a:cs typeface="Arial"/>
              </a:rPr>
              <a:t>٣</a:t>
            </a:r>
          </a:p>
        </p:txBody>
      </p:sp>
      <p:sp>
        <p:nvSpPr>
          <p:cNvPr id="16" name="TextBox 15"/>
          <p:cNvSpPr txBox="1"/>
          <p:nvPr/>
        </p:nvSpPr>
        <p:spPr>
          <a:xfrm>
            <a:off x="576072" y="4233672"/>
            <a:ext cx="2386584" cy="585216"/>
          </a:xfrm>
          <a:prstGeom prst="rect">
            <a:avLst/>
          </a:prstGeom>
          <a:noFill/>
        </p:spPr>
        <p:txBody>
          <a:bodyPr wrap="square" lIns="0" rIns="0" tIns="0" bIns="0" anchor="t">
            <a:spAutoFit/>
          </a:bodyPr>
          <a:lstStyle/>
          <a:p>
            <a:pPr algn="r" rtl="1">
              <a:lnSpc>
                <a:spcPct val="110000"/>
              </a:lnSpc>
              <a:spcBef>
                <a:spcPts val="0"/>
              </a:spcBef>
              <a:spcAft>
                <a:spcPts val="300"/>
              </a:spcAft>
            </a:pPr>
            <a:r>
              <a:rPr sz="1900" b="1" lang="ar-SA" altLang="en-US">
                <a:solidFill>
                  <a:srgbClr val="2B2733"/>
                </a:solidFill>
                <a:latin typeface="Arial"/>
                <a:cs typeface="Arial"/>
              </a:rPr>
              <a:t>‫استعد عند الحاجة‬</a:t>
            </a:r>
          </a:p>
        </p:txBody>
      </p:sp>
      <p:sp>
        <p:nvSpPr>
          <p:cNvPr id="17" name="TextBox 16"/>
          <p:cNvSpPr txBox="1"/>
          <p:nvPr/>
        </p:nvSpPr>
        <p:spPr>
          <a:xfrm>
            <a:off x="576072" y="4818888"/>
            <a:ext cx="2386584" cy="68580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3D3949"/>
                </a:solidFill>
                <a:latin typeface="Arial"/>
                <a:cs typeface="Arial"/>
              </a:rPr>
              <a:t>‫حدّث المطابقات بعد اكتمال الفهرسة.‬</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4-backups.png" descr="14-backups.png"/>
          <p:cNvPicPr>
            <a:picLocks noChangeAspect="1"/>
          </p:cNvPicPr>
          <p:nvPr/>
        </p:nvPicPr>
        <p:blipFill>
          <a:blip r:embed="rId3"/>
          <a:srcRect/>
          <a:stretch>
            <a:fillRect/>
          </a:stretch>
        </p:blipFill>
        <p:spPr>
          <a:xfrm>
            <a:off x="3758184" y="2161620"/>
            <a:ext cx="7836408" cy="3577175"/>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r" rtl="1">
              <a:lnSpc>
                <a:spcPct val="110000"/>
              </a:lnSpc>
              <a:spcBef>
                <a:spcPts val="0"/>
              </a:spcBef>
              <a:spcAft>
                <a:spcPts val="300"/>
              </a:spcAft>
            </a:pPr>
            <a:r>
              <a:rPr sz="1350" b="0" lang="ar-SA" altLang="en-US">
                <a:solidFill>
                  <a:srgbClr val="6D3FB0"/>
                </a:solidFill>
                <a:latin typeface="Arial"/>
                <a:cs typeface="Arial"/>
              </a:rPr>
              <a:t>‫لا تشمل النسخة مفاتيح API أو مستندات السير الأصلية.‬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reference">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rtl="1">
              <a:lnSpc>
                <a:spcPct val="110000"/>
              </a:lnSpc>
              <a:spcBef>
                <a:spcPts val="0"/>
              </a:spcBef>
              <a:spcAft>
                <a:spcPts val="300"/>
              </a:spcAft>
            </a:pPr>
            <a:r>
              <a:rPr sz="1000" b="1" lang="ar-SA" altLang="en-US">
                <a:solidFill>
                  <a:srgbClr val="6D3FB0"/>
                </a:solidFill>
                <a:latin typeface="Arial"/>
                <a:cs typeface="Arial"/>
              </a:rPr>
              <a:t>‫قُمع‬</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r" rtl="1">
              <a:lnSpc>
                <a:spcPct val="110000"/>
              </a:lnSpc>
              <a:spcBef>
                <a:spcPts val="0"/>
              </a:spcBef>
              <a:spcAft>
                <a:spcPts val="300"/>
              </a:spcAft>
            </a:pPr>
            <a:r>
              <a:rPr sz="3000" b="1" lang="ar-SA" altLang="en-US">
                <a:solidFill>
                  <a:srgbClr val="2B2733"/>
                </a:solidFill>
                <a:latin typeface="Arial"/>
                <a:cs typeface="Arial"/>
              </a:rPr>
              <a:t>‫مرجع: أين تُحفظ المعلومات؟‬</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r" rtl="1">
              <a:lnSpc>
                <a:spcPct val="110000"/>
              </a:lnSpc>
              <a:spcBef>
                <a:spcPts val="0"/>
              </a:spcBef>
              <a:spcAft>
                <a:spcPts val="300"/>
              </a:spcAft>
            </a:pPr>
            <a:r>
              <a:rPr sz="1450" b="0" lang="ar-SA" altLang="en-US">
                <a:solidFill>
                  <a:srgbClr val="716B7B"/>
                </a:solidFill>
                <a:latin typeface="Arial"/>
                <a:cs typeface="Arial"/>
              </a:rPr>
              <a:t>‫استخدم السجل المناسب للمعلومات التي تحتاج إلى الاحتفاظ بها.‬</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rtl="1">
              <a:lnSpc>
                <a:spcPct val="110000"/>
              </a:lnSpc>
              <a:spcBef>
                <a:spcPts val="0"/>
              </a:spcBef>
              <a:spcAft>
                <a:spcPts val="300"/>
              </a:spcAft>
            </a:pPr>
            <a:r>
              <a:rPr sz="919" b="0" lang="ar-SA" altLang="en-US">
                <a:solidFill>
                  <a:srgbClr val="716B7B"/>
                </a:solidFill>
                <a:latin typeface="Arial"/>
                <a:cs typeface="Arial"/>
              </a:rPr>
              <a:t>‫دليل مسؤول التوظيف‬</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rtl="1">
              <a:lnSpc>
                <a:spcPct val="110000"/>
              </a:lnSpc>
              <a:spcBef>
                <a:spcPts val="0"/>
              </a:spcBef>
              <a:spcAft>
                <a:spcPts val="300"/>
              </a:spcAft>
            </a:pPr>
            <a:r>
              <a:rPr sz="919" b="0" lang="ar-SA" altLang="en-US">
                <a:solidFill>
                  <a:srgbClr val="716B7B"/>
                </a:solidFill>
                <a:latin typeface="Arial"/>
                <a:cs typeface="Arial"/>
              </a:rPr>
              <a:t>‫قُمع v0.1.0-beta.2   /   ٢٤‬</a:t>
            </a:r>
          </a:p>
        </p:txBody>
      </p:sp>
      <p:sp>
        <p:nvSpPr>
          <p:cNvPr id="9" name="Rounded Rectangle 8"/>
          <p:cNvSpPr/>
          <p:nvPr/>
        </p:nvSpPr>
        <p:spPr>
          <a:xfrm>
            <a:off x="606551" y="1801368"/>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6615" y="1975104"/>
            <a:ext cx="3419856" cy="530352"/>
          </a:xfrm>
          <a:prstGeom prst="rect">
            <a:avLst/>
          </a:prstGeom>
          <a:noFill/>
        </p:spPr>
        <p:txBody>
          <a:bodyPr wrap="square" lIns="0" rIns="0" tIns="0" bIns="0" anchor="t">
            <a:spAutoFit/>
          </a:bodyPr>
          <a:lstStyle/>
          <a:p>
            <a:pPr algn="r" rtl="1">
              <a:lnSpc>
                <a:spcPct val="110000"/>
              </a:lnSpc>
              <a:spcBef>
                <a:spcPts val="0"/>
              </a:spcBef>
              <a:spcAft>
                <a:spcPts val="300"/>
              </a:spcAft>
            </a:pPr>
            <a:r>
              <a:rPr sz="1800" b="1" lang="ar-SA" altLang="en-US">
                <a:solidFill>
                  <a:srgbClr val="6D3FB0"/>
                </a:solidFill>
                <a:latin typeface="Arial"/>
                <a:cs typeface="Arial"/>
              </a:rPr>
              <a:t>‫المكتبة وملف المرشح‬</a:t>
            </a:r>
          </a:p>
        </p:txBody>
      </p:sp>
      <p:sp>
        <p:nvSpPr>
          <p:cNvPr id="11" name="TextBox 10"/>
          <p:cNvSpPr txBox="1"/>
          <p:nvPr/>
        </p:nvSpPr>
        <p:spPr>
          <a:xfrm>
            <a:off x="844295" y="1965960"/>
            <a:ext cx="6821424"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3D3949"/>
                </a:solidFill>
                <a:latin typeface="Arial"/>
                <a:cs typeface="Arial"/>
              </a:rPr>
              <a:t>‫نص السيرة والنسخ المرتبطة والبيانات المصحّحة وملاحظات الفرز العامة.‬</a:t>
            </a:r>
          </a:p>
        </p:txBody>
      </p:sp>
      <p:sp>
        <p:nvSpPr>
          <p:cNvPr id="12" name="Rounded Rectangle 11"/>
          <p:cNvSpPr/>
          <p:nvPr/>
        </p:nvSpPr>
        <p:spPr>
          <a:xfrm>
            <a:off x="606551" y="2734056"/>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6615" y="2907792"/>
            <a:ext cx="3419856" cy="530352"/>
          </a:xfrm>
          <a:prstGeom prst="rect">
            <a:avLst/>
          </a:prstGeom>
          <a:noFill/>
        </p:spPr>
        <p:txBody>
          <a:bodyPr wrap="square" lIns="0" rIns="0" tIns="0" bIns="0" anchor="t">
            <a:spAutoFit/>
          </a:bodyPr>
          <a:lstStyle/>
          <a:p>
            <a:pPr algn="r" rtl="1">
              <a:lnSpc>
                <a:spcPct val="110000"/>
              </a:lnSpc>
              <a:spcBef>
                <a:spcPts val="0"/>
              </a:spcBef>
              <a:spcAft>
                <a:spcPts val="300"/>
              </a:spcAft>
            </a:pPr>
            <a:r>
              <a:rPr sz="1800" b="1" lang="ar-SA" altLang="en-US">
                <a:solidFill>
                  <a:srgbClr val="6D3FB0"/>
                </a:solidFill>
                <a:latin typeface="Arial"/>
                <a:cs typeface="Arial"/>
              </a:rPr>
              <a:t>‫الوظيفة المحفوظة‬</a:t>
            </a:r>
          </a:p>
        </p:txBody>
      </p:sp>
      <p:sp>
        <p:nvSpPr>
          <p:cNvPr id="14" name="TextBox 13"/>
          <p:cNvSpPr txBox="1"/>
          <p:nvPr/>
        </p:nvSpPr>
        <p:spPr>
          <a:xfrm>
            <a:off x="844295" y="2898648"/>
            <a:ext cx="6821424"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3D3949"/>
                </a:solidFill>
                <a:latin typeface="Arial"/>
                <a:cs typeface="Arial"/>
              </a:rPr>
              <a:t>‫الإعلان والمعايير والنتائج والتقييمات والقائمة المختصرة وسجل الحالة ونتيجة التعيين.‬</a:t>
            </a:r>
          </a:p>
        </p:txBody>
      </p:sp>
      <p:sp>
        <p:nvSpPr>
          <p:cNvPr id="15" name="Rounded Rectangle 14"/>
          <p:cNvSpPr/>
          <p:nvPr/>
        </p:nvSpPr>
        <p:spPr>
          <a:xfrm>
            <a:off x="606551" y="3666744"/>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6615" y="3840480"/>
            <a:ext cx="3419856" cy="530352"/>
          </a:xfrm>
          <a:prstGeom prst="rect">
            <a:avLst/>
          </a:prstGeom>
          <a:noFill/>
        </p:spPr>
        <p:txBody>
          <a:bodyPr wrap="square" lIns="0" rIns="0" tIns="0" bIns="0" anchor="t">
            <a:spAutoFit/>
          </a:bodyPr>
          <a:lstStyle/>
          <a:p>
            <a:pPr algn="r" rtl="1">
              <a:lnSpc>
                <a:spcPct val="110000"/>
              </a:lnSpc>
              <a:spcBef>
                <a:spcPts val="0"/>
              </a:spcBef>
              <a:spcAft>
                <a:spcPts val="300"/>
              </a:spcAft>
            </a:pPr>
            <a:r>
              <a:rPr sz="1800" b="1" lang="ar-SA" altLang="en-US">
                <a:solidFill>
                  <a:srgbClr val="6D3FB0"/>
                </a:solidFill>
                <a:latin typeface="Arial"/>
                <a:cs typeface="Arial"/>
              </a:rPr>
              <a:t>‫البحث السريع‬</a:t>
            </a:r>
          </a:p>
        </p:txBody>
      </p:sp>
      <p:sp>
        <p:nvSpPr>
          <p:cNvPr id="17" name="TextBox 16"/>
          <p:cNvSpPr txBox="1"/>
          <p:nvPr/>
        </p:nvSpPr>
        <p:spPr>
          <a:xfrm>
            <a:off x="844295" y="3831335"/>
            <a:ext cx="6821424"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3D3949"/>
                </a:solidFill>
                <a:latin typeface="Arial"/>
                <a:cs typeface="Arial"/>
              </a:rPr>
              <a:t>‫إعلان وبيانات بحث مؤقتة؛ لا تُحفظ إلا عند اختيار «حفظ كوظيفة».‬</a:t>
            </a:r>
          </a:p>
        </p:txBody>
      </p:sp>
      <p:sp>
        <p:nvSpPr>
          <p:cNvPr id="18" name="Rounded Rectangle 17"/>
          <p:cNvSpPr/>
          <p:nvPr/>
        </p:nvSpPr>
        <p:spPr>
          <a:xfrm>
            <a:off x="606551" y="4599432"/>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76615" y="4773168"/>
            <a:ext cx="3419856" cy="530352"/>
          </a:xfrm>
          <a:prstGeom prst="rect">
            <a:avLst/>
          </a:prstGeom>
          <a:noFill/>
        </p:spPr>
        <p:txBody>
          <a:bodyPr wrap="square" lIns="0" rIns="0" tIns="0" bIns="0" anchor="t">
            <a:spAutoFit/>
          </a:bodyPr>
          <a:lstStyle/>
          <a:p>
            <a:pPr algn="r" rtl="1">
              <a:lnSpc>
                <a:spcPct val="110000"/>
              </a:lnSpc>
              <a:spcBef>
                <a:spcPts val="0"/>
              </a:spcBef>
              <a:spcAft>
                <a:spcPts val="300"/>
              </a:spcAft>
            </a:pPr>
            <a:r>
              <a:rPr sz="1800" b="1" lang="ar-SA" altLang="en-US">
                <a:solidFill>
                  <a:srgbClr val="6D3FB0"/>
                </a:solidFill>
                <a:latin typeface="Arial"/>
                <a:cs typeface="Arial"/>
              </a:rPr>
              <a:t>‫الطلب الخارجي الاختياري‬</a:t>
            </a:r>
          </a:p>
        </p:txBody>
      </p:sp>
      <p:sp>
        <p:nvSpPr>
          <p:cNvPr id="20" name="TextBox 19"/>
          <p:cNvSpPr txBox="1"/>
          <p:nvPr/>
        </p:nvSpPr>
        <p:spPr>
          <a:xfrm>
            <a:off x="844295" y="4764024"/>
            <a:ext cx="6821424" cy="557784"/>
          </a:xfrm>
          <a:prstGeom prst="rect">
            <a:avLst/>
          </a:prstGeom>
          <a:noFill/>
        </p:spPr>
        <p:txBody>
          <a:bodyPr wrap="square" lIns="0" rIns="0" tIns="0" bIns="0" anchor="t">
            <a:spAutoFit/>
          </a:bodyPr>
          <a:lstStyle/>
          <a:p>
            <a:pPr algn="r" rtl="1">
              <a:lnSpc>
                <a:spcPct val="110000"/>
              </a:lnSpc>
              <a:spcBef>
                <a:spcPts val="0"/>
              </a:spcBef>
              <a:spcAft>
                <a:spcPts val="300"/>
              </a:spcAft>
            </a:pPr>
            <a:r>
              <a:rPr sz="1800" b="0" lang="ar-SA" altLang="en-US">
                <a:solidFill>
                  <a:srgbClr val="3D3949"/>
                </a:solidFill>
                <a:latin typeface="Arial"/>
                <a:cs typeface="Arial"/>
              </a:rPr>
              <a:t>‫الإعلان والمقاطع المنقّحة بعد مراجعتها؛ وتُرسل بعد التأكيد فقط.‬</a:t>
            </a:r>
          </a:p>
        </p:txBody>
      </p:sp>
      <p:sp>
        <p:nvSpPr>
          <p:cNvPr id="21" name="TextBox 20"/>
          <p:cNvSpPr txBox="1"/>
          <p:nvPr/>
        </p:nvSpPr>
        <p:spPr>
          <a:xfrm>
            <a:off x="4895087" y="5788152"/>
            <a:ext cx="6537960" cy="292608"/>
          </a:xfrm>
          <a:prstGeom prst="rect">
            <a:avLst/>
          </a:prstGeom>
          <a:noFill/>
        </p:spPr>
        <p:txBody>
          <a:bodyPr wrap="square" lIns="0" rIns="0" tIns="0" bIns="0" anchor="t">
            <a:spAutoFit/>
          </a:bodyPr>
          <a:lstStyle/>
          <a:p>
            <a:pPr algn="r" rtl="1">
              <a:lnSpc>
                <a:spcPct val="110000"/>
              </a:lnSpc>
              <a:spcBef>
                <a:spcPts val="0"/>
              </a:spcBef>
              <a:spcAft>
                <a:spcPts val="300"/>
              </a:spcAft>
            </a:pPr>
            <a:r>
              <a:rPr sz="1600" b="0" lang="ar-SA" altLang="en-US">
                <a:solidFill>
                  <a:srgbClr val="716B7B"/>
                </a:solidFill>
                <a:latin typeface="Arial"/>
                <a:hlinkClick r:id="rId3"/>
                <a:cs typeface="Arial"/>
              </a:rPr>
              <a:t>‫إعداد: Fawaz Aljathnan‬</a:t>
            </a:r>
          </a:p>
        </p:txBody>
      </p:sp>
      <p:sp>
        <p:nvSpPr>
          <p:cNvPr id="22" name="TextBox 21"/>
          <p:cNvSpPr txBox="1"/>
          <p:nvPr/>
        </p:nvSpPr>
        <p:spPr>
          <a:xfrm>
            <a:off x="807719" y="5797296"/>
            <a:ext cx="2834640" cy="274320"/>
          </a:xfrm>
          <a:prstGeom prst="rect">
            <a:avLst/>
          </a:prstGeom>
          <a:noFill/>
        </p:spPr>
        <p:txBody>
          <a:bodyPr wrap="square" lIns="0" rIns="0" tIns="0" bIns="0" anchor="t">
            <a:spAutoFit/>
          </a:bodyPr>
          <a:lstStyle/>
          <a:p>
            <a:pPr algn="r" rtl="1">
              <a:lnSpc>
                <a:spcPct val="110000"/>
              </a:lnSpc>
              <a:spcBef>
                <a:spcPts val="0"/>
              </a:spcBef>
              <a:spcAft>
                <a:spcPts val="300"/>
              </a:spcAft>
            </a:pPr>
            <a:r>
              <a:rPr sz="1500" b="0" lang="ar-SA" altLang="en-US">
                <a:solidFill>
                  <a:srgbClr val="6D3FB0"/>
                </a:solidFill>
                <a:latin typeface="Arial"/>
                <a:hlinkClick r:id="rId3"/>
                <a:cs typeface="Arial"/>
              </a:rPr>
              <a:t>‫الملف على LinkedIn‬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قُمع | دليل مسؤول التوظيف</dc:title>
  <dc:subject>دليل عملي للبحث عن المرشحين ومراجعتهم باستخدام قُمع</dc:subject>
  <dc:creator>Fawaz Aljathnan</dc:creator>
  <cp:keywords>قُمع، التوظيف، السير الذاتية، الوظائف، القائمة المختصرة، العربية</cp:keywords>
  <dc:description>لقطات من واجهة التطبيق العربية باستخدام بيانات توضيحية خيالية.</dc:description>
  <cp:lastModifiedBy>Steve Canny</cp:lastModifiedBy>
  <cp:revision>1</cp:revision>
  <dcterms:created xsi:type="dcterms:W3CDTF">2013-01-27T09:14:16Z</dcterms:created>
  <dcterms:modified xsi:type="dcterms:W3CDTF">2013-01-27T09:15:58Z</dcterms:modified>
  <cp:category/>
</cp:coreProperties>
</file>